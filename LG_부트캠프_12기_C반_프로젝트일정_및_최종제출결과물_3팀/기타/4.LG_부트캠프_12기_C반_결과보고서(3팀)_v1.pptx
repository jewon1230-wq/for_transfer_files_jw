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7" r:id="rId2"/>
    <p:sldId id="258" r:id="rId3"/>
    <p:sldId id="269" r:id="rId4"/>
    <p:sldId id="271" r:id="rId5"/>
    <p:sldId id="280" r:id="rId6"/>
    <p:sldId id="293" r:id="rId7"/>
    <p:sldId id="292" r:id="rId8"/>
    <p:sldId id="272" r:id="rId9"/>
    <p:sldId id="294" r:id="rId10"/>
    <p:sldId id="287" r:id="rId11"/>
    <p:sldId id="301" r:id="rId12"/>
    <p:sldId id="286" r:id="rId13"/>
    <p:sldId id="288" r:id="rId14"/>
    <p:sldId id="302" r:id="rId15"/>
    <p:sldId id="303" r:id="rId16"/>
    <p:sldId id="291" r:id="rId17"/>
    <p:sldId id="274" r:id="rId18"/>
    <p:sldId id="299" r:id="rId19"/>
    <p:sldId id="276" r:id="rId20"/>
    <p:sldId id="300" r:id="rId21"/>
    <p:sldId id="298" r:id="rId22"/>
    <p:sldId id="270" r:id="rId23"/>
    <p:sldId id="273" r:id="rId24"/>
    <p:sldId id="259" r:id="rId25"/>
    <p:sldId id="266" r:id="rId26"/>
    <p:sldId id="267" r:id="rId27"/>
    <p:sldId id="277" r:id="rId28"/>
    <p:sldId id="278" r:id="rId29"/>
    <p:sldId id="279" r:id="rId30"/>
    <p:sldId id="284" r:id="rId31"/>
    <p:sldId id="297" r:id="rId32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10">
          <p15:clr>
            <a:srgbClr val="A4A3A4"/>
          </p15:clr>
        </p15:guide>
        <p15:guide id="2" pos="55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55" autoAdjust="0"/>
    <p:restoredTop sz="96395" autoAdjust="0"/>
  </p:normalViewPr>
  <p:slideViewPr>
    <p:cSldViewPr snapToGrid="0" snapToObjects="1">
      <p:cViewPr>
        <p:scale>
          <a:sx n="75" d="100"/>
          <a:sy n="75" d="100"/>
        </p:scale>
        <p:origin x="750" y="246"/>
      </p:cViewPr>
      <p:guideLst>
        <p:guide orient="horz" pos="3110"/>
        <p:guide pos="552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029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 userDrawn="1"/>
        </p:nvGrpSpPr>
        <p:grpSpPr>
          <a:xfrm>
            <a:off x="0" y="0"/>
            <a:ext cx="17556480" cy="9875520"/>
            <a:chOff x="0" y="0"/>
            <a:chExt cx="17556480" cy="9875520"/>
          </a:xfrm>
        </p:grpSpPr>
        <p:pic>
          <p:nvPicPr>
            <p:cNvPr id="2" name="Image 0" descr="preencoded.png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7556480" cy="9875520"/>
            </a:xfrm>
            <a:prstGeom prst="rect">
              <a:avLst/>
            </a:prstGeom>
          </p:spPr>
        </p:pic>
        <p:sp>
          <p:nvSpPr>
            <p:cNvPr id="4" name="직사각형 3"/>
            <p:cNvSpPr/>
            <p:nvPr userDrawn="1"/>
          </p:nvSpPr>
          <p:spPr>
            <a:xfrm>
              <a:off x="0" y="1401288"/>
              <a:ext cx="17556163" cy="84742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TextBox 2"/>
          <p:cNvSpPr txBox="1"/>
          <p:nvPr userDrawn="1"/>
        </p:nvSpPr>
        <p:spPr>
          <a:xfrm>
            <a:off x="501404" y="1675892"/>
            <a:ext cx="16453096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altLang="ko-KR" sz="2400" dirty="0" smtClean="0"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000" dirty="0" smtClean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ko-KR" altLang="en-US" sz="2000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0"/>
          </p:nvPr>
        </p:nvSpPr>
        <p:spPr>
          <a:xfrm>
            <a:off x="393700" y="1676400"/>
            <a:ext cx="16560800" cy="7581900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  <a:lvl2pPr>
              <a:defRPr sz="2400"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2pPr>
            <a:lvl3pPr>
              <a:defRPr sz="2000"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3pPr>
            <a:lvl4pPr>
              <a:defRPr sz="1800">
                <a:latin typeface="LG스마트체2.0 Light" panose="020B0600000101010101" pitchFamily="50" charset="-127"/>
                <a:ea typeface="LG스마트체2.0 Light" panose="020B0600000101010101" pitchFamily="50" charset="-127"/>
              </a:defRPr>
            </a:lvl4pPr>
            <a:lvl5pPr>
              <a:defRPr sz="1600">
                <a:latin typeface="LG스마트체2.0 Light" panose="020B0600000101010101" pitchFamily="50" charset="-127"/>
                <a:ea typeface="LG스마트체2.0 Light" panose="020B0600000101010101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09163" y="1499017"/>
            <a:ext cx="5961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LG </a:t>
            </a:r>
            <a:r>
              <a:rPr lang="ko-KR" altLang="en-US" b="1" dirty="0" err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부트캠프</a:t>
            </a:r>
            <a:r>
              <a:rPr lang="ko-KR" altLang="en-US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en-US" altLang="ko-KR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12</a:t>
            </a:r>
            <a:r>
              <a:rPr lang="ko-KR" altLang="en-US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기</a:t>
            </a:r>
            <a:endParaRPr lang="ko-KR" altLang="en-US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89242" y="5410269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 err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쿵야</a:t>
            </a:r>
            <a:endParaRPr lang="ko-KR" altLang="en-US" sz="5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40474" y="7827365"/>
            <a:ext cx="596106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C</a:t>
            </a:r>
            <a:r>
              <a:rPr lang="ko-KR" altLang="en-US" sz="28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반 </a:t>
            </a:r>
            <a:r>
              <a:rPr lang="en-US" altLang="ko-KR" sz="28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3</a:t>
            </a:r>
            <a:r>
              <a:rPr lang="ko-KR" altLang="en-US" sz="28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팀</a:t>
            </a:r>
            <a:endParaRPr lang="en-US" altLang="ko-KR" sz="28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endParaRPr lang="en-US" altLang="ko-KR" sz="28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r>
              <a:rPr lang="ko-KR" altLang="en-US" sz="2800" b="1" dirty="0" err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엄제원</a:t>
            </a:r>
            <a:r>
              <a:rPr lang="ko-KR" altLang="en-US" sz="28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이경환 윤지원</a:t>
            </a:r>
            <a:endParaRPr lang="ko-KR" altLang="en-US" sz="28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49202" y="4588833"/>
            <a:ext cx="14190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프로젝트 결과보고서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261" y="649796"/>
            <a:ext cx="4510135" cy="219456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2654" y="1373029"/>
            <a:ext cx="5253657" cy="1325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97049" y="2878040"/>
            <a:ext cx="11160121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주제 및 결과 요약</a:t>
            </a:r>
            <a:endParaRPr lang="en-US" altLang="ko-KR" sz="4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개발 목표 및 개발 결과</a:t>
            </a:r>
            <a:endParaRPr lang="en-US" altLang="ko-KR" sz="4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핵심 기술</a:t>
            </a:r>
            <a:endParaRPr lang="en-US" altLang="ko-KR" sz="4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결과 분석 및 기대 효과</a:t>
            </a:r>
            <a:endParaRPr lang="en-US" altLang="ko-KR" sz="4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향후 연구 과제</a:t>
            </a:r>
            <a:endParaRPr lang="en-US" altLang="ko-KR" sz="4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프로젝트 수행 후기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0750089" y="7383726"/>
            <a:ext cx="6248622" cy="118422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b="1">
                <a:solidFill>
                  <a:schemeClr val="tx1"/>
                </a:solidFill>
              </a:rPr>
              <a:t>필요시 목차 임의 수정 가능</a:t>
            </a:r>
            <a:endParaRPr lang="ko-KR" altLang="en-US" sz="3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1. </a:t>
            </a:r>
            <a:r>
              <a:rPr lang="ko-KR" altLang="en-US" sz="54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프로젝트 소개</a:t>
            </a:r>
            <a:endParaRPr lang="ko-KR" altLang="en-US" sz="5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204566" y="138195"/>
            <a:ext cx="11092721" cy="112426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3200" b="1" dirty="0">
                <a:solidFill>
                  <a:schemeClr val="tx1"/>
                </a:solidFill>
              </a:rPr>
              <a:t>간략하게 </a:t>
            </a:r>
            <a:r>
              <a:rPr lang="en-US" altLang="ko-KR" sz="3200" b="1" dirty="0">
                <a:solidFill>
                  <a:schemeClr val="tx1"/>
                </a:solidFill>
              </a:rPr>
              <a:t>1 </a:t>
            </a:r>
            <a:r>
              <a:rPr lang="ko-KR" altLang="en-US" sz="3200" b="1" dirty="0">
                <a:solidFill>
                  <a:schemeClr val="tx1"/>
                </a:solidFill>
              </a:rPr>
              <a:t>페이지에 프로젝트의 주제</a:t>
            </a:r>
            <a:r>
              <a:rPr lang="en-US" altLang="ko-KR" sz="3200" b="1" dirty="0">
                <a:solidFill>
                  <a:schemeClr val="tx1"/>
                </a:solidFill>
              </a:rPr>
              <a:t>, </a:t>
            </a:r>
            <a:r>
              <a:rPr lang="ko-KR" altLang="en-US" sz="3200" b="1" dirty="0">
                <a:solidFill>
                  <a:schemeClr val="tx1"/>
                </a:solidFill>
              </a:rPr>
              <a:t>목표</a:t>
            </a:r>
            <a:r>
              <a:rPr lang="en-US" altLang="ko-KR" sz="3200" b="1" dirty="0">
                <a:solidFill>
                  <a:schemeClr val="tx1"/>
                </a:solidFill>
              </a:rPr>
              <a:t>, </a:t>
            </a:r>
            <a:r>
              <a:rPr lang="ko-KR" altLang="en-US" sz="3200" b="1" dirty="0">
                <a:solidFill>
                  <a:schemeClr val="tx1"/>
                </a:solidFill>
              </a:rPr>
              <a:t>결과를 요약</a:t>
            </a:r>
          </a:p>
        </p:txBody>
      </p:sp>
      <p:sp>
        <p:nvSpPr>
          <p:cNvPr id="8" name="텍스트 개체 틀 1"/>
          <p:cNvSpPr txBox="1">
            <a:spLocks/>
          </p:cNvSpPr>
          <p:nvPr/>
        </p:nvSpPr>
        <p:spPr>
          <a:xfrm>
            <a:off x="546101" y="5280066"/>
            <a:ext cx="6745348" cy="218505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 smtClean="0"/>
          </a:p>
        </p:txBody>
      </p:sp>
      <p:sp>
        <p:nvSpPr>
          <p:cNvPr id="9" name="텍스트 개체 틀 1"/>
          <p:cNvSpPr txBox="1">
            <a:spLocks/>
          </p:cNvSpPr>
          <p:nvPr/>
        </p:nvSpPr>
        <p:spPr>
          <a:xfrm>
            <a:off x="546101" y="7269183"/>
            <a:ext cx="6745348" cy="218505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 smtClean="0"/>
          </a:p>
        </p:txBody>
      </p:sp>
      <p:sp>
        <p:nvSpPr>
          <p:cNvPr id="15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393700" y="1676400"/>
            <a:ext cx="8572500" cy="7581900"/>
          </a:xfrm>
        </p:spPr>
        <p:txBody>
          <a:bodyPr/>
          <a:lstStyle/>
          <a:p>
            <a:r>
              <a:rPr lang="ko-KR" altLang="en-US" dirty="0" smtClean="0"/>
              <a:t>캐치 </a:t>
            </a:r>
            <a:r>
              <a:rPr lang="ko-KR" altLang="en-US" dirty="0"/>
              <a:t>마인드</a:t>
            </a:r>
          </a:p>
          <a:p>
            <a:pPr lvl="1"/>
            <a:r>
              <a:rPr lang="ko-KR" altLang="en-US" dirty="0"/>
              <a:t>필요 인원 </a:t>
            </a:r>
            <a:r>
              <a:rPr lang="en-US" altLang="ko-KR" dirty="0"/>
              <a:t>3</a:t>
            </a:r>
            <a:r>
              <a:rPr lang="ko-KR" altLang="en-US"/>
              <a:t>명 </a:t>
            </a:r>
            <a:r>
              <a:rPr lang="en-US" altLang="ko-KR" dirty="0"/>
              <a:t>(1</a:t>
            </a:r>
            <a:r>
              <a:rPr lang="ko-KR" altLang="en-US"/>
              <a:t>명 출제자</a:t>
            </a:r>
            <a:r>
              <a:rPr lang="en-US" altLang="ko-KR" dirty="0"/>
              <a:t>, 2</a:t>
            </a:r>
            <a:r>
              <a:rPr lang="ko-KR" altLang="en-US"/>
              <a:t>명 참가자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3</a:t>
            </a:r>
            <a:r>
              <a:rPr lang="ko-KR" altLang="en-US"/>
              <a:t>인 실시간 멀티플레이 지원</a:t>
            </a:r>
            <a:endParaRPr lang="en-US" altLang="ko-KR" dirty="0"/>
          </a:p>
          <a:p>
            <a:pPr lvl="1"/>
            <a:r>
              <a:rPr lang="ko-KR" altLang="en-US" dirty="0"/>
              <a:t>허브 기반 </a:t>
            </a:r>
            <a:r>
              <a:rPr lang="en-US" altLang="ko-KR" dirty="0"/>
              <a:t>UDP </a:t>
            </a:r>
            <a:r>
              <a:rPr lang="ko-KR" altLang="en-US"/>
              <a:t>통신을 통해 세명의 플레이어가 실시간으로 게임을 즐기도록 지원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플레이어 간 경쟁을 위한 랭킹 시스템</a:t>
            </a:r>
            <a:endParaRPr lang="en-US" altLang="ko-KR" dirty="0"/>
          </a:p>
          <a:p>
            <a:pPr lvl="1"/>
            <a:r>
              <a:rPr lang="ko-KR" altLang="en-US" dirty="0"/>
              <a:t>문제 출제와 정답을 맞추며 점수 획득이 가능하며 </a:t>
            </a:r>
            <a:r>
              <a:rPr lang="en-US" altLang="ko-KR" dirty="0"/>
              <a:t>5</a:t>
            </a:r>
            <a:r>
              <a:rPr lang="ko-KR" altLang="en-US"/>
              <a:t>라운드 합산을 통해 랭킹 출력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터치펜을</a:t>
            </a:r>
            <a:r>
              <a:rPr lang="ko-KR" altLang="en-US" dirty="0"/>
              <a:t> 활용한 정교한 그림 그리기</a:t>
            </a:r>
            <a:endParaRPr lang="en-US" altLang="ko-KR" dirty="0"/>
          </a:p>
          <a:p>
            <a:pPr lvl="1"/>
            <a:r>
              <a:rPr lang="ko-KR" altLang="en-US" dirty="0"/>
              <a:t>색상 변경</a:t>
            </a:r>
            <a:r>
              <a:rPr lang="en-US" altLang="ko-KR" dirty="0"/>
              <a:t>, </a:t>
            </a:r>
            <a:r>
              <a:rPr lang="ko-KR" altLang="en-US"/>
              <a:t>지우개</a:t>
            </a:r>
            <a:r>
              <a:rPr lang="en-US" altLang="ko-KR" dirty="0"/>
              <a:t>, </a:t>
            </a:r>
            <a:r>
              <a:rPr lang="ko-KR" altLang="en-US"/>
              <a:t>초기화 기능을 통해 출제자가 편리하게 문제를 출제하도록 지원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733" y="1840988"/>
            <a:ext cx="5639289" cy="375546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733" y="5852593"/>
            <a:ext cx="5614903" cy="322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83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890814" y="8132208"/>
            <a:ext cx="12563929" cy="1524000"/>
          </a:xfrm>
        </p:spPr>
        <p:txBody>
          <a:bodyPr/>
          <a:lstStyle/>
          <a:p>
            <a:r>
              <a:rPr lang="ko-KR" altLang="en-US" sz="2400" b="1" dirty="0"/>
              <a:t>출제자 </a:t>
            </a:r>
            <a:r>
              <a:rPr lang="en-US" altLang="ko-KR" sz="2400" b="1" dirty="0"/>
              <a:t>1</a:t>
            </a:r>
            <a:r>
              <a:rPr lang="ko-KR" altLang="en-US" sz="2400" b="1"/>
              <a:t>명과 참가자 </a:t>
            </a:r>
            <a:r>
              <a:rPr lang="en-US" altLang="ko-KR" sz="2400" b="1" dirty="0"/>
              <a:t>2</a:t>
            </a:r>
            <a:r>
              <a:rPr lang="ko-KR" altLang="en-US" sz="2400" b="1"/>
              <a:t>명이 겨루는 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5</a:t>
            </a:r>
            <a:r>
              <a:rPr lang="ko-KR" altLang="en-US" sz="2400" b="1">
                <a:solidFill>
                  <a:srgbClr val="FF0000"/>
                </a:solidFill>
              </a:rPr>
              <a:t>라운드 누적 점수제 </a:t>
            </a:r>
            <a:r>
              <a:rPr lang="ko-KR" altLang="en-US" sz="2400" b="1"/>
              <a:t>실시간 추측 </a:t>
            </a:r>
            <a:r>
              <a:rPr lang="ko-KR" altLang="en-US" sz="2400" b="1" smtClean="0"/>
              <a:t>게임</a:t>
            </a:r>
            <a:endParaRPr lang="en-US" altLang="ko-KR" sz="2400" b="1" dirty="0" smtClean="0"/>
          </a:p>
          <a:p>
            <a:r>
              <a:rPr lang="ko-KR" altLang="en-US" sz="2400" b="1" dirty="0" smtClean="0"/>
              <a:t>출제자가 </a:t>
            </a:r>
            <a:r>
              <a:rPr lang="ko-KR" altLang="en-US" sz="2400" b="1" dirty="0"/>
              <a:t>그림을 그리면 참가자들은 선착순으로 정답을 </a:t>
            </a:r>
            <a:r>
              <a:rPr lang="ko-KR" altLang="en-US" sz="2400" b="1" dirty="0" smtClean="0"/>
              <a:t>제출</a:t>
            </a:r>
            <a:endParaRPr lang="en-US" altLang="ko-KR" sz="2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2. </a:t>
            </a:r>
            <a:r>
              <a:rPr lang="ko-KR" altLang="en-US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캐치마인드 게임 </a:t>
            </a:r>
            <a:r>
              <a:rPr lang="ko-KR" altLang="en-US" sz="54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규칙</a:t>
            </a:r>
            <a:endParaRPr lang="ko-KR" altLang="en-US" sz="5400" b="1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9774420" y="-75692"/>
            <a:ext cx="7531309" cy="155203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Tx/>
              <a:buChar char="-"/>
            </a:pPr>
            <a:r>
              <a:rPr lang="ko-KR" altLang="en-US" sz="2400" b="1" dirty="0">
                <a:solidFill>
                  <a:schemeClr val="tx1"/>
                </a:solidFill>
              </a:rPr>
              <a:t>처음 기획한 개발 목표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2400" b="1" dirty="0">
                <a:solidFill>
                  <a:schemeClr val="tx1"/>
                </a:solidFill>
              </a:rPr>
              <a:t>실제 개발 결과 소개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2400" b="1" dirty="0">
                <a:solidFill>
                  <a:schemeClr val="tx1"/>
                </a:solidFill>
              </a:rPr>
              <a:t>가급적 결과 내용을 상세히 기술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2400" b="1" dirty="0">
                <a:solidFill>
                  <a:schemeClr val="tx1"/>
                </a:solidFill>
              </a:rPr>
              <a:t>페이지 수 무관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8117022" y="2320260"/>
            <a:ext cx="8799378" cy="5282388"/>
            <a:chOff x="8384223" y="4143852"/>
            <a:chExt cx="4101346" cy="4347329"/>
          </a:xfrm>
        </p:grpSpPr>
        <p:sp>
          <p:nvSpPr>
            <p:cNvPr id="14" name="Shape 3"/>
            <p:cNvSpPr/>
            <p:nvPr/>
          </p:nvSpPr>
          <p:spPr>
            <a:xfrm>
              <a:off x="8407083" y="4143852"/>
              <a:ext cx="4078486" cy="1353145"/>
            </a:xfrm>
            <a:prstGeom prst="roundRect">
              <a:avLst>
                <a:gd name="adj" fmla="val 8109"/>
              </a:avLst>
            </a:prstGeom>
            <a:solidFill>
              <a:srgbClr val="FFFFFF"/>
            </a:solidFill>
            <a:ln w="22860">
              <a:solidFill>
                <a:srgbClr val="C0C1D7"/>
              </a:solidFill>
              <a:prstDash val="solid"/>
            </a:ln>
          </p:spPr>
        </p:sp>
        <p:sp>
          <p:nvSpPr>
            <p:cNvPr id="15" name="Shape 4"/>
            <p:cNvSpPr/>
            <p:nvPr/>
          </p:nvSpPr>
          <p:spPr>
            <a:xfrm>
              <a:off x="8384223" y="4143852"/>
              <a:ext cx="91440" cy="1353145"/>
            </a:xfrm>
            <a:prstGeom prst="roundRect">
              <a:avLst>
                <a:gd name="adj" fmla="val 83023"/>
              </a:avLst>
            </a:prstGeom>
            <a:solidFill>
              <a:srgbClr val="A50034"/>
            </a:solidFill>
            <a:ln/>
          </p:spPr>
        </p:sp>
        <p:sp>
          <p:nvSpPr>
            <p:cNvPr id="16" name="Text 5"/>
            <p:cNvSpPr/>
            <p:nvPr/>
          </p:nvSpPr>
          <p:spPr>
            <a:xfrm>
              <a:off x="8679259" y="4347449"/>
              <a:ext cx="2259330" cy="28241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r>
                <a:rPr lang="ko-KR" altLang="en-US" sz="2400" b="1" dirty="0">
                  <a:solidFill>
                    <a:srgbClr val="272525"/>
                  </a:solidFill>
                  <a:latin typeface="LG스마트체2.0 SemiBold" panose="020B0600000101010101" pitchFamily="50" charset="-127"/>
                  <a:ea typeface="LG스마트체2.0 SemiBold" panose="020B0600000101010101" pitchFamily="50" charset="-127"/>
                  <a:cs typeface="Inter Bold" pitchFamily="34" charset="-120"/>
                </a:rPr>
                <a:t>출제자 선정</a:t>
              </a:r>
            </a:p>
          </p:txBody>
        </p:sp>
        <p:sp>
          <p:nvSpPr>
            <p:cNvPr id="17" name="Text 6"/>
            <p:cNvSpPr/>
            <p:nvPr/>
          </p:nvSpPr>
          <p:spPr>
            <a:xfrm>
              <a:off x="8679259" y="4773812"/>
              <a:ext cx="3602712" cy="5195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ko-KR" altLang="en-US" sz="2000" dirty="0">
                  <a:solidFill>
                    <a:srgbClr val="272525"/>
                  </a:solidFill>
                  <a:latin typeface="LG스마트체2.0 Regular" panose="020B0600000101010101" pitchFamily="50" charset="-127"/>
                  <a:ea typeface="LG스마트체2.0 Regular" panose="020B0600000101010101" pitchFamily="50" charset="-127"/>
                  <a:cs typeface="Inter" pitchFamily="34" charset="-120"/>
                </a:rPr>
                <a:t>첫 라운드는 선착순</a:t>
              </a:r>
              <a:r>
                <a:rPr lang="en-US" altLang="ko-KR" sz="2000" dirty="0">
                  <a:solidFill>
                    <a:srgbClr val="272525"/>
                  </a:solidFill>
                  <a:latin typeface="LG스마트체2.0 Regular" panose="020B0600000101010101" pitchFamily="50" charset="-127"/>
                  <a:ea typeface="LG스마트체2.0 Regular" panose="020B0600000101010101" pitchFamily="50" charset="-127"/>
                  <a:cs typeface="Inter" pitchFamily="34" charset="-120"/>
                </a:rPr>
                <a:t>, </a:t>
              </a:r>
              <a:r>
                <a:rPr lang="ko-KR" altLang="en-US" sz="2000">
                  <a:solidFill>
                    <a:srgbClr val="272525"/>
                  </a:solidFill>
                  <a:latin typeface="LG스마트체2.0 Regular" panose="020B0600000101010101" pitchFamily="50" charset="-127"/>
                  <a:ea typeface="LG스마트체2.0 Regular" panose="020B0600000101010101" pitchFamily="50" charset="-127"/>
                  <a:cs typeface="Inter" pitchFamily="34" charset="-120"/>
                </a:rPr>
                <a:t>이후는 라운드 결과에 따라 출제자가 변경</a:t>
              </a:r>
              <a:endParaRPr lang="en-US" sz="20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endParaRPr>
            </a:p>
          </p:txBody>
        </p:sp>
        <p:sp>
          <p:nvSpPr>
            <p:cNvPr id="18" name="Shape 7"/>
            <p:cNvSpPr/>
            <p:nvPr/>
          </p:nvSpPr>
          <p:spPr>
            <a:xfrm>
              <a:off x="8407083" y="5640944"/>
              <a:ext cx="4078486" cy="1353145"/>
            </a:xfrm>
            <a:prstGeom prst="roundRect">
              <a:avLst>
                <a:gd name="adj" fmla="val 8109"/>
              </a:avLst>
            </a:prstGeom>
            <a:solidFill>
              <a:srgbClr val="FFFFFF"/>
            </a:solidFill>
            <a:ln w="22860">
              <a:solidFill>
                <a:srgbClr val="C0C1D7"/>
              </a:solidFill>
              <a:prstDash val="solid"/>
            </a:ln>
          </p:spPr>
        </p:sp>
        <p:sp>
          <p:nvSpPr>
            <p:cNvPr id="19" name="Shape 8"/>
            <p:cNvSpPr/>
            <p:nvPr/>
          </p:nvSpPr>
          <p:spPr>
            <a:xfrm>
              <a:off x="8384223" y="5640944"/>
              <a:ext cx="91440" cy="1353145"/>
            </a:xfrm>
            <a:prstGeom prst="roundRect">
              <a:avLst>
                <a:gd name="adj" fmla="val 83023"/>
              </a:avLst>
            </a:prstGeom>
            <a:solidFill>
              <a:srgbClr val="A50034"/>
            </a:solidFill>
            <a:ln/>
          </p:spPr>
        </p:sp>
        <p:sp>
          <p:nvSpPr>
            <p:cNvPr id="20" name="Text 9"/>
            <p:cNvSpPr/>
            <p:nvPr/>
          </p:nvSpPr>
          <p:spPr>
            <a:xfrm>
              <a:off x="8679259" y="5844541"/>
              <a:ext cx="2259330" cy="28241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r>
                <a:rPr lang="ko-KR" altLang="en-US" sz="2400" b="1" dirty="0">
                  <a:solidFill>
                    <a:srgbClr val="272525"/>
                  </a:solidFill>
                  <a:latin typeface="LG스마트체2.0 SemiBold" panose="020B0600000101010101" pitchFamily="50" charset="-127"/>
                  <a:ea typeface="LG스마트체2.0 SemiBold" panose="020B0600000101010101" pitchFamily="50" charset="-127"/>
                  <a:cs typeface="Inter Bold" pitchFamily="34" charset="-120"/>
                </a:rPr>
                <a:t>문제 선택</a:t>
              </a:r>
            </a:p>
          </p:txBody>
        </p:sp>
        <p:sp>
          <p:nvSpPr>
            <p:cNvPr id="21" name="Text 10"/>
            <p:cNvSpPr/>
            <p:nvPr/>
          </p:nvSpPr>
          <p:spPr>
            <a:xfrm>
              <a:off x="8679259" y="6270904"/>
              <a:ext cx="3602712" cy="5195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ko-KR" altLang="en-US" sz="2000" dirty="0">
                  <a:solidFill>
                    <a:srgbClr val="272525"/>
                  </a:solidFill>
                  <a:latin typeface="LG스마트체2.0 Regular" panose="020B0600000101010101" pitchFamily="50" charset="-127"/>
                  <a:ea typeface="LG스마트체2.0 Regular" panose="020B0600000101010101" pitchFamily="50" charset="-127"/>
                  <a:cs typeface="Inter" pitchFamily="34" charset="-120"/>
                </a:rPr>
                <a:t>출제자가 분야 → 주제어 순서로 </a:t>
              </a:r>
              <a:r>
                <a:rPr lang="ko-KR" altLang="en-US" sz="2000" dirty="0" smtClean="0">
                  <a:solidFill>
                    <a:srgbClr val="272525"/>
                  </a:solidFill>
                  <a:latin typeface="LG스마트체2.0 Regular" panose="020B0600000101010101" pitchFamily="50" charset="-127"/>
                  <a:ea typeface="LG스마트체2.0 Regular" panose="020B0600000101010101" pitchFamily="50" charset="-127"/>
                  <a:cs typeface="Inter" pitchFamily="34" charset="-120"/>
                </a:rPr>
                <a:t>선택</a:t>
              </a:r>
              <a:endParaRPr lang="en-US" altLang="ko-KR" sz="2000" dirty="0" smtClean="0">
                <a:solidFill>
                  <a:srgbClr val="272525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Inter" pitchFamily="34" charset="-120"/>
              </a:endParaRPr>
            </a:p>
            <a:p>
              <a:r>
                <a:rPr lang="ko-KR" altLang="en-US" sz="2000" dirty="0" smtClean="0">
                  <a:solidFill>
                    <a:srgbClr val="272525"/>
                  </a:solidFill>
                  <a:latin typeface="LG스마트체2.0 Regular" panose="020B0600000101010101" pitchFamily="50" charset="-127"/>
                  <a:ea typeface="LG스마트체2.0 Regular" panose="020B0600000101010101" pitchFamily="50" charset="-127"/>
                  <a:cs typeface="Inter" pitchFamily="34" charset="-120"/>
                </a:rPr>
                <a:t>각 </a:t>
              </a:r>
              <a:r>
                <a:rPr lang="ko-KR" altLang="en-US" sz="2000" dirty="0">
                  <a:solidFill>
                    <a:srgbClr val="272525"/>
                  </a:solidFill>
                  <a:latin typeface="LG스마트체2.0 Regular" panose="020B0600000101010101" pitchFamily="50" charset="-127"/>
                  <a:ea typeface="LG스마트체2.0 Regular" panose="020B0600000101010101" pitchFamily="50" charset="-127"/>
                  <a:cs typeface="Inter" pitchFamily="34" charset="-120"/>
                </a:rPr>
                <a:t>단계마다 </a:t>
              </a:r>
              <a:r>
                <a:rPr lang="en-US" altLang="ko-KR" sz="2000" dirty="0">
                  <a:solidFill>
                    <a:srgbClr val="272525"/>
                  </a:solidFill>
                  <a:latin typeface="LG스마트체2.0 Regular" panose="020B0600000101010101" pitchFamily="50" charset="-127"/>
                  <a:ea typeface="LG스마트체2.0 Regular" panose="020B0600000101010101" pitchFamily="50" charset="-127"/>
                  <a:cs typeface="Inter" pitchFamily="34" charset="-120"/>
                </a:rPr>
                <a:t>4</a:t>
              </a:r>
              <a:r>
                <a:rPr lang="ko-KR" altLang="en-US" sz="2000">
                  <a:solidFill>
                    <a:srgbClr val="272525"/>
                  </a:solidFill>
                  <a:latin typeface="LG스마트체2.0 Regular" panose="020B0600000101010101" pitchFamily="50" charset="-127"/>
                  <a:ea typeface="LG스마트체2.0 Regular" panose="020B0600000101010101" pitchFamily="50" charset="-127"/>
                  <a:cs typeface="Inter" pitchFamily="34" charset="-120"/>
                </a:rPr>
                <a:t>개 선택지가 랜덤 제시되며</a:t>
              </a:r>
              <a:r>
                <a:rPr lang="en-US" altLang="ko-KR" sz="2000" dirty="0">
                  <a:solidFill>
                    <a:srgbClr val="272525"/>
                  </a:solidFill>
                  <a:latin typeface="LG스마트체2.0 Regular" panose="020B0600000101010101" pitchFamily="50" charset="-127"/>
                  <a:ea typeface="LG스마트체2.0 Regular" panose="020B0600000101010101" pitchFamily="50" charset="-127"/>
                  <a:cs typeface="Inter" pitchFamily="34" charset="-120"/>
                </a:rPr>
                <a:t>, </a:t>
              </a:r>
              <a:r>
                <a:rPr lang="ko-KR" altLang="en-US" sz="2000">
                  <a:solidFill>
                    <a:srgbClr val="272525"/>
                  </a:solidFill>
                  <a:latin typeface="LG스마트체2.0 Regular" panose="020B0600000101010101" pitchFamily="50" charset="-127"/>
                  <a:ea typeface="LG스마트체2.0 Regular" panose="020B0600000101010101" pitchFamily="50" charset="-127"/>
                  <a:cs typeface="Inter" pitchFamily="34" charset="-120"/>
                </a:rPr>
                <a:t>주제어는 참가자에게 </a:t>
              </a:r>
              <a:r>
                <a:rPr lang="ko-KR" altLang="en-US" sz="2000" smtClean="0">
                  <a:solidFill>
                    <a:srgbClr val="272525"/>
                  </a:solidFill>
                  <a:latin typeface="LG스마트체2.0 Regular" panose="020B0600000101010101" pitchFamily="50" charset="-127"/>
                  <a:ea typeface="LG스마트체2.0 Regular" panose="020B0600000101010101" pitchFamily="50" charset="-127"/>
                  <a:cs typeface="Inter" pitchFamily="34" charset="-120"/>
                </a:rPr>
                <a:t>비공개</a:t>
              </a:r>
              <a:endParaRPr lang="en-US" altLang="ko-KR" sz="2000" dirty="0">
                <a:solidFill>
                  <a:srgbClr val="272525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Inter" pitchFamily="34" charset="-120"/>
              </a:endParaRPr>
            </a:p>
          </p:txBody>
        </p:sp>
        <p:sp>
          <p:nvSpPr>
            <p:cNvPr id="22" name="Shape 11"/>
            <p:cNvSpPr/>
            <p:nvPr/>
          </p:nvSpPr>
          <p:spPr>
            <a:xfrm>
              <a:off x="8407083" y="7138036"/>
              <a:ext cx="4078486" cy="1353145"/>
            </a:xfrm>
            <a:prstGeom prst="roundRect">
              <a:avLst>
                <a:gd name="adj" fmla="val 8109"/>
              </a:avLst>
            </a:prstGeom>
            <a:solidFill>
              <a:srgbClr val="FFFFFF"/>
            </a:solidFill>
            <a:ln w="22860">
              <a:solidFill>
                <a:srgbClr val="C0C1D7"/>
              </a:solidFill>
              <a:prstDash val="solid"/>
            </a:ln>
          </p:spPr>
        </p:sp>
        <p:sp>
          <p:nvSpPr>
            <p:cNvPr id="23" name="Shape 12"/>
            <p:cNvSpPr/>
            <p:nvPr/>
          </p:nvSpPr>
          <p:spPr>
            <a:xfrm>
              <a:off x="8384223" y="7138036"/>
              <a:ext cx="91440" cy="1353145"/>
            </a:xfrm>
            <a:prstGeom prst="roundRect">
              <a:avLst>
                <a:gd name="adj" fmla="val 83023"/>
              </a:avLst>
            </a:prstGeom>
            <a:solidFill>
              <a:srgbClr val="A50034"/>
            </a:solidFill>
            <a:ln/>
          </p:spPr>
        </p:sp>
        <p:sp>
          <p:nvSpPr>
            <p:cNvPr id="24" name="Text 13"/>
            <p:cNvSpPr/>
            <p:nvPr/>
          </p:nvSpPr>
          <p:spPr>
            <a:xfrm>
              <a:off x="8679259" y="7341633"/>
              <a:ext cx="2259330" cy="28241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r>
                <a:rPr lang="ko-KR" altLang="en-US" sz="2400" b="1" dirty="0">
                  <a:solidFill>
                    <a:srgbClr val="272525"/>
                  </a:solidFill>
                  <a:latin typeface="LG스마트체2.0 SemiBold" panose="020B0600000101010101" pitchFamily="50" charset="-127"/>
                  <a:ea typeface="LG스마트체2.0 SemiBold" panose="020B0600000101010101" pitchFamily="50" charset="-127"/>
                  <a:cs typeface="Inter Bold" pitchFamily="34" charset="-120"/>
                </a:rPr>
                <a:t>제한 시간</a:t>
              </a:r>
            </a:p>
          </p:txBody>
        </p:sp>
        <p:sp>
          <p:nvSpPr>
            <p:cNvPr id="25" name="Text 14"/>
            <p:cNvSpPr/>
            <p:nvPr/>
          </p:nvSpPr>
          <p:spPr>
            <a:xfrm>
              <a:off x="8679259" y="7767995"/>
              <a:ext cx="3602712" cy="5195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ko-KR" altLang="en-US" sz="2000" dirty="0">
                  <a:solidFill>
                    <a:srgbClr val="272525"/>
                  </a:solidFill>
                  <a:latin typeface="LG스마트체2.0 Regular" panose="020B0600000101010101" pitchFamily="50" charset="-127"/>
                  <a:ea typeface="LG스마트체2.0 Regular" panose="020B0600000101010101" pitchFamily="50" charset="-127"/>
                  <a:cs typeface="Inter" pitchFamily="34" charset="-120"/>
                </a:rPr>
                <a:t>각 라운드는 </a:t>
              </a:r>
              <a:r>
                <a:rPr lang="en-US" altLang="ko-KR" sz="2000" dirty="0">
                  <a:solidFill>
                    <a:srgbClr val="272525"/>
                  </a:solidFill>
                  <a:latin typeface="LG스마트체2.0 Regular" panose="020B0600000101010101" pitchFamily="50" charset="-127"/>
                  <a:ea typeface="LG스마트체2.0 Regular" panose="020B0600000101010101" pitchFamily="50" charset="-127"/>
                  <a:cs typeface="Inter" pitchFamily="34" charset="-120"/>
                </a:rPr>
                <a:t>60</a:t>
              </a:r>
              <a:r>
                <a:rPr lang="ko-KR" altLang="en-US" sz="2000">
                  <a:solidFill>
                    <a:srgbClr val="272525"/>
                  </a:solidFill>
                  <a:latin typeface="LG스마트체2.0 Regular" panose="020B0600000101010101" pitchFamily="50" charset="-127"/>
                  <a:ea typeface="LG스마트체2.0 Regular" panose="020B0600000101010101" pitchFamily="50" charset="-127"/>
                  <a:cs typeface="Inter" pitchFamily="34" charset="-120"/>
                </a:rPr>
                <a:t>초 </a:t>
              </a:r>
              <a:r>
                <a:rPr lang="ko-KR" altLang="en-US" sz="2000" smtClean="0">
                  <a:solidFill>
                    <a:srgbClr val="272525"/>
                  </a:solidFill>
                  <a:latin typeface="LG스마트체2.0 Regular" panose="020B0600000101010101" pitchFamily="50" charset="-127"/>
                  <a:ea typeface="LG스마트체2.0 Regular" panose="020B0600000101010101" pitchFamily="50" charset="-127"/>
                  <a:cs typeface="Inter" pitchFamily="34" charset="-120"/>
                </a:rPr>
                <a:t>제한</a:t>
              </a:r>
              <a:endParaRPr lang="en-US" altLang="ko-KR" sz="2000" dirty="0" smtClean="0">
                <a:solidFill>
                  <a:srgbClr val="272525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Inter" pitchFamily="34" charset="-120"/>
              </a:endParaRPr>
            </a:p>
            <a:p>
              <a:r>
                <a:rPr lang="ko-KR" altLang="en-US" sz="2000" dirty="0" smtClean="0">
                  <a:solidFill>
                    <a:srgbClr val="272525"/>
                  </a:solidFill>
                  <a:latin typeface="LG스마트체2.0 Regular" panose="020B0600000101010101" pitchFamily="50" charset="-127"/>
                  <a:ea typeface="LG스마트체2.0 Regular" panose="020B0600000101010101" pitchFamily="50" charset="-127"/>
                  <a:cs typeface="Inter" pitchFamily="34" charset="-120"/>
                </a:rPr>
                <a:t>한 </a:t>
              </a:r>
              <a:r>
                <a:rPr lang="ko-KR" altLang="en-US" sz="2000" dirty="0">
                  <a:solidFill>
                    <a:srgbClr val="272525"/>
                  </a:solidFill>
                  <a:latin typeface="LG스마트체2.0 Regular" panose="020B0600000101010101" pitchFamily="50" charset="-127"/>
                  <a:ea typeface="LG스마트체2.0 Regular" panose="020B0600000101010101" pitchFamily="50" charset="-127"/>
                  <a:cs typeface="Inter" pitchFamily="34" charset="-120"/>
                </a:rPr>
                <a:t>명이 정답을 맞히면 즉시 </a:t>
              </a:r>
              <a:r>
                <a:rPr lang="ko-KR" altLang="en-US" sz="2000" dirty="0" smtClean="0">
                  <a:solidFill>
                    <a:srgbClr val="272525"/>
                  </a:solidFill>
                  <a:latin typeface="LG스마트체2.0 Regular" panose="020B0600000101010101" pitchFamily="50" charset="-127"/>
                  <a:ea typeface="LG스마트체2.0 Regular" panose="020B0600000101010101" pitchFamily="50" charset="-127"/>
                  <a:cs typeface="Inter" pitchFamily="34" charset="-120"/>
                </a:rPr>
                <a:t>종료</a:t>
              </a:r>
              <a:endParaRPr lang="en-US" altLang="ko-KR" sz="2000" dirty="0">
                <a:solidFill>
                  <a:srgbClr val="272525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Inter" pitchFamily="34" charset="-120"/>
              </a:endParaRPr>
            </a:p>
          </p:txBody>
        </p:sp>
      </p:grp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210" y="1900997"/>
            <a:ext cx="6072142" cy="612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528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2. </a:t>
            </a:r>
            <a:r>
              <a:rPr lang="ko-KR" altLang="en-US" sz="54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점수 </a:t>
            </a:r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&amp; </a:t>
            </a:r>
            <a:r>
              <a:rPr lang="ko-KR" altLang="en-US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핵심 규칙</a:t>
            </a:r>
            <a:endParaRPr lang="ko-KR" altLang="en-US" sz="5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9774420" y="-75692"/>
            <a:ext cx="7531309" cy="155203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Tx/>
              <a:buChar char="-"/>
            </a:pPr>
            <a:r>
              <a:rPr lang="ko-KR" altLang="en-US" sz="2400" b="1" dirty="0">
                <a:solidFill>
                  <a:schemeClr val="tx1"/>
                </a:solidFill>
              </a:rPr>
              <a:t>처음 기획한 개발 목표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2400" b="1" dirty="0">
                <a:solidFill>
                  <a:schemeClr val="tx1"/>
                </a:solidFill>
              </a:rPr>
              <a:t>실제 개발 결과 소개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2400" b="1" dirty="0">
                <a:solidFill>
                  <a:schemeClr val="tx1"/>
                </a:solidFill>
              </a:rPr>
              <a:t>가급적 결과 내용을 상세히 기술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2400" b="1" dirty="0">
                <a:solidFill>
                  <a:schemeClr val="tx1"/>
                </a:solidFill>
              </a:rPr>
              <a:t>페이지 수 무관</a:t>
            </a:r>
          </a:p>
        </p:txBody>
      </p:sp>
      <p:sp>
        <p:nvSpPr>
          <p:cNvPr id="3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393700" y="1676400"/>
            <a:ext cx="8572500" cy="7581900"/>
          </a:xfrm>
        </p:spPr>
        <p:txBody>
          <a:bodyPr/>
          <a:lstStyle/>
          <a:p>
            <a:r>
              <a:rPr lang="ko-KR" altLang="en-US" dirty="0" smtClean="0"/>
              <a:t>힌트 시스템</a:t>
            </a:r>
            <a:endParaRPr lang="en-US" altLang="ko-KR" dirty="0" smtClean="0"/>
          </a:p>
          <a:p>
            <a:pPr lvl="1"/>
            <a:r>
              <a:rPr lang="en-US" altLang="ko-KR" dirty="0" smtClean="0">
                <a:solidFill>
                  <a:srgbClr val="272525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  <a:cs typeface="Inter" pitchFamily="34" charset="-120"/>
              </a:rPr>
              <a:t>30</a:t>
            </a:r>
            <a:r>
              <a:rPr lang="ko-KR" altLang="en-US">
                <a:solidFill>
                  <a:srgbClr val="272525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  <a:cs typeface="Inter" pitchFamily="34" charset="-120"/>
              </a:rPr>
              <a:t>초 경과 시 참가자들에게 </a:t>
            </a:r>
            <a:r>
              <a:rPr lang="ko-KR" altLang="en-US">
                <a:solidFill>
                  <a:srgbClr val="FF0000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  <a:cs typeface="Inter" pitchFamily="34" charset="-120"/>
              </a:rPr>
              <a:t>카테고리</a:t>
            </a:r>
            <a:r>
              <a:rPr lang="en-US" altLang="ko-KR" dirty="0">
                <a:solidFill>
                  <a:srgbClr val="FF0000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  <a:cs typeface="Inter" pitchFamily="34" charset="-120"/>
              </a:rPr>
              <a:t>(</a:t>
            </a:r>
            <a:r>
              <a:rPr lang="ko-KR" altLang="en-US">
                <a:solidFill>
                  <a:srgbClr val="FF0000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  <a:cs typeface="Inter" pitchFamily="34" charset="-120"/>
              </a:rPr>
              <a:t>분야</a:t>
            </a:r>
            <a:r>
              <a:rPr lang="en-US" altLang="ko-KR" dirty="0">
                <a:solidFill>
                  <a:srgbClr val="FF0000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  <a:cs typeface="Inter" pitchFamily="34" charset="-120"/>
              </a:rPr>
              <a:t>)</a:t>
            </a:r>
            <a:r>
              <a:rPr lang="ko-KR" altLang="en-US">
                <a:solidFill>
                  <a:srgbClr val="272525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  <a:cs typeface="Inter" pitchFamily="34" charset="-120"/>
              </a:rPr>
              <a:t>가 공개</a:t>
            </a:r>
            <a:endParaRPr lang="en-US" altLang="ko-KR" dirty="0">
              <a:latin typeface="LG스마트체 SemiBold" panose="020B0600000101010101" pitchFamily="50" charset="-127"/>
              <a:ea typeface="LG스마트체 SemiBold" panose="020B0600000101010101" pitchFamily="50" charset="-127"/>
            </a:endParaRPr>
          </a:p>
          <a:p>
            <a:endParaRPr lang="en-US" altLang="ko-KR" dirty="0"/>
          </a:p>
          <a:p>
            <a:r>
              <a:rPr lang="ko-KR" altLang="en-US" dirty="0" smtClean="0"/>
              <a:t>정답 판단</a:t>
            </a:r>
            <a:endParaRPr lang="en-US" altLang="ko-KR" dirty="0" smtClean="0"/>
          </a:p>
          <a:p>
            <a:pPr lvl="1"/>
            <a:r>
              <a:rPr lang="ko-KR" altLang="en-US" dirty="0"/>
              <a:t>출제자가 직접 각 제출의 정답 여부를 판단</a:t>
            </a:r>
          </a:p>
          <a:p>
            <a:pPr lvl="1"/>
            <a:endParaRPr lang="en-US" altLang="ko-KR" dirty="0"/>
          </a:p>
          <a:p>
            <a:r>
              <a:rPr lang="ko-KR" altLang="en-US" dirty="0" smtClean="0"/>
              <a:t>정답 시</a:t>
            </a:r>
            <a:endParaRPr lang="en-US" altLang="ko-KR" dirty="0"/>
          </a:p>
          <a:p>
            <a:pPr lvl="1"/>
            <a:r>
              <a:rPr lang="ko-KR" altLang="en-US" dirty="0" smtClean="0"/>
              <a:t>정답을 맞힌 참가자가 </a:t>
            </a:r>
            <a:r>
              <a:rPr lang="ko-KR" altLang="en-US" dirty="0" smtClean="0">
                <a:solidFill>
                  <a:srgbClr val="FF0000"/>
                </a:solidFill>
              </a:rPr>
              <a:t>다음 라운드 출제자</a:t>
            </a:r>
            <a:r>
              <a:rPr lang="ko-KR" altLang="en-US" dirty="0" smtClean="0"/>
              <a:t>가 됨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smtClean="0"/>
              <a:t>시간 초과 시</a:t>
            </a:r>
            <a:endParaRPr lang="en-US" altLang="ko-KR" dirty="0"/>
          </a:p>
          <a:p>
            <a:pPr lvl="1"/>
            <a:r>
              <a:rPr lang="ko-KR" altLang="en-US" dirty="0"/>
              <a:t>라운드가 실패로 종료되고 정답이 </a:t>
            </a:r>
            <a:r>
              <a:rPr lang="ko-KR" altLang="en-US" dirty="0" smtClean="0"/>
              <a:t>공개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출제자는 </a:t>
            </a:r>
            <a:r>
              <a:rPr lang="en-US" altLang="ko-KR" dirty="0"/>
              <a:t>1</a:t>
            </a:r>
            <a:r>
              <a:rPr lang="ko-KR" altLang="en-US"/>
              <a:t>점 감점되며 다음 라운드에서도 출제자를 </a:t>
            </a:r>
            <a:r>
              <a:rPr lang="ko-KR" altLang="en-US" smtClean="0"/>
              <a:t>유지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en-US" altLang="ko-KR" dirty="0" smtClean="0"/>
              <a:t>5</a:t>
            </a:r>
            <a:r>
              <a:rPr lang="ko-KR" altLang="en-US" smtClean="0"/>
              <a:t>라운드 완료 시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각 플레이어의 누적 점수가 환산되어 랭킹 출력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9094" y="1676400"/>
            <a:ext cx="6718374" cy="6718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830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 smtClean="0"/>
              <a:t>시연 영상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영상 시연</a:t>
            </a:r>
            <a:endParaRPr lang="ko-KR" altLang="en-US" sz="5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9965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3. </a:t>
            </a:r>
            <a:r>
              <a:rPr lang="ko-KR" altLang="en-US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핵심 기술</a:t>
            </a:r>
          </a:p>
        </p:txBody>
      </p:sp>
      <p:sp>
        <p:nvSpPr>
          <p:cNvPr id="5" name="Text 2"/>
          <p:cNvSpPr/>
          <p:nvPr/>
        </p:nvSpPr>
        <p:spPr>
          <a:xfrm>
            <a:off x="876917" y="2194152"/>
            <a:ext cx="86553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ko-KR" altLang="en-US" sz="4450" b="1" dirty="0">
                <a:solidFill>
                  <a:srgbClr val="000000"/>
                </a:solidFill>
                <a:latin typeface="LG스마트체 Bold" panose="020B0600000101010101" pitchFamily="50" charset="-127"/>
                <a:ea typeface="LG스마트체 Bold" panose="020B0600000101010101" pitchFamily="50" charset="-127"/>
                <a:cs typeface="Inter Bold" pitchFamily="34" charset="-120"/>
              </a:rPr>
              <a:t>핵심 정리</a:t>
            </a:r>
          </a:p>
        </p:txBody>
      </p:sp>
      <p:sp>
        <p:nvSpPr>
          <p:cNvPr id="46" name="Shape 0"/>
          <p:cNvSpPr/>
          <p:nvPr/>
        </p:nvSpPr>
        <p:spPr>
          <a:xfrm>
            <a:off x="9880599" y="1397000"/>
            <a:ext cx="7675563" cy="8478838"/>
          </a:xfrm>
          <a:prstGeom prst="rect">
            <a:avLst/>
          </a:prstGeom>
          <a:solidFill>
            <a:srgbClr val="DADBF1"/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0148" y="1691640"/>
            <a:ext cx="5259705" cy="7889558"/>
          </a:xfrm>
          <a:prstGeom prst="rect">
            <a:avLst/>
          </a:prstGeom>
        </p:spPr>
      </p:pic>
      <p:grpSp>
        <p:nvGrpSpPr>
          <p:cNvPr id="6" name="그룹 5"/>
          <p:cNvGrpSpPr/>
          <p:nvPr/>
        </p:nvGrpSpPr>
        <p:grpSpPr>
          <a:xfrm>
            <a:off x="876917" y="3236691"/>
            <a:ext cx="7460314" cy="5993167"/>
            <a:chOff x="876917" y="3236691"/>
            <a:chExt cx="7460314" cy="6624068"/>
          </a:xfrm>
        </p:grpSpPr>
        <p:grpSp>
          <p:nvGrpSpPr>
            <p:cNvPr id="11" name="그룹 10"/>
            <p:cNvGrpSpPr/>
            <p:nvPr/>
          </p:nvGrpSpPr>
          <p:grpSpPr>
            <a:xfrm>
              <a:off x="876917" y="3236691"/>
              <a:ext cx="7460314" cy="984510"/>
              <a:chOff x="4008160" y="3964450"/>
              <a:chExt cx="8799378" cy="1644190"/>
            </a:xfrm>
          </p:grpSpPr>
          <p:sp>
            <p:nvSpPr>
              <p:cNvPr id="13" name="Shape 3"/>
              <p:cNvSpPr/>
              <p:nvPr/>
            </p:nvSpPr>
            <p:spPr>
              <a:xfrm>
                <a:off x="4057206" y="3964450"/>
                <a:ext cx="8750332" cy="1644190"/>
              </a:xfrm>
              <a:prstGeom prst="roundRect">
                <a:avLst>
                  <a:gd name="adj" fmla="val 8109"/>
                </a:avLst>
              </a:prstGeom>
              <a:solidFill>
                <a:srgbClr val="FFFFFF"/>
              </a:solidFill>
              <a:ln w="22860">
                <a:solidFill>
                  <a:srgbClr val="C0C1D7"/>
                </a:solidFill>
                <a:prstDash val="solid"/>
              </a:ln>
            </p:spPr>
          </p:sp>
          <p:sp>
            <p:nvSpPr>
              <p:cNvPr id="14" name="Shape 4"/>
              <p:cNvSpPr/>
              <p:nvPr/>
            </p:nvSpPr>
            <p:spPr>
              <a:xfrm>
                <a:off x="4008160" y="3964450"/>
                <a:ext cx="196183" cy="1644190"/>
              </a:xfrm>
              <a:prstGeom prst="roundRect">
                <a:avLst>
                  <a:gd name="adj" fmla="val 83023"/>
                </a:avLst>
              </a:prstGeom>
              <a:solidFill>
                <a:srgbClr val="A50034"/>
              </a:solidFill>
              <a:ln/>
            </p:spPr>
          </p:sp>
          <p:sp>
            <p:nvSpPr>
              <p:cNvPr id="15" name="Text 5"/>
              <p:cNvSpPr/>
              <p:nvPr/>
            </p:nvSpPr>
            <p:spPr>
              <a:xfrm>
                <a:off x="4641155" y="4211838"/>
                <a:ext cx="4847360" cy="34316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r>
                  <a:rPr lang="en-US" altLang="ko-KR" b="1" dirty="0">
                    <a:solidFill>
                      <a:srgbClr val="272525"/>
                    </a:solidFill>
                    <a:latin typeface="LG스마트체2.0 SemiBold" panose="020B0600000101010101" pitchFamily="50" charset="-127"/>
                    <a:ea typeface="LG스마트체2.0 SemiBold" panose="020B0600000101010101" pitchFamily="50" charset="-127"/>
                    <a:cs typeface="Inter Bold" pitchFamily="34" charset="-120"/>
                  </a:rPr>
                  <a:t>Double Frame Buffer </a:t>
                </a:r>
                <a:r>
                  <a:rPr lang="ko-KR" altLang="en-US" b="1">
                    <a:solidFill>
                      <a:srgbClr val="272525"/>
                    </a:solidFill>
                    <a:latin typeface="LG스마트체2.0 SemiBold" panose="020B0600000101010101" pitchFamily="50" charset="-127"/>
                    <a:ea typeface="LG스마트체2.0 SemiBold" panose="020B0600000101010101" pitchFamily="50" charset="-127"/>
                    <a:cs typeface="Inter Bold" pitchFamily="34" charset="-120"/>
                  </a:rPr>
                  <a:t>기반 그래픽 구현</a:t>
                </a:r>
              </a:p>
            </p:txBody>
          </p:sp>
          <p:sp>
            <p:nvSpPr>
              <p:cNvPr id="16" name="Text 6"/>
              <p:cNvSpPr/>
              <p:nvPr/>
            </p:nvSpPr>
            <p:spPr>
              <a:xfrm>
                <a:off x="4641155" y="4947868"/>
                <a:ext cx="7729566" cy="41338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r>
                  <a:rPr lang="ko-KR" altLang="en-US" sz="1600" dirty="0" smtClean="0">
                    <a:solidFill>
                      <a:srgbClr val="272525"/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Inter" pitchFamily="34" charset="-120"/>
                  </a:rPr>
                  <a:t>그림 그리기 도중 화면의 깜빡임 방지 및 부드러운 모션</a:t>
                </a:r>
                <a:endParaRPr lang="ko-KR" altLang="en-US" sz="1600" dirty="0">
                  <a:solidFill>
                    <a:srgbClr val="272525"/>
                  </a:solidFill>
                  <a:latin typeface="LG스마트체2.0 Regular" panose="020B0600000101010101" pitchFamily="50" charset="-127"/>
                  <a:ea typeface="LG스마트체2.0 Regular" panose="020B0600000101010101" pitchFamily="50" charset="-127"/>
                  <a:cs typeface="Inter" pitchFamily="34" charset="-120"/>
                </a:endParaRPr>
              </a:p>
            </p:txBody>
          </p:sp>
        </p:grpSp>
        <p:grpSp>
          <p:nvGrpSpPr>
            <p:cNvPr id="19" name="그룹 18"/>
            <p:cNvGrpSpPr/>
            <p:nvPr/>
          </p:nvGrpSpPr>
          <p:grpSpPr>
            <a:xfrm>
              <a:off x="876917" y="4363420"/>
              <a:ext cx="7460314" cy="984510"/>
              <a:chOff x="4008160" y="3964450"/>
              <a:chExt cx="8799378" cy="1644190"/>
            </a:xfrm>
          </p:grpSpPr>
          <p:sp>
            <p:nvSpPr>
              <p:cNvPr id="20" name="Shape 3"/>
              <p:cNvSpPr/>
              <p:nvPr/>
            </p:nvSpPr>
            <p:spPr>
              <a:xfrm>
                <a:off x="4057206" y="3964450"/>
                <a:ext cx="8750332" cy="1644190"/>
              </a:xfrm>
              <a:prstGeom prst="roundRect">
                <a:avLst>
                  <a:gd name="adj" fmla="val 8109"/>
                </a:avLst>
              </a:prstGeom>
              <a:solidFill>
                <a:srgbClr val="FFFFFF"/>
              </a:solidFill>
              <a:ln w="22860">
                <a:solidFill>
                  <a:srgbClr val="C0C1D7"/>
                </a:solidFill>
                <a:prstDash val="solid"/>
              </a:ln>
            </p:spPr>
          </p:sp>
          <p:sp>
            <p:nvSpPr>
              <p:cNvPr id="21" name="Shape 4"/>
              <p:cNvSpPr/>
              <p:nvPr/>
            </p:nvSpPr>
            <p:spPr>
              <a:xfrm>
                <a:off x="4008160" y="3964450"/>
                <a:ext cx="196183" cy="1644190"/>
              </a:xfrm>
              <a:prstGeom prst="roundRect">
                <a:avLst>
                  <a:gd name="adj" fmla="val 83023"/>
                </a:avLst>
              </a:prstGeom>
              <a:solidFill>
                <a:srgbClr val="A50034"/>
              </a:solidFill>
              <a:ln/>
            </p:spPr>
          </p:sp>
          <p:sp>
            <p:nvSpPr>
              <p:cNvPr id="22" name="Text 5"/>
              <p:cNvSpPr/>
              <p:nvPr/>
            </p:nvSpPr>
            <p:spPr>
              <a:xfrm>
                <a:off x="4641155" y="4211838"/>
                <a:ext cx="4847360" cy="34316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r>
                  <a:rPr lang="en-US" altLang="ko-KR" b="1" dirty="0">
                    <a:solidFill>
                      <a:srgbClr val="272525"/>
                    </a:solidFill>
                    <a:latin typeface="LG스마트체2.0 SemiBold" panose="020B0600000101010101" pitchFamily="50" charset="-127"/>
                    <a:ea typeface="LG스마트체2.0 SemiBold" panose="020B0600000101010101" pitchFamily="50" charset="-127"/>
                    <a:cs typeface="Inter Bold" pitchFamily="34" charset="-120"/>
                  </a:rPr>
                  <a:t>UDP </a:t>
                </a:r>
                <a:r>
                  <a:rPr lang="ko-KR" altLang="en-US" b="1">
                    <a:solidFill>
                      <a:srgbClr val="272525"/>
                    </a:solidFill>
                    <a:latin typeface="LG스마트체2.0 SemiBold" panose="020B0600000101010101" pitchFamily="50" charset="-127"/>
                    <a:ea typeface="LG스마트체2.0 SemiBold" panose="020B0600000101010101" pitchFamily="50" charset="-127"/>
                    <a:cs typeface="Inter Bold" pitchFamily="34" charset="-120"/>
                  </a:rPr>
                  <a:t>기반 실시간 통신 </a:t>
                </a:r>
                <a:r>
                  <a:rPr lang="en-US" altLang="ko-KR" b="1" dirty="0">
                    <a:solidFill>
                      <a:srgbClr val="272525"/>
                    </a:solidFill>
                    <a:latin typeface="LG스마트체2.0 SemiBold" panose="020B0600000101010101" pitchFamily="50" charset="-127"/>
                    <a:ea typeface="LG스마트체2.0 SemiBold" panose="020B0600000101010101" pitchFamily="50" charset="-127"/>
                    <a:cs typeface="Inter Bold" pitchFamily="34" charset="-120"/>
                  </a:rPr>
                  <a:t>&amp; </a:t>
                </a:r>
                <a:r>
                  <a:rPr lang="ko-KR" altLang="en-US" b="1">
                    <a:solidFill>
                      <a:srgbClr val="272525"/>
                    </a:solidFill>
                    <a:latin typeface="LG스마트체2.0 SemiBold" panose="020B0600000101010101" pitchFamily="50" charset="-127"/>
                    <a:ea typeface="LG스마트체2.0 SemiBold" panose="020B0600000101010101" pitchFamily="50" charset="-127"/>
                    <a:cs typeface="Inter Bold" pitchFamily="34" charset="-120"/>
                  </a:rPr>
                  <a:t>동기화</a:t>
                </a:r>
                <a:endParaRPr lang="ko-KR" altLang="en-US" b="1" dirty="0">
                  <a:solidFill>
                    <a:srgbClr val="272525"/>
                  </a:solidFill>
                  <a:latin typeface="LG스마트체2.0 SemiBold" panose="020B0600000101010101" pitchFamily="50" charset="-127"/>
                  <a:ea typeface="LG스마트체2.0 SemiBold" panose="020B0600000101010101" pitchFamily="50" charset="-127"/>
                  <a:cs typeface="Inter Bold" pitchFamily="34" charset="-120"/>
                </a:endParaRPr>
              </a:p>
            </p:txBody>
          </p:sp>
          <p:sp>
            <p:nvSpPr>
              <p:cNvPr id="23" name="Text 6"/>
              <p:cNvSpPr/>
              <p:nvPr/>
            </p:nvSpPr>
            <p:spPr>
              <a:xfrm>
                <a:off x="4641155" y="4947868"/>
                <a:ext cx="7729566" cy="41338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r>
                  <a:rPr lang="en-US" altLang="ko-KR" sz="1600" dirty="0">
                    <a:solidFill>
                      <a:srgbClr val="272525"/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Inter" pitchFamily="34" charset="-120"/>
                  </a:rPr>
                  <a:t>UDP </a:t>
                </a:r>
                <a:r>
                  <a:rPr lang="ko-KR" altLang="en-US" sz="1600">
                    <a:solidFill>
                      <a:srgbClr val="272525"/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Inter" pitchFamily="34" charset="-120"/>
                  </a:rPr>
                  <a:t>브로드캐스트 </a:t>
                </a:r>
                <a:r>
                  <a:rPr lang="en-US" altLang="ko-KR" sz="1600" dirty="0">
                    <a:solidFill>
                      <a:srgbClr val="272525"/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Inter" pitchFamily="34" charset="-120"/>
                  </a:rPr>
                  <a:t>+ </a:t>
                </a:r>
                <a:r>
                  <a:rPr lang="ko-KR" altLang="en-US" sz="1600" smtClean="0">
                    <a:solidFill>
                      <a:srgbClr val="272525"/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Inter" pitchFamily="34" charset="-120"/>
                  </a:rPr>
                  <a:t>동기화로 </a:t>
                </a:r>
                <a:r>
                  <a:rPr lang="ko-KR" altLang="en-US" sz="1600">
                    <a:solidFill>
                      <a:srgbClr val="272525"/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Inter" pitchFamily="34" charset="-120"/>
                  </a:rPr>
                  <a:t>저지연 </a:t>
                </a:r>
                <a:r>
                  <a:rPr lang="ko-KR" altLang="en-US" sz="1600" smtClean="0">
                    <a:solidFill>
                      <a:srgbClr val="272525"/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Inter" pitchFamily="34" charset="-120"/>
                  </a:rPr>
                  <a:t>멀티플레이 </a:t>
                </a:r>
                <a:r>
                  <a:rPr lang="ko-KR" altLang="en-US" sz="1600">
                    <a:solidFill>
                      <a:srgbClr val="272525"/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Inter" pitchFamily="34" charset="-120"/>
                  </a:rPr>
                  <a:t>구현</a:t>
                </a:r>
              </a:p>
            </p:txBody>
          </p:sp>
        </p:grpSp>
        <p:grpSp>
          <p:nvGrpSpPr>
            <p:cNvPr id="39" name="그룹 38"/>
            <p:cNvGrpSpPr/>
            <p:nvPr/>
          </p:nvGrpSpPr>
          <p:grpSpPr>
            <a:xfrm>
              <a:off x="876917" y="5496062"/>
              <a:ext cx="7460314" cy="984510"/>
              <a:chOff x="4008160" y="3964450"/>
              <a:chExt cx="8799378" cy="1644190"/>
            </a:xfrm>
          </p:grpSpPr>
          <p:sp>
            <p:nvSpPr>
              <p:cNvPr id="40" name="Shape 3"/>
              <p:cNvSpPr/>
              <p:nvPr/>
            </p:nvSpPr>
            <p:spPr>
              <a:xfrm>
                <a:off x="4057206" y="3964450"/>
                <a:ext cx="8750332" cy="1644190"/>
              </a:xfrm>
              <a:prstGeom prst="roundRect">
                <a:avLst>
                  <a:gd name="adj" fmla="val 8109"/>
                </a:avLst>
              </a:prstGeom>
              <a:solidFill>
                <a:srgbClr val="FFFFFF"/>
              </a:solidFill>
              <a:ln w="22860">
                <a:solidFill>
                  <a:srgbClr val="C0C1D7"/>
                </a:solidFill>
                <a:prstDash val="solid"/>
              </a:ln>
            </p:spPr>
          </p:sp>
          <p:sp>
            <p:nvSpPr>
              <p:cNvPr id="41" name="Shape 4"/>
              <p:cNvSpPr/>
              <p:nvPr/>
            </p:nvSpPr>
            <p:spPr>
              <a:xfrm>
                <a:off x="4008160" y="3964450"/>
                <a:ext cx="196183" cy="1644190"/>
              </a:xfrm>
              <a:prstGeom prst="roundRect">
                <a:avLst>
                  <a:gd name="adj" fmla="val 83023"/>
                </a:avLst>
              </a:prstGeom>
              <a:solidFill>
                <a:srgbClr val="A50034"/>
              </a:solidFill>
              <a:ln/>
            </p:spPr>
          </p:sp>
          <p:sp>
            <p:nvSpPr>
              <p:cNvPr id="42" name="Text 5"/>
              <p:cNvSpPr/>
              <p:nvPr/>
            </p:nvSpPr>
            <p:spPr>
              <a:xfrm>
                <a:off x="4641155" y="4211838"/>
                <a:ext cx="4847360" cy="34316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r>
                  <a:rPr lang="ko-KR" altLang="en-US" b="1" dirty="0" smtClean="0">
                    <a:solidFill>
                      <a:srgbClr val="272525"/>
                    </a:solidFill>
                    <a:latin typeface="LG스마트체2.0 SemiBold" panose="020B0600000101010101" pitchFamily="50" charset="-127"/>
                    <a:ea typeface="LG스마트체2.0 SemiBold" panose="020B0600000101010101" pitchFamily="50" charset="-127"/>
                    <a:cs typeface="Inter Bold" pitchFamily="34" charset="-120"/>
                  </a:rPr>
                  <a:t>터치 입력 데이터 처리</a:t>
                </a:r>
                <a:endParaRPr lang="ko-KR" altLang="en-US" b="1" dirty="0">
                  <a:solidFill>
                    <a:srgbClr val="272525"/>
                  </a:solidFill>
                  <a:latin typeface="LG스마트체2.0 SemiBold" panose="020B0600000101010101" pitchFamily="50" charset="-127"/>
                  <a:ea typeface="LG스마트체2.0 SemiBold" panose="020B0600000101010101" pitchFamily="50" charset="-127"/>
                  <a:cs typeface="Inter Bold" pitchFamily="34" charset="-120"/>
                </a:endParaRPr>
              </a:p>
            </p:txBody>
          </p:sp>
          <p:sp>
            <p:nvSpPr>
              <p:cNvPr id="43" name="Text 6"/>
              <p:cNvSpPr/>
              <p:nvPr/>
            </p:nvSpPr>
            <p:spPr>
              <a:xfrm>
                <a:off x="4641155" y="4947868"/>
                <a:ext cx="7729566" cy="41338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r>
                  <a:rPr lang="ko-KR" altLang="en-US" sz="1600" dirty="0" smtClean="0">
                    <a:solidFill>
                      <a:srgbClr val="272525"/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Inter" pitchFamily="34" charset="-120"/>
                  </a:rPr>
                  <a:t>보드 간 좌표 데이터 </a:t>
                </a:r>
                <a:r>
                  <a:rPr lang="ko-KR" altLang="en-US" sz="1600" dirty="0" err="1" smtClean="0">
                    <a:solidFill>
                      <a:srgbClr val="272525"/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Inter" pitchFamily="34" charset="-120"/>
                  </a:rPr>
                  <a:t>파싱</a:t>
                </a:r>
                <a:r>
                  <a:rPr lang="ko-KR" altLang="en-US" sz="1600" dirty="0" smtClean="0">
                    <a:solidFill>
                      <a:srgbClr val="272525"/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Inter" pitchFamily="34" charset="-120"/>
                  </a:rPr>
                  <a:t> 및 전송</a:t>
                </a:r>
                <a:endParaRPr lang="ko-KR" altLang="en-US" sz="1600" dirty="0">
                  <a:solidFill>
                    <a:srgbClr val="272525"/>
                  </a:solidFill>
                  <a:latin typeface="LG스마트체2.0 Regular" panose="020B0600000101010101" pitchFamily="50" charset="-127"/>
                  <a:ea typeface="LG스마트체2.0 Regular" panose="020B0600000101010101" pitchFamily="50" charset="-127"/>
                  <a:cs typeface="Inter" pitchFamily="34" charset="-120"/>
                </a:endParaRPr>
              </a:p>
            </p:txBody>
          </p:sp>
        </p:grpSp>
        <p:grpSp>
          <p:nvGrpSpPr>
            <p:cNvPr id="44" name="그룹 43"/>
            <p:cNvGrpSpPr/>
            <p:nvPr/>
          </p:nvGrpSpPr>
          <p:grpSpPr>
            <a:xfrm>
              <a:off x="876917" y="6622791"/>
              <a:ext cx="7460314" cy="984510"/>
              <a:chOff x="4008160" y="3964450"/>
              <a:chExt cx="8799378" cy="1644190"/>
            </a:xfrm>
          </p:grpSpPr>
          <p:sp>
            <p:nvSpPr>
              <p:cNvPr id="48" name="Shape 3"/>
              <p:cNvSpPr/>
              <p:nvPr/>
            </p:nvSpPr>
            <p:spPr>
              <a:xfrm>
                <a:off x="4057206" y="3964450"/>
                <a:ext cx="8750332" cy="1644190"/>
              </a:xfrm>
              <a:prstGeom prst="roundRect">
                <a:avLst>
                  <a:gd name="adj" fmla="val 8109"/>
                </a:avLst>
              </a:prstGeom>
              <a:solidFill>
                <a:srgbClr val="FFFFFF"/>
              </a:solidFill>
              <a:ln w="22860">
                <a:solidFill>
                  <a:srgbClr val="C0C1D7"/>
                </a:solidFill>
                <a:prstDash val="solid"/>
              </a:ln>
            </p:spPr>
          </p:sp>
          <p:sp>
            <p:nvSpPr>
              <p:cNvPr id="49" name="Shape 4"/>
              <p:cNvSpPr/>
              <p:nvPr/>
            </p:nvSpPr>
            <p:spPr>
              <a:xfrm>
                <a:off x="4008160" y="3964450"/>
                <a:ext cx="196183" cy="1644190"/>
              </a:xfrm>
              <a:prstGeom prst="roundRect">
                <a:avLst>
                  <a:gd name="adj" fmla="val 83023"/>
                </a:avLst>
              </a:prstGeom>
              <a:solidFill>
                <a:srgbClr val="A50034"/>
              </a:solidFill>
              <a:ln/>
            </p:spPr>
          </p:sp>
          <p:sp>
            <p:nvSpPr>
              <p:cNvPr id="50" name="Text 5"/>
              <p:cNvSpPr/>
              <p:nvPr/>
            </p:nvSpPr>
            <p:spPr>
              <a:xfrm>
                <a:off x="4641155" y="4211838"/>
                <a:ext cx="4847360" cy="34316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r>
                  <a:rPr lang="en-US" altLang="ko-KR" b="1" dirty="0" smtClean="0">
                    <a:solidFill>
                      <a:srgbClr val="272525"/>
                    </a:solidFill>
                    <a:latin typeface="LG스마트체2.0 SemiBold" panose="020B0600000101010101" pitchFamily="50" charset="-127"/>
                    <a:ea typeface="LG스마트체2.0 SemiBold" panose="020B0600000101010101" pitchFamily="50" charset="-127"/>
                    <a:cs typeface="Inter Bold" pitchFamily="34" charset="-120"/>
                  </a:rPr>
                  <a:t>GPIO </a:t>
                </a:r>
                <a:r>
                  <a:rPr lang="ko-KR" altLang="en-US" b="1" smtClean="0">
                    <a:solidFill>
                      <a:srgbClr val="272525"/>
                    </a:solidFill>
                    <a:latin typeface="LG스마트체2.0 SemiBold" panose="020B0600000101010101" pitchFamily="50" charset="-127"/>
                    <a:ea typeface="LG스마트체2.0 SemiBold" panose="020B0600000101010101" pitchFamily="50" charset="-127"/>
                    <a:cs typeface="Inter Bold" pitchFamily="34" charset="-120"/>
                  </a:rPr>
                  <a:t>인터럽트 기반 물리 버튼 처리</a:t>
                </a:r>
                <a:endParaRPr lang="ko-KR" altLang="en-US" b="1" dirty="0">
                  <a:solidFill>
                    <a:srgbClr val="272525"/>
                  </a:solidFill>
                  <a:latin typeface="LG스마트체2.0 SemiBold" panose="020B0600000101010101" pitchFamily="50" charset="-127"/>
                  <a:ea typeface="LG스마트체2.0 SemiBold" panose="020B0600000101010101" pitchFamily="50" charset="-127"/>
                  <a:cs typeface="Inter Bold" pitchFamily="34" charset="-120"/>
                </a:endParaRPr>
              </a:p>
            </p:txBody>
          </p:sp>
          <p:sp>
            <p:nvSpPr>
              <p:cNvPr id="51" name="Text 6"/>
              <p:cNvSpPr/>
              <p:nvPr/>
            </p:nvSpPr>
            <p:spPr>
              <a:xfrm>
                <a:off x="4641155" y="4947868"/>
                <a:ext cx="7729566" cy="41338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r>
                  <a:rPr lang="ko-KR" altLang="en-US" sz="1600" dirty="0" smtClean="0">
                    <a:solidFill>
                      <a:srgbClr val="272525"/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Inter" pitchFamily="34" charset="-120"/>
                  </a:rPr>
                  <a:t>출제자</a:t>
                </a:r>
                <a:r>
                  <a:rPr lang="en-US" altLang="ko-KR" sz="1600" dirty="0" smtClean="0">
                    <a:solidFill>
                      <a:srgbClr val="272525"/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Inter" pitchFamily="34" charset="-120"/>
                  </a:rPr>
                  <a:t>/</a:t>
                </a:r>
                <a:r>
                  <a:rPr lang="ko-KR" altLang="en-US" sz="1600" smtClean="0">
                    <a:solidFill>
                      <a:srgbClr val="272525"/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Inter" pitchFamily="34" charset="-120"/>
                  </a:rPr>
                  <a:t>참가자에 따른 별도 버튼 기능 구현</a:t>
                </a:r>
                <a:endParaRPr lang="ko-KR" altLang="en-US" sz="1600">
                  <a:solidFill>
                    <a:srgbClr val="272525"/>
                  </a:solidFill>
                  <a:latin typeface="LG스마트체2.0 Regular" panose="020B0600000101010101" pitchFamily="50" charset="-127"/>
                  <a:ea typeface="LG스마트체2.0 Regular" panose="020B0600000101010101" pitchFamily="50" charset="-127"/>
                  <a:cs typeface="Inter" pitchFamily="34" charset="-120"/>
                </a:endParaRPr>
              </a:p>
            </p:txBody>
          </p:sp>
        </p:grpSp>
        <p:grpSp>
          <p:nvGrpSpPr>
            <p:cNvPr id="28" name="그룹 27"/>
            <p:cNvGrpSpPr/>
            <p:nvPr/>
          </p:nvGrpSpPr>
          <p:grpSpPr>
            <a:xfrm>
              <a:off x="876917" y="7749520"/>
              <a:ext cx="7460314" cy="984510"/>
              <a:chOff x="4008160" y="3964450"/>
              <a:chExt cx="8799378" cy="1644190"/>
            </a:xfrm>
          </p:grpSpPr>
          <p:sp>
            <p:nvSpPr>
              <p:cNvPr id="29" name="Shape 3"/>
              <p:cNvSpPr/>
              <p:nvPr/>
            </p:nvSpPr>
            <p:spPr>
              <a:xfrm>
                <a:off x="4057206" y="3964450"/>
                <a:ext cx="8750332" cy="1644190"/>
              </a:xfrm>
              <a:prstGeom prst="roundRect">
                <a:avLst>
                  <a:gd name="adj" fmla="val 8109"/>
                </a:avLst>
              </a:prstGeom>
              <a:solidFill>
                <a:srgbClr val="FFFFFF"/>
              </a:solidFill>
              <a:ln w="22860">
                <a:solidFill>
                  <a:srgbClr val="C0C1D7"/>
                </a:solidFill>
                <a:prstDash val="solid"/>
              </a:ln>
            </p:spPr>
          </p:sp>
          <p:sp>
            <p:nvSpPr>
              <p:cNvPr id="30" name="Shape 4"/>
              <p:cNvSpPr/>
              <p:nvPr/>
            </p:nvSpPr>
            <p:spPr>
              <a:xfrm>
                <a:off x="4008160" y="3964450"/>
                <a:ext cx="196183" cy="1644190"/>
              </a:xfrm>
              <a:prstGeom prst="roundRect">
                <a:avLst>
                  <a:gd name="adj" fmla="val 83023"/>
                </a:avLst>
              </a:prstGeom>
              <a:solidFill>
                <a:srgbClr val="A50034"/>
              </a:solidFill>
              <a:ln/>
            </p:spPr>
          </p:sp>
          <p:sp>
            <p:nvSpPr>
              <p:cNvPr id="31" name="Text 5"/>
              <p:cNvSpPr/>
              <p:nvPr/>
            </p:nvSpPr>
            <p:spPr>
              <a:xfrm>
                <a:off x="4641155" y="4211838"/>
                <a:ext cx="4847360" cy="34316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r>
                  <a:rPr lang="ko-KR" altLang="en-US" b="1" dirty="0" smtClean="0">
                    <a:solidFill>
                      <a:srgbClr val="272525"/>
                    </a:solidFill>
                    <a:latin typeface="LG스마트체2.0 SemiBold" panose="020B0600000101010101" pitchFamily="50" charset="-127"/>
                    <a:ea typeface="LG스마트체2.0 SemiBold" panose="020B0600000101010101" pitchFamily="50" charset="-127"/>
                    <a:cs typeface="Inter Bold" pitchFamily="34" charset="-120"/>
                  </a:rPr>
                  <a:t>터치 입력 데이터 처리</a:t>
                </a:r>
                <a:endParaRPr lang="ko-KR" altLang="en-US" b="1" dirty="0">
                  <a:solidFill>
                    <a:srgbClr val="272525"/>
                  </a:solidFill>
                  <a:latin typeface="LG스마트체2.0 SemiBold" panose="020B0600000101010101" pitchFamily="50" charset="-127"/>
                  <a:ea typeface="LG스마트체2.0 SemiBold" panose="020B0600000101010101" pitchFamily="50" charset="-127"/>
                  <a:cs typeface="Inter Bold" pitchFamily="34" charset="-120"/>
                </a:endParaRPr>
              </a:p>
            </p:txBody>
          </p:sp>
          <p:sp>
            <p:nvSpPr>
              <p:cNvPr id="32" name="Text 6"/>
              <p:cNvSpPr/>
              <p:nvPr/>
            </p:nvSpPr>
            <p:spPr>
              <a:xfrm>
                <a:off x="4641155" y="4947868"/>
                <a:ext cx="7729566" cy="41338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r>
                  <a:rPr lang="ko-KR" altLang="en-US" sz="1600" dirty="0" smtClean="0">
                    <a:solidFill>
                      <a:srgbClr val="272525"/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Inter" pitchFamily="34" charset="-120"/>
                  </a:rPr>
                  <a:t>보드 간 좌표 데이터 </a:t>
                </a:r>
                <a:r>
                  <a:rPr lang="ko-KR" altLang="en-US" sz="1600" dirty="0" err="1" smtClean="0">
                    <a:solidFill>
                      <a:srgbClr val="272525"/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Inter" pitchFamily="34" charset="-120"/>
                  </a:rPr>
                  <a:t>파싱</a:t>
                </a:r>
                <a:r>
                  <a:rPr lang="ko-KR" altLang="en-US" sz="1600" dirty="0" smtClean="0">
                    <a:solidFill>
                      <a:srgbClr val="272525"/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Inter" pitchFamily="34" charset="-120"/>
                  </a:rPr>
                  <a:t> 및 전송</a:t>
                </a:r>
                <a:endParaRPr lang="ko-KR" altLang="en-US" sz="1600" dirty="0">
                  <a:solidFill>
                    <a:srgbClr val="272525"/>
                  </a:solidFill>
                  <a:latin typeface="LG스마트체2.0 Regular" panose="020B0600000101010101" pitchFamily="50" charset="-127"/>
                  <a:ea typeface="LG스마트체2.0 Regular" panose="020B0600000101010101" pitchFamily="50" charset="-127"/>
                  <a:cs typeface="Inter" pitchFamily="34" charset="-120"/>
                </a:endParaRPr>
              </a:p>
            </p:txBody>
          </p:sp>
        </p:grpSp>
        <p:grpSp>
          <p:nvGrpSpPr>
            <p:cNvPr id="33" name="그룹 32"/>
            <p:cNvGrpSpPr/>
            <p:nvPr/>
          </p:nvGrpSpPr>
          <p:grpSpPr>
            <a:xfrm>
              <a:off x="876917" y="8876249"/>
              <a:ext cx="7460314" cy="984510"/>
              <a:chOff x="4008160" y="3964450"/>
              <a:chExt cx="8799378" cy="1644190"/>
            </a:xfrm>
          </p:grpSpPr>
          <p:sp>
            <p:nvSpPr>
              <p:cNvPr id="34" name="Shape 3"/>
              <p:cNvSpPr/>
              <p:nvPr/>
            </p:nvSpPr>
            <p:spPr>
              <a:xfrm>
                <a:off x="4057206" y="3964450"/>
                <a:ext cx="8750332" cy="1644190"/>
              </a:xfrm>
              <a:prstGeom prst="roundRect">
                <a:avLst>
                  <a:gd name="adj" fmla="val 8109"/>
                </a:avLst>
              </a:prstGeom>
              <a:solidFill>
                <a:srgbClr val="FFFFFF"/>
              </a:solidFill>
              <a:ln w="22860">
                <a:solidFill>
                  <a:srgbClr val="C0C1D7"/>
                </a:solidFill>
                <a:prstDash val="solid"/>
              </a:ln>
            </p:spPr>
          </p:sp>
          <p:sp>
            <p:nvSpPr>
              <p:cNvPr id="35" name="Shape 4"/>
              <p:cNvSpPr/>
              <p:nvPr/>
            </p:nvSpPr>
            <p:spPr>
              <a:xfrm>
                <a:off x="4008160" y="3964450"/>
                <a:ext cx="196183" cy="1644190"/>
              </a:xfrm>
              <a:prstGeom prst="roundRect">
                <a:avLst>
                  <a:gd name="adj" fmla="val 83023"/>
                </a:avLst>
              </a:prstGeom>
              <a:solidFill>
                <a:srgbClr val="A50034"/>
              </a:solidFill>
              <a:ln/>
            </p:spPr>
          </p:sp>
          <p:sp>
            <p:nvSpPr>
              <p:cNvPr id="36" name="Text 5"/>
              <p:cNvSpPr/>
              <p:nvPr/>
            </p:nvSpPr>
            <p:spPr>
              <a:xfrm>
                <a:off x="4641155" y="4211838"/>
                <a:ext cx="4847360" cy="34316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r>
                  <a:rPr lang="en-US" altLang="ko-KR" b="1" dirty="0" smtClean="0">
                    <a:solidFill>
                      <a:srgbClr val="272525"/>
                    </a:solidFill>
                    <a:latin typeface="LG스마트체2.0 SemiBold" panose="020B0600000101010101" pitchFamily="50" charset="-127"/>
                    <a:ea typeface="LG스마트체2.0 SemiBold" panose="020B0600000101010101" pitchFamily="50" charset="-127"/>
                    <a:cs typeface="Inter Bold" pitchFamily="34" charset="-120"/>
                  </a:rPr>
                  <a:t>GPIO </a:t>
                </a:r>
                <a:r>
                  <a:rPr lang="ko-KR" altLang="en-US" b="1" smtClean="0">
                    <a:solidFill>
                      <a:srgbClr val="272525"/>
                    </a:solidFill>
                    <a:latin typeface="LG스마트체2.0 SemiBold" panose="020B0600000101010101" pitchFamily="50" charset="-127"/>
                    <a:ea typeface="LG스마트체2.0 SemiBold" panose="020B0600000101010101" pitchFamily="50" charset="-127"/>
                    <a:cs typeface="Inter Bold" pitchFamily="34" charset="-120"/>
                  </a:rPr>
                  <a:t>인터럽트 기반 물리 버튼 처리</a:t>
                </a:r>
                <a:endParaRPr lang="ko-KR" altLang="en-US" b="1" dirty="0">
                  <a:solidFill>
                    <a:srgbClr val="272525"/>
                  </a:solidFill>
                  <a:latin typeface="LG스마트체2.0 SemiBold" panose="020B0600000101010101" pitchFamily="50" charset="-127"/>
                  <a:ea typeface="LG스마트체2.0 SemiBold" panose="020B0600000101010101" pitchFamily="50" charset="-127"/>
                  <a:cs typeface="Inter Bold" pitchFamily="34" charset="-120"/>
                </a:endParaRPr>
              </a:p>
            </p:txBody>
          </p:sp>
          <p:sp>
            <p:nvSpPr>
              <p:cNvPr id="37" name="Text 6"/>
              <p:cNvSpPr/>
              <p:nvPr/>
            </p:nvSpPr>
            <p:spPr>
              <a:xfrm>
                <a:off x="4641155" y="4947868"/>
                <a:ext cx="7729566" cy="41338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r>
                  <a:rPr lang="ko-KR" altLang="en-US" sz="1600" dirty="0" smtClean="0">
                    <a:solidFill>
                      <a:srgbClr val="272525"/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Inter" pitchFamily="34" charset="-120"/>
                  </a:rPr>
                  <a:t>출제자</a:t>
                </a:r>
                <a:r>
                  <a:rPr lang="en-US" altLang="ko-KR" sz="1600" dirty="0" smtClean="0">
                    <a:solidFill>
                      <a:srgbClr val="272525"/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Inter" pitchFamily="34" charset="-120"/>
                  </a:rPr>
                  <a:t>/</a:t>
                </a:r>
                <a:r>
                  <a:rPr lang="ko-KR" altLang="en-US" sz="1600" smtClean="0">
                    <a:solidFill>
                      <a:srgbClr val="272525"/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Inter" pitchFamily="34" charset="-120"/>
                  </a:rPr>
                  <a:t>참가자에 따른 별도 버튼 기능 구현</a:t>
                </a:r>
                <a:endParaRPr lang="ko-KR" altLang="en-US" sz="1600">
                  <a:solidFill>
                    <a:srgbClr val="272525"/>
                  </a:solidFill>
                  <a:latin typeface="LG스마트체2.0 Regular" panose="020B0600000101010101" pitchFamily="50" charset="-127"/>
                  <a:ea typeface="LG스마트체2.0 Regular" panose="020B0600000101010101" pitchFamily="50" charset="-127"/>
                  <a:cs typeface="Inter" pitchFamily="34" charset="-12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96788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4862" y="238662"/>
            <a:ext cx="171287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3. </a:t>
            </a:r>
            <a:r>
              <a:rPr lang="ko-KR" altLang="en-US" sz="54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핵심 기술 </a:t>
            </a:r>
            <a:r>
              <a:rPr lang="en-US" altLang="ko-KR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: Double </a:t>
            </a:r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Frame Buffer </a:t>
            </a:r>
            <a:r>
              <a:rPr lang="ko-KR" altLang="en-US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기반 그래픽 </a:t>
            </a:r>
            <a:r>
              <a:rPr lang="ko-KR" altLang="en-US" sz="54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구현</a:t>
            </a:r>
            <a:endParaRPr lang="ko-KR" altLang="en-US" sz="5400" b="1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5" name="Text 2"/>
          <p:cNvSpPr/>
          <p:nvPr/>
        </p:nvSpPr>
        <p:spPr>
          <a:xfrm>
            <a:off x="876917" y="2194152"/>
            <a:ext cx="86553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 dirty="0">
              <a:latin typeface="LG스마트체 Bold" panose="020B0600000101010101" pitchFamily="50" charset="-127"/>
              <a:ea typeface="LG스마트체 Bold" panose="020B0600000101010101" pitchFamily="50" charset="-127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" t="56022" r="55695" b="21914"/>
          <a:stretch/>
        </p:blipFill>
        <p:spPr>
          <a:xfrm>
            <a:off x="1043509" y="3605030"/>
            <a:ext cx="7111383" cy="2389061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691" t="11092" r="1441" b="82314"/>
          <a:stretch/>
        </p:blipFill>
        <p:spPr>
          <a:xfrm>
            <a:off x="8407708" y="2648861"/>
            <a:ext cx="8521083" cy="689537"/>
          </a:xfrm>
          <a:prstGeom prst="rect">
            <a:avLst/>
          </a:prstGeom>
        </p:spPr>
      </p:pic>
      <p:sp>
        <p:nvSpPr>
          <p:cNvPr id="21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562095" y="6540500"/>
            <a:ext cx="8074213" cy="114752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기존 화면을 지우면서 흰 화면</a:t>
            </a:r>
            <a:r>
              <a:rPr lang="en-US" altLang="ko-KR" sz="20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(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또는 배경</a:t>
            </a:r>
            <a:r>
              <a:rPr lang="en-US" altLang="ko-KR" sz="20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)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이 먼저 보임 </a:t>
            </a:r>
            <a:r>
              <a:rPr lang="en-US" altLang="ko-KR" sz="20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/>
            </a:r>
            <a:br>
              <a:rPr lang="en-US" altLang="ko-KR" sz="20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r>
              <a:rPr lang="ko-KR" altLang="en-US" sz="200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→ 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깜빡임 </a:t>
            </a:r>
            <a:r>
              <a:rPr lang="ko-KR" altLang="en-US" sz="200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발생</a:t>
            </a:r>
            <a:endParaRPr lang="en-US" altLang="ko-KR" sz="2000" dirty="0" smtClean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복잡한 </a:t>
            </a:r>
            <a:r>
              <a:rPr lang="ko-KR" altLang="en-US" sz="20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장면이나 </a:t>
            </a:r>
            <a:r>
              <a:rPr lang="en-US" altLang="ko-KR" sz="20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CPU 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사용량이 높을 때 깜빡임이 더 심해짐</a:t>
            </a:r>
            <a:endParaRPr lang="en-US" altLang="ko-KR" sz="2000" dirty="0" smtClean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6" t="11334" r="54602" b="82484"/>
          <a:stretch/>
        </p:blipFill>
        <p:spPr>
          <a:xfrm>
            <a:off x="980317" y="2658928"/>
            <a:ext cx="7237766" cy="669405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44" t="55892" r="1614" b="20193"/>
          <a:stretch/>
        </p:blipFill>
        <p:spPr>
          <a:xfrm>
            <a:off x="8407708" y="3542432"/>
            <a:ext cx="8364879" cy="2514258"/>
          </a:xfrm>
          <a:prstGeom prst="rect">
            <a:avLst/>
          </a:prstGeom>
        </p:spPr>
      </p:pic>
      <p:sp>
        <p:nvSpPr>
          <p:cNvPr id="24" name="텍스트 개체 틀 1"/>
          <p:cNvSpPr txBox="1">
            <a:spLocks/>
          </p:cNvSpPr>
          <p:nvPr/>
        </p:nvSpPr>
        <p:spPr>
          <a:xfrm>
            <a:off x="8553040" y="6540500"/>
            <a:ext cx="8074213" cy="114752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20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백 버퍼에서 모든 그리기를 완료한 후</a:t>
            </a:r>
            <a:r>
              <a:rPr lang="en-US" altLang="ko-KR" sz="20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프런트</a:t>
            </a:r>
            <a:r>
              <a:rPr lang="en-US" altLang="ko-KR" sz="20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/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백 버퍼를 교체</a:t>
            </a:r>
            <a:r>
              <a:rPr lang="en-US" altLang="ko-KR" sz="20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(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스왑</a:t>
            </a:r>
            <a:r>
              <a:rPr lang="en-US" altLang="ko-KR" sz="20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)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하여 완성된 화면을 한 번에 </a:t>
            </a:r>
            <a:r>
              <a:rPr lang="ko-KR" altLang="en-US" sz="200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출력</a:t>
            </a:r>
            <a:endParaRPr lang="en-US" altLang="ko-KR" sz="2000" dirty="0" smtClean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완성된 장면을 한 번에 출력하여 불필요한 중간 장면</a:t>
            </a:r>
            <a:r>
              <a:rPr lang="en-US" altLang="ko-KR" sz="20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(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흰 화면</a:t>
            </a:r>
            <a:r>
              <a:rPr lang="en-US" altLang="ko-KR" sz="20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그리기 과정 노출</a:t>
            </a:r>
            <a:r>
              <a:rPr lang="en-US" altLang="ko-KR" sz="20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)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을 </a:t>
            </a:r>
            <a:r>
              <a:rPr lang="ko-KR" altLang="en-US" sz="200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없애 부드럽게</a:t>
            </a:r>
            <a:r>
              <a:rPr lang="en-US" altLang="ko-KR" sz="20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ko-KR" altLang="en-US" sz="200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화면 전환</a:t>
            </a:r>
            <a:endParaRPr lang="en-US" altLang="ko-KR" sz="2000" dirty="0" smtClean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8293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393700" y="1676400"/>
            <a:ext cx="6616700" cy="6959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sz="2400" dirty="0" smtClean="0"/>
              <a:t>참가자 화면 실시간 모니터링</a:t>
            </a:r>
            <a:endParaRPr lang="en-US" altLang="ko-KR" sz="2400" dirty="0" smtClean="0"/>
          </a:p>
          <a:p>
            <a:pPr lvl="1">
              <a:lnSpc>
                <a:spcPct val="150000"/>
              </a:lnSpc>
            </a:pPr>
            <a:r>
              <a:rPr lang="ko-KR" altLang="en-US" sz="2000" dirty="0" smtClean="0"/>
              <a:t>게임 참가자의 보드를 </a:t>
            </a:r>
            <a:r>
              <a:rPr lang="en-US" altLang="ko-KR" sz="2000" dirty="0" err="1" smtClean="0"/>
              <a:t>ubuntu</a:t>
            </a:r>
            <a:r>
              <a:rPr lang="ko-KR" altLang="en-US" sz="2000" smtClean="0"/>
              <a:t> 화면으로 모니터링</a:t>
            </a:r>
            <a:endParaRPr lang="en-US" altLang="ko-KR" sz="2000" dirty="0" smtClean="0"/>
          </a:p>
          <a:p>
            <a:pPr lvl="1">
              <a:lnSpc>
                <a:spcPct val="150000"/>
              </a:lnSpc>
            </a:pPr>
            <a:r>
              <a:rPr lang="ko-KR" altLang="en-US" sz="2000" dirty="0" smtClean="0"/>
              <a:t>주변 사람들이 게임을 관전할 수 있도록 구현</a:t>
            </a:r>
            <a:endParaRPr lang="en-US" altLang="ko-KR" sz="2000" dirty="0" smtClean="0"/>
          </a:p>
          <a:p>
            <a:pPr>
              <a:lnSpc>
                <a:spcPct val="150000"/>
              </a:lnSpc>
            </a:pPr>
            <a:r>
              <a:rPr lang="ko-KR" altLang="en-US" sz="2400" dirty="0"/>
              <a:t>개요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순수 </a:t>
            </a:r>
            <a:r>
              <a:rPr lang="en-US" altLang="ko-KR" sz="2000" dirty="0"/>
              <a:t>C (</a:t>
            </a:r>
            <a:r>
              <a:rPr lang="en-US" altLang="ko-KR" sz="2000" dirty="0" err="1"/>
              <a:t>libc</a:t>
            </a:r>
            <a:r>
              <a:rPr lang="en-US" altLang="ko-KR" sz="2000" dirty="0"/>
              <a:t> + </a:t>
            </a:r>
            <a:r>
              <a:rPr lang="en-US" altLang="ko-KR" sz="2000" dirty="0" err="1"/>
              <a:t>pthreads</a:t>
            </a:r>
            <a:r>
              <a:rPr lang="en-US" altLang="ko-KR" sz="2000" dirty="0"/>
              <a:t>), </a:t>
            </a:r>
            <a:r>
              <a:rPr lang="ko-KR" altLang="en-US" sz="2000"/>
              <a:t>외부 라이브러리 없음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TCP </a:t>
            </a:r>
            <a:r>
              <a:rPr lang="ko-KR" altLang="en-US" sz="2000"/>
              <a:t>포트 </a:t>
            </a:r>
            <a:r>
              <a:rPr lang="en-US" altLang="ko-KR" sz="2000" dirty="0"/>
              <a:t>8080, accept() </a:t>
            </a:r>
            <a:r>
              <a:rPr lang="ko-KR" altLang="en-US" sz="2000"/>
              <a:t>마다 </a:t>
            </a:r>
            <a:r>
              <a:rPr lang="en-US" altLang="ko-KR" sz="2000" dirty="0" err="1"/>
              <a:t>pthread_create</a:t>
            </a:r>
            <a:r>
              <a:rPr lang="en-US" altLang="ko-KR" sz="2000" dirty="0"/>
              <a:t>() + </a:t>
            </a:r>
            <a:r>
              <a:rPr lang="en-US" altLang="ko-KR" sz="2000" dirty="0" err="1"/>
              <a:t>pthread_detach</a:t>
            </a:r>
            <a:r>
              <a:rPr lang="en-US" altLang="ko-KR" sz="2000" dirty="0"/>
              <a:t>()</a:t>
            </a:r>
            <a:endParaRPr lang="en-US" altLang="ko-KR" sz="2000" dirty="0" smtClean="0"/>
          </a:p>
          <a:p>
            <a:pPr>
              <a:lnSpc>
                <a:spcPct val="150000"/>
              </a:lnSpc>
            </a:pPr>
            <a:r>
              <a:rPr lang="en-US" altLang="ko-KR" sz="2400" dirty="0" smtClean="0"/>
              <a:t>HTTP </a:t>
            </a:r>
            <a:r>
              <a:rPr lang="ko-KR" altLang="en-US" sz="2400"/>
              <a:t>엔드포인트</a:t>
            </a: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44862" y="238662"/>
            <a:ext cx="170398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3. </a:t>
            </a:r>
            <a:r>
              <a:rPr lang="ko-KR" altLang="en-US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핵심 기술 </a:t>
            </a:r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: </a:t>
            </a:r>
            <a:r>
              <a:rPr lang="en-US" altLang="ko-KR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Frame </a:t>
            </a:r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Buffer </a:t>
            </a:r>
            <a:r>
              <a:rPr lang="ko-KR" altLang="en-US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기반 </a:t>
            </a:r>
            <a:r>
              <a:rPr lang="ko-KR" altLang="en-US" sz="54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모니터링</a:t>
            </a:r>
            <a:endParaRPr lang="ko-KR" altLang="en-US" sz="5400" b="1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0510946"/>
              </p:ext>
            </p:extLst>
          </p:nvPr>
        </p:nvGraphicFramePr>
        <p:xfrm>
          <a:off x="656564" y="6339045"/>
          <a:ext cx="6090972" cy="21055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0324"/>
                <a:gridCol w="2030324"/>
                <a:gridCol w="2030324"/>
              </a:tblGrid>
              <a:tr h="701836"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경로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응답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설명</a:t>
                      </a:r>
                    </a:p>
                  </a:txBody>
                  <a:tcPr marL="123825" marR="123825" marT="57150" marB="57150" anchor="ctr"/>
                </a:tc>
              </a:tr>
              <a:tr h="701836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GET /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HTML + JavaScript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altLang="ko-KR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</a:t>
                      </a:r>
                      <a:r>
                        <a:rPr lang="ko-KR" altLang="en-US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초 간격 자동 갱신 페이지</a:t>
                      </a:r>
                    </a:p>
                  </a:txBody>
                  <a:tcPr marL="123825" marR="123825" marT="57150" marB="57150" anchor="ctr"/>
                </a:tc>
              </a:tr>
              <a:tr h="701836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GET /frame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image/bmp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현재 프레임버퍼 </a:t>
                      </a:r>
                      <a:r>
                        <a:rPr lang="ko-KR" altLang="en-US" dirty="0" err="1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캡처</a:t>
                      </a:r>
                      <a:r>
                        <a:rPr lang="ko-KR" altLang="en-US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이미지</a:t>
                      </a:r>
                    </a:p>
                  </a:txBody>
                  <a:tcPr marL="123825" marR="123825" marT="57150" marB="57150" anchor="ctr"/>
                </a:tc>
              </a:tr>
            </a:tbl>
          </a:graphicData>
        </a:graphic>
      </p:graphicFrame>
      <p:grpSp>
        <p:nvGrpSpPr>
          <p:cNvPr id="14" name="그룹 13"/>
          <p:cNvGrpSpPr/>
          <p:nvPr/>
        </p:nvGrpSpPr>
        <p:grpSpPr>
          <a:xfrm>
            <a:off x="7383516" y="1928806"/>
            <a:ext cx="9185936" cy="6454787"/>
            <a:chOff x="-20584" y="2181213"/>
            <a:chExt cx="9185936" cy="6454787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79916" y="2181213"/>
              <a:ext cx="6785436" cy="4157832"/>
            </a:xfrm>
            <a:prstGeom prst="rect">
              <a:avLst/>
            </a:prstGeom>
          </p:spPr>
        </p:pic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0584" y="4691546"/>
              <a:ext cx="6383065" cy="394445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62338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3. </a:t>
            </a:r>
            <a:r>
              <a:rPr lang="ko-KR" altLang="en-US" sz="54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핵심 기술 </a:t>
            </a:r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: UDP </a:t>
            </a:r>
            <a:r>
              <a:rPr lang="ko-KR" altLang="en-US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기반 실시간 통신 </a:t>
            </a:r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&amp; </a:t>
            </a:r>
            <a:r>
              <a:rPr lang="ko-KR" altLang="en-US" sz="54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동기화</a:t>
            </a:r>
            <a:endParaRPr lang="ko-KR" altLang="en-US" sz="5400" b="1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5" name="Text 2"/>
          <p:cNvSpPr/>
          <p:nvPr/>
        </p:nvSpPr>
        <p:spPr>
          <a:xfrm>
            <a:off x="876917" y="2194152"/>
            <a:ext cx="86553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altLang="ko-KR" sz="4450" b="1" dirty="0">
                <a:solidFill>
                  <a:srgbClr val="000000"/>
                </a:solidFill>
                <a:latin typeface="LG스마트체 Bold" panose="020B0600000101010101" pitchFamily="50" charset="-127"/>
                <a:ea typeface="LG스마트체 Bold" panose="020B0600000101010101" pitchFamily="50" charset="-127"/>
                <a:cs typeface="Inter Bold" pitchFamily="34" charset="-120"/>
              </a:rPr>
              <a:t>UDP </a:t>
            </a:r>
            <a:r>
              <a:rPr lang="ko-KR" altLang="en-US" sz="4450" b="1">
                <a:solidFill>
                  <a:srgbClr val="000000"/>
                </a:solidFill>
                <a:latin typeface="LG스마트체 Bold" panose="020B0600000101010101" pitchFamily="50" charset="-127"/>
                <a:ea typeface="LG스마트체 Bold" panose="020B0600000101010101" pitchFamily="50" charset="-127"/>
                <a:cs typeface="Inter Bold" pitchFamily="34" charset="-120"/>
              </a:rPr>
              <a:t>기반 실시간 통신 </a:t>
            </a:r>
            <a:r>
              <a:rPr lang="en-US" altLang="ko-KR" sz="4450" b="1" dirty="0">
                <a:solidFill>
                  <a:srgbClr val="000000"/>
                </a:solidFill>
                <a:latin typeface="LG스마트체 Bold" panose="020B0600000101010101" pitchFamily="50" charset="-127"/>
                <a:ea typeface="LG스마트체 Bold" panose="020B0600000101010101" pitchFamily="50" charset="-127"/>
                <a:cs typeface="Inter Bold" pitchFamily="34" charset="-120"/>
              </a:rPr>
              <a:t>&amp; </a:t>
            </a:r>
            <a:r>
              <a:rPr lang="ko-KR" altLang="en-US" sz="4450" b="1">
                <a:solidFill>
                  <a:srgbClr val="000000"/>
                </a:solidFill>
                <a:latin typeface="LG스마트체 Bold" panose="020B0600000101010101" pitchFamily="50" charset="-127"/>
                <a:ea typeface="LG스마트체 Bold" panose="020B0600000101010101" pitchFamily="50" charset="-127"/>
                <a:cs typeface="Inter Bold" pitchFamily="34" charset="-120"/>
              </a:rPr>
              <a:t>동기화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1078044" y="3631941"/>
            <a:ext cx="15092670" cy="3535768"/>
            <a:chOff x="1078044" y="3631941"/>
            <a:chExt cx="15092670" cy="3535768"/>
          </a:xfrm>
        </p:grpSpPr>
        <p:grpSp>
          <p:nvGrpSpPr>
            <p:cNvPr id="11" name="그룹 10"/>
            <p:cNvGrpSpPr/>
            <p:nvPr/>
          </p:nvGrpSpPr>
          <p:grpSpPr>
            <a:xfrm>
              <a:off x="1078044" y="3631941"/>
              <a:ext cx="7460314" cy="1644190"/>
              <a:chOff x="4008160" y="3964450"/>
              <a:chExt cx="8799378" cy="1644190"/>
            </a:xfrm>
          </p:grpSpPr>
          <p:sp>
            <p:nvSpPr>
              <p:cNvPr id="13" name="Shape 3"/>
              <p:cNvSpPr/>
              <p:nvPr/>
            </p:nvSpPr>
            <p:spPr>
              <a:xfrm>
                <a:off x="4057206" y="3964450"/>
                <a:ext cx="8750332" cy="1644190"/>
              </a:xfrm>
              <a:prstGeom prst="roundRect">
                <a:avLst>
                  <a:gd name="adj" fmla="val 8109"/>
                </a:avLst>
              </a:prstGeom>
              <a:solidFill>
                <a:srgbClr val="FFFFFF"/>
              </a:solidFill>
              <a:ln w="22860">
                <a:solidFill>
                  <a:srgbClr val="C0C1D7"/>
                </a:solidFill>
                <a:prstDash val="solid"/>
              </a:ln>
            </p:spPr>
          </p:sp>
          <p:sp>
            <p:nvSpPr>
              <p:cNvPr id="14" name="Shape 4"/>
              <p:cNvSpPr/>
              <p:nvPr/>
            </p:nvSpPr>
            <p:spPr>
              <a:xfrm>
                <a:off x="4008160" y="3964450"/>
                <a:ext cx="196183" cy="1644190"/>
              </a:xfrm>
              <a:prstGeom prst="roundRect">
                <a:avLst>
                  <a:gd name="adj" fmla="val 83023"/>
                </a:avLst>
              </a:prstGeom>
              <a:solidFill>
                <a:srgbClr val="A50034"/>
              </a:solidFill>
              <a:ln/>
            </p:spPr>
          </p:sp>
          <p:sp>
            <p:nvSpPr>
              <p:cNvPr id="15" name="Text 5"/>
              <p:cNvSpPr/>
              <p:nvPr/>
            </p:nvSpPr>
            <p:spPr>
              <a:xfrm>
                <a:off x="4641155" y="4211838"/>
                <a:ext cx="4847360" cy="34316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r>
                  <a:rPr lang="ko-KR" altLang="en-US" sz="2400" b="1" dirty="0" err="1">
                    <a:solidFill>
                      <a:srgbClr val="272525"/>
                    </a:solidFill>
                    <a:latin typeface="LG스마트체2.0 SemiBold" panose="020B0600000101010101" pitchFamily="50" charset="-127"/>
                    <a:ea typeface="LG스마트체2.0 SemiBold" panose="020B0600000101010101" pitchFamily="50" charset="-127"/>
                    <a:cs typeface="Inter Bold" pitchFamily="34" charset="-120"/>
                  </a:rPr>
                  <a:t>저지연</a:t>
                </a:r>
                <a:r>
                  <a:rPr lang="ko-KR" altLang="en-US" sz="2400" b="1" dirty="0">
                    <a:solidFill>
                      <a:srgbClr val="272525"/>
                    </a:solidFill>
                    <a:latin typeface="LG스마트체2.0 SemiBold" panose="020B0600000101010101" pitchFamily="50" charset="-127"/>
                    <a:ea typeface="LG스마트체2.0 SemiBold" panose="020B0600000101010101" pitchFamily="50" charset="-127"/>
                    <a:cs typeface="Inter Bold" pitchFamily="34" charset="-120"/>
                  </a:rPr>
                  <a:t> </a:t>
                </a:r>
                <a:r>
                  <a:rPr lang="ko-KR" altLang="en-US" sz="2400" b="1" dirty="0" err="1">
                    <a:solidFill>
                      <a:srgbClr val="272525"/>
                    </a:solidFill>
                    <a:latin typeface="LG스마트체2.0 SemiBold" panose="020B0600000101010101" pitchFamily="50" charset="-127"/>
                    <a:ea typeface="LG스마트체2.0 SemiBold" panose="020B0600000101010101" pitchFamily="50" charset="-127"/>
                    <a:cs typeface="Inter Bold" pitchFamily="34" charset="-120"/>
                  </a:rPr>
                  <a:t>브로드캐스트</a:t>
                </a:r>
                <a:endParaRPr lang="ko-KR" altLang="en-US" sz="2400" b="1" dirty="0">
                  <a:solidFill>
                    <a:srgbClr val="272525"/>
                  </a:solidFill>
                  <a:latin typeface="LG스마트체2.0 SemiBold" panose="020B0600000101010101" pitchFamily="50" charset="-127"/>
                  <a:ea typeface="LG스마트체2.0 SemiBold" panose="020B0600000101010101" pitchFamily="50" charset="-127"/>
                  <a:cs typeface="Inter Bold" pitchFamily="34" charset="-120"/>
                </a:endParaRPr>
              </a:p>
            </p:txBody>
          </p:sp>
          <p:sp>
            <p:nvSpPr>
              <p:cNvPr id="16" name="Text 6"/>
              <p:cNvSpPr/>
              <p:nvPr/>
            </p:nvSpPr>
            <p:spPr>
              <a:xfrm>
                <a:off x="4641155" y="4729907"/>
                <a:ext cx="7729566" cy="63134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r>
                  <a:rPr lang="en-US" altLang="ko-KR" sz="2000" dirty="0">
                    <a:solidFill>
                      <a:srgbClr val="272525"/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Inter" pitchFamily="34" charset="-120"/>
                  </a:rPr>
                  <a:t>UDP </a:t>
                </a:r>
                <a:r>
                  <a:rPr lang="ko-KR" altLang="en-US" sz="2000">
                    <a:solidFill>
                      <a:srgbClr val="272525"/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Inter" pitchFamily="34" charset="-120"/>
                  </a:rPr>
                  <a:t>브로드캐스트로 멀티캐스트 통신 </a:t>
                </a:r>
                <a:r>
                  <a:rPr lang="ko-KR" altLang="en-US" sz="2000" smtClean="0">
                    <a:solidFill>
                      <a:srgbClr val="272525"/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Inter" pitchFamily="34" charset="-120"/>
                  </a:rPr>
                  <a:t>구현</a:t>
                </a:r>
                <a:endParaRPr lang="en-US" altLang="ko-KR" sz="2000" dirty="0" smtClean="0">
                  <a:solidFill>
                    <a:srgbClr val="272525"/>
                  </a:solidFill>
                  <a:latin typeface="LG스마트체2.0 Regular" panose="020B0600000101010101" pitchFamily="50" charset="-127"/>
                  <a:ea typeface="LG스마트체2.0 Regular" panose="020B0600000101010101" pitchFamily="50" charset="-127"/>
                  <a:cs typeface="Inter" pitchFamily="34" charset="-120"/>
                </a:endParaRPr>
              </a:p>
              <a:p>
                <a:r>
                  <a:rPr lang="en-US" altLang="ko-KR" sz="2000" dirty="0" smtClean="0">
                    <a:solidFill>
                      <a:srgbClr val="272525"/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Inter" pitchFamily="34" charset="-120"/>
                  </a:rPr>
                  <a:t>TCP </a:t>
                </a:r>
                <a:r>
                  <a:rPr lang="ko-KR" altLang="en-US" sz="2000">
                    <a:solidFill>
                      <a:srgbClr val="272525"/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Inter" pitchFamily="34" charset="-120"/>
                  </a:rPr>
                  <a:t>오버헤드 없이 실시간 데이터 </a:t>
                </a:r>
                <a:r>
                  <a:rPr lang="ko-KR" altLang="en-US" sz="2000" smtClean="0">
                    <a:solidFill>
                      <a:srgbClr val="272525"/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Inter" pitchFamily="34" charset="-120"/>
                  </a:rPr>
                  <a:t>전송</a:t>
                </a:r>
                <a:endParaRPr lang="en-US" altLang="ko-KR" sz="2000" dirty="0">
                  <a:solidFill>
                    <a:srgbClr val="272525"/>
                  </a:solidFill>
                  <a:latin typeface="LG스마트체2.0 Regular" panose="020B0600000101010101" pitchFamily="50" charset="-127"/>
                  <a:ea typeface="LG스마트체2.0 Regular" panose="020B0600000101010101" pitchFamily="50" charset="-127"/>
                  <a:cs typeface="Inter" pitchFamily="34" charset="-120"/>
                </a:endParaRPr>
              </a:p>
            </p:txBody>
          </p:sp>
        </p:grpSp>
        <p:grpSp>
          <p:nvGrpSpPr>
            <p:cNvPr id="26" name="그룹 25"/>
            <p:cNvGrpSpPr/>
            <p:nvPr/>
          </p:nvGrpSpPr>
          <p:grpSpPr>
            <a:xfrm>
              <a:off x="8710400" y="3631941"/>
              <a:ext cx="7460314" cy="1644190"/>
              <a:chOff x="4008160" y="3964450"/>
              <a:chExt cx="8799378" cy="1644190"/>
            </a:xfrm>
          </p:grpSpPr>
          <p:sp>
            <p:nvSpPr>
              <p:cNvPr id="27" name="Shape 3"/>
              <p:cNvSpPr/>
              <p:nvPr/>
            </p:nvSpPr>
            <p:spPr>
              <a:xfrm>
                <a:off x="4057206" y="3964450"/>
                <a:ext cx="8750332" cy="1644190"/>
              </a:xfrm>
              <a:prstGeom prst="roundRect">
                <a:avLst>
                  <a:gd name="adj" fmla="val 8109"/>
                </a:avLst>
              </a:prstGeom>
              <a:solidFill>
                <a:srgbClr val="FFFFFF"/>
              </a:solidFill>
              <a:ln w="22860">
                <a:solidFill>
                  <a:srgbClr val="C0C1D7"/>
                </a:solidFill>
                <a:prstDash val="solid"/>
              </a:ln>
            </p:spPr>
          </p:sp>
          <p:sp>
            <p:nvSpPr>
              <p:cNvPr id="28" name="Shape 4"/>
              <p:cNvSpPr/>
              <p:nvPr/>
            </p:nvSpPr>
            <p:spPr>
              <a:xfrm>
                <a:off x="4008160" y="3964450"/>
                <a:ext cx="196183" cy="1644190"/>
              </a:xfrm>
              <a:prstGeom prst="roundRect">
                <a:avLst>
                  <a:gd name="adj" fmla="val 83023"/>
                </a:avLst>
              </a:prstGeom>
              <a:solidFill>
                <a:srgbClr val="A50034"/>
              </a:solidFill>
              <a:ln/>
            </p:spPr>
          </p:sp>
          <p:sp>
            <p:nvSpPr>
              <p:cNvPr id="29" name="Text 5"/>
              <p:cNvSpPr/>
              <p:nvPr/>
            </p:nvSpPr>
            <p:spPr>
              <a:xfrm>
                <a:off x="4641155" y="4211838"/>
                <a:ext cx="4847360" cy="34316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r>
                  <a:rPr lang="ko-KR" altLang="en-US" sz="2400" b="1">
                    <a:solidFill>
                      <a:srgbClr val="272525"/>
                    </a:solidFill>
                    <a:latin typeface="LG스마트체2.0 SemiBold" panose="020B0600000101010101" pitchFamily="50" charset="-127"/>
                    <a:ea typeface="LG스마트체2.0 SemiBold" panose="020B0600000101010101" pitchFamily="50" charset="-127"/>
                    <a:cs typeface="Inter Bold" pitchFamily="34" charset="-120"/>
                  </a:rPr>
                  <a:t>논블로킹 </a:t>
                </a:r>
                <a:r>
                  <a:rPr lang="en-US" altLang="ko-KR" sz="2400" b="1" dirty="0">
                    <a:solidFill>
                      <a:srgbClr val="272525"/>
                    </a:solidFill>
                    <a:latin typeface="LG스마트체2.0 SemiBold" panose="020B0600000101010101" pitchFamily="50" charset="-127"/>
                    <a:ea typeface="LG스마트체2.0 SemiBold" panose="020B0600000101010101" pitchFamily="50" charset="-127"/>
                    <a:cs typeface="Inter Bold" pitchFamily="34" charset="-120"/>
                  </a:rPr>
                  <a:t>I/O</a:t>
                </a:r>
              </a:p>
            </p:txBody>
          </p:sp>
          <p:sp>
            <p:nvSpPr>
              <p:cNvPr id="30" name="Text 6"/>
              <p:cNvSpPr/>
              <p:nvPr/>
            </p:nvSpPr>
            <p:spPr>
              <a:xfrm>
                <a:off x="4641155" y="4729907"/>
                <a:ext cx="7729566" cy="63134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r>
                  <a:rPr lang="en-US" altLang="ko-KR" sz="2000" dirty="0">
                    <a:solidFill>
                      <a:srgbClr val="272525"/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Inter" pitchFamily="34" charset="-120"/>
                  </a:rPr>
                  <a:t>select() </a:t>
                </a:r>
                <a:r>
                  <a:rPr lang="ko-KR" altLang="en-US" sz="2000">
                    <a:solidFill>
                      <a:srgbClr val="272525"/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Inter" pitchFamily="34" charset="-120"/>
                  </a:rPr>
                  <a:t>기반 멀티플렉싱으로 블로킹 없이 다중 소켓 </a:t>
                </a:r>
                <a:r>
                  <a:rPr lang="ko-KR" altLang="en-US" sz="2000" smtClean="0">
                    <a:solidFill>
                      <a:srgbClr val="272525"/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Inter" pitchFamily="34" charset="-120"/>
                  </a:rPr>
                  <a:t>처리</a:t>
                </a:r>
                <a:endParaRPr lang="en-US" altLang="ko-KR" sz="2000" dirty="0">
                  <a:solidFill>
                    <a:srgbClr val="272525"/>
                  </a:solidFill>
                  <a:latin typeface="LG스마트체2.0 Regular" panose="020B0600000101010101" pitchFamily="50" charset="-127"/>
                  <a:ea typeface="LG스마트체2.0 Regular" panose="020B0600000101010101" pitchFamily="50" charset="-127"/>
                  <a:cs typeface="Inter" pitchFamily="34" charset="-120"/>
                </a:endParaRPr>
              </a:p>
            </p:txBody>
          </p:sp>
        </p:grpSp>
        <p:grpSp>
          <p:nvGrpSpPr>
            <p:cNvPr id="31" name="그룹 30"/>
            <p:cNvGrpSpPr/>
            <p:nvPr/>
          </p:nvGrpSpPr>
          <p:grpSpPr>
            <a:xfrm>
              <a:off x="1078044" y="5523519"/>
              <a:ext cx="7460314" cy="1644190"/>
              <a:chOff x="4008160" y="3964450"/>
              <a:chExt cx="8799378" cy="1644190"/>
            </a:xfrm>
          </p:grpSpPr>
          <p:sp>
            <p:nvSpPr>
              <p:cNvPr id="32" name="Shape 3"/>
              <p:cNvSpPr/>
              <p:nvPr/>
            </p:nvSpPr>
            <p:spPr>
              <a:xfrm>
                <a:off x="4057206" y="3964450"/>
                <a:ext cx="8750332" cy="1644190"/>
              </a:xfrm>
              <a:prstGeom prst="roundRect">
                <a:avLst>
                  <a:gd name="adj" fmla="val 8109"/>
                </a:avLst>
              </a:prstGeom>
              <a:solidFill>
                <a:srgbClr val="FFFFFF"/>
              </a:solidFill>
              <a:ln w="22860">
                <a:solidFill>
                  <a:srgbClr val="C0C1D7"/>
                </a:solidFill>
                <a:prstDash val="solid"/>
              </a:ln>
            </p:spPr>
          </p:sp>
          <p:sp>
            <p:nvSpPr>
              <p:cNvPr id="33" name="Shape 4"/>
              <p:cNvSpPr/>
              <p:nvPr/>
            </p:nvSpPr>
            <p:spPr>
              <a:xfrm>
                <a:off x="4008160" y="3964450"/>
                <a:ext cx="196183" cy="1644190"/>
              </a:xfrm>
              <a:prstGeom prst="roundRect">
                <a:avLst>
                  <a:gd name="adj" fmla="val 83023"/>
                </a:avLst>
              </a:prstGeom>
              <a:solidFill>
                <a:srgbClr val="A50034"/>
              </a:solidFill>
              <a:ln/>
            </p:spPr>
          </p:sp>
          <p:sp>
            <p:nvSpPr>
              <p:cNvPr id="34" name="Text 5"/>
              <p:cNvSpPr/>
              <p:nvPr/>
            </p:nvSpPr>
            <p:spPr>
              <a:xfrm>
                <a:off x="4641155" y="4211838"/>
                <a:ext cx="4847360" cy="34316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r>
                  <a:rPr lang="ko-KR" altLang="en-US" sz="2400" b="1" dirty="0" err="1">
                    <a:solidFill>
                      <a:srgbClr val="272525"/>
                    </a:solidFill>
                    <a:latin typeface="LG스마트체2.0 SemiBold" panose="020B0600000101010101" pitchFamily="50" charset="-127"/>
                    <a:ea typeface="LG스마트체2.0 SemiBold" panose="020B0600000101010101" pitchFamily="50" charset="-127"/>
                    <a:cs typeface="Inter Bold" pitchFamily="34" charset="-120"/>
                  </a:rPr>
                  <a:t>패킷</a:t>
                </a:r>
                <a:r>
                  <a:rPr lang="ko-KR" altLang="en-US" sz="2400" b="1" dirty="0">
                    <a:solidFill>
                      <a:srgbClr val="272525"/>
                    </a:solidFill>
                    <a:latin typeface="LG스마트체2.0 SemiBold" panose="020B0600000101010101" pitchFamily="50" charset="-127"/>
                    <a:ea typeface="LG스마트체2.0 SemiBold" panose="020B0600000101010101" pitchFamily="50" charset="-127"/>
                    <a:cs typeface="Inter Bold" pitchFamily="34" charset="-120"/>
                  </a:rPr>
                  <a:t> 유실 대응</a:t>
                </a:r>
              </a:p>
            </p:txBody>
          </p:sp>
          <p:sp>
            <p:nvSpPr>
              <p:cNvPr id="35" name="Text 6"/>
              <p:cNvSpPr/>
              <p:nvPr/>
            </p:nvSpPr>
            <p:spPr>
              <a:xfrm>
                <a:off x="4641155" y="4729907"/>
                <a:ext cx="7729566" cy="63134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r>
                  <a:rPr lang="ko-KR" altLang="en-US" sz="2000" dirty="0">
                    <a:solidFill>
                      <a:srgbClr val="272525"/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Inter" pitchFamily="34" charset="-120"/>
                  </a:rPr>
                  <a:t>중요 메시지는 반복 전송으로 신뢰성 </a:t>
                </a:r>
                <a:r>
                  <a:rPr lang="ko-KR" altLang="en-US" sz="2000" dirty="0" smtClean="0">
                    <a:solidFill>
                      <a:srgbClr val="272525"/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Inter" pitchFamily="34" charset="-120"/>
                  </a:rPr>
                  <a:t>확보</a:t>
                </a:r>
                <a:endParaRPr lang="en-US" altLang="ko-KR" sz="2000" dirty="0" smtClean="0">
                  <a:solidFill>
                    <a:srgbClr val="272525"/>
                  </a:solidFill>
                  <a:latin typeface="LG스마트체2.0 Regular" panose="020B0600000101010101" pitchFamily="50" charset="-127"/>
                  <a:ea typeface="LG스마트체2.0 Regular" panose="020B0600000101010101" pitchFamily="50" charset="-127"/>
                  <a:cs typeface="Inter" pitchFamily="34" charset="-120"/>
                </a:endParaRPr>
              </a:p>
              <a:p>
                <a:r>
                  <a:rPr lang="ko-KR" altLang="en-US" sz="2000" dirty="0" smtClean="0">
                    <a:solidFill>
                      <a:srgbClr val="272525"/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Inter" pitchFamily="34" charset="-120"/>
                  </a:rPr>
                  <a:t>순서 </a:t>
                </a:r>
                <a:r>
                  <a:rPr lang="ko-KR" altLang="en-US" sz="2000" dirty="0">
                    <a:solidFill>
                      <a:srgbClr val="272525"/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Inter" pitchFamily="34" charset="-120"/>
                  </a:rPr>
                  <a:t>번호 기반 중복 </a:t>
                </a:r>
                <a:r>
                  <a:rPr lang="ko-KR" altLang="en-US" sz="2000" dirty="0" smtClean="0">
                    <a:solidFill>
                      <a:srgbClr val="272525"/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Inter" pitchFamily="34" charset="-120"/>
                  </a:rPr>
                  <a:t>제거</a:t>
                </a:r>
                <a:endParaRPr lang="en-US" altLang="ko-KR" sz="2000" dirty="0">
                  <a:solidFill>
                    <a:srgbClr val="272525"/>
                  </a:solidFill>
                  <a:latin typeface="LG스마트체2.0 Regular" panose="020B0600000101010101" pitchFamily="50" charset="-127"/>
                  <a:ea typeface="LG스마트체2.0 Regular" panose="020B0600000101010101" pitchFamily="50" charset="-127"/>
                  <a:cs typeface="Inter" pitchFamily="34" charset="-120"/>
                </a:endParaRPr>
              </a:p>
            </p:txBody>
          </p:sp>
        </p:grpSp>
        <p:grpSp>
          <p:nvGrpSpPr>
            <p:cNvPr id="36" name="그룹 35"/>
            <p:cNvGrpSpPr/>
            <p:nvPr/>
          </p:nvGrpSpPr>
          <p:grpSpPr>
            <a:xfrm>
              <a:off x="8710400" y="5523519"/>
              <a:ext cx="7460314" cy="1644190"/>
              <a:chOff x="4008160" y="3964450"/>
              <a:chExt cx="8799378" cy="1644190"/>
            </a:xfrm>
          </p:grpSpPr>
          <p:sp>
            <p:nvSpPr>
              <p:cNvPr id="37" name="Shape 3"/>
              <p:cNvSpPr/>
              <p:nvPr/>
            </p:nvSpPr>
            <p:spPr>
              <a:xfrm>
                <a:off x="4057206" y="3964450"/>
                <a:ext cx="8750332" cy="1644190"/>
              </a:xfrm>
              <a:prstGeom prst="roundRect">
                <a:avLst>
                  <a:gd name="adj" fmla="val 8109"/>
                </a:avLst>
              </a:prstGeom>
              <a:solidFill>
                <a:srgbClr val="FFFFFF"/>
              </a:solidFill>
              <a:ln w="22860">
                <a:solidFill>
                  <a:srgbClr val="C0C1D7"/>
                </a:solidFill>
                <a:prstDash val="solid"/>
              </a:ln>
            </p:spPr>
          </p:sp>
          <p:sp>
            <p:nvSpPr>
              <p:cNvPr id="38" name="Shape 4"/>
              <p:cNvSpPr/>
              <p:nvPr/>
            </p:nvSpPr>
            <p:spPr>
              <a:xfrm>
                <a:off x="4008160" y="3964450"/>
                <a:ext cx="196183" cy="1644190"/>
              </a:xfrm>
              <a:prstGeom prst="roundRect">
                <a:avLst>
                  <a:gd name="adj" fmla="val 83023"/>
                </a:avLst>
              </a:prstGeom>
              <a:solidFill>
                <a:srgbClr val="A50034"/>
              </a:solidFill>
              <a:ln/>
            </p:spPr>
          </p:sp>
          <p:sp>
            <p:nvSpPr>
              <p:cNvPr id="39" name="Text 5"/>
              <p:cNvSpPr/>
              <p:nvPr/>
            </p:nvSpPr>
            <p:spPr>
              <a:xfrm>
                <a:off x="4641155" y="4211838"/>
                <a:ext cx="4847360" cy="34316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r>
                  <a:rPr lang="ko-KR" altLang="en-US" sz="2400" b="1" dirty="0">
                    <a:solidFill>
                      <a:srgbClr val="272525"/>
                    </a:solidFill>
                    <a:latin typeface="LG스마트체2.0 SemiBold" panose="020B0600000101010101" pitchFamily="50" charset="-127"/>
                    <a:ea typeface="LG스마트체2.0 SemiBold" panose="020B0600000101010101" pitchFamily="50" charset="-127"/>
                    <a:cs typeface="Inter Bold" pitchFamily="34" charset="-120"/>
                  </a:rPr>
                  <a:t>동기화 배리어</a:t>
                </a:r>
              </a:p>
            </p:txBody>
          </p:sp>
          <p:sp>
            <p:nvSpPr>
              <p:cNvPr id="40" name="Text 6"/>
              <p:cNvSpPr/>
              <p:nvPr/>
            </p:nvSpPr>
            <p:spPr>
              <a:xfrm>
                <a:off x="4641155" y="4729907"/>
                <a:ext cx="7729566" cy="63134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r>
                  <a:rPr lang="en-US" altLang="ko-KR" sz="2000" dirty="0">
                    <a:solidFill>
                      <a:srgbClr val="272525"/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Inter" pitchFamily="34" charset="-120"/>
                  </a:rPr>
                  <a:t>DRAWING_START </a:t>
                </a:r>
                <a:r>
                  <a:rPr lang="ko-KR" altLang="en-US" sz="2000">
                    <a:solidFill>
                      <a:srgbClr val="272525"/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Inter" pitchFamily="34" charset="-120"/>
                  </a:rPr>
                  <a:t>패킷으로 모든 클라이언트 렌더링 시점 동기화</a:t>
                </a:r>
                <a:endParaRPr lang="en-US" sz="2000" dirty="0">
                  <a:latin typeface="LG스마트체2.0 Regular" panose="020B0600000101010101" pitchFamily="50" charset="-127"/>
                  <a:ea typeface="LG스마트체2.0 Regular" panose="020B0600000101010101" pitchFamily="50" charset="-127"/>
                </a:endParaRPr>
              </a:p>
            </p:txBody>
          </p:sp>
        </p:grpSp>
      </p:grpSp>
      <p:grpSp>
        <p:nvGrpSpPr>
          <p:cNvPr id="41" name="그룹 40"/>
          <p:cNvGrpSpPr/>
          <p:nvPr/>
        </p:nvGrpSpPr>
        <p:grpSpPr>
          <a:xfrm>
            <a:off x="1078044" y="7615876"/>
            <a:ext cx="15092670" cy="963811"/>
            <a:chOff x="6567055" y="6581229"/>
            <a:chExt cx="15092670" cy="963811"/>
          </a:xfrm>
        </p:grpSpPr>
        <p:sp>
          <p:nvSpPr>
            <p:cNvPr id="42" name="Shape 5"/>
            <p:cNvSpPr/>
            <p:nvPr/>
          </p:nvSpPr>
          <p:spPr>
            <a:xfrm>
              <a:off x="6567055" y="6581229"/>
              <a:ext cx="15092670" cy="963811"/>
            </a:xfrm>
            <a:prstGeom prst="roundRect">
              <a:avLst>
                <a:gd name="adj" fmla="val 9884"/>
              </a:avLst>
            </a:prstGeom>
            <a:solidFill>
              <a:srgbClr val="B6D6FC"/>
            </a:solidFill>
            <a:ln/>
          </p:spPr>
        </p:sp>
        <p:pic>
          <p:nvPicPr>
            <p:cNvPr id="43" name="Image 1" descr="preencoded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20683" y="6937194"/>
              <a:ext cx="283488" cy="226814"/>
            </a:xfrm>
            <a:prstGeom prst="rect">
              <a:avLst/>
            </a:prstGeom>
          </p:spPr>
        </p:pic>
        <p:sp>
          <p:nvSpPr>
            <p:cNvPr id="44" name="Text 6"/>
            <p:cNvSpPr/>
            <p:nvPr/>
          </p:nvSpPr>
          <p:spPr>
            <a:xfrm>
              <a:off x="7530985" y="6876591"/>
              <a:ext cx="7320201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850"/>
                </a:lnSpc>
              </a:pPr>
              <a:r>
                <a:rPr lang="en-US" altLang="ko-KR" sz="1750" dirty="0">
                  <a:solidFill>
                    <a:srgbClr val="000000"/>
                  </a:solidFill>
                  <a:latin typeface="LG스마트체2.0 Regular" panose="020B0600000101010101" pitchFamily="50" charset="-127"/>
                  <a:ea typeface="LG스마트체2.0 Regular" panose="020B0600000101010101" pitchFamily="50" charset="-127"/>
                  <a:cs typeface="Inter" pitchFamily="34" charset="-120"/>
                </a:rPr>
                <a:t>TCP </a:t>
              </a:r>
              <a:r>
                <a:rPr lang="ko-KR" altLang="en-US" sz="1750">
                  <a:solidFill>
                    <a:srgbClr val="000000"/>
                  </a:solidFill>
                  <a:latin typeface="LG스마트체2.0 Regular" panose="020B0600000101010101" pitchFamily="50" charset="-127"/>
                  <a:ea typeface="LG스마트체2.0 Regular" panose="020B0600000101010101" pitchFamily="50" charset="-127"/>
                  <a:cs typeface="Inter" pitchFamily="34" charset="-120"/>
                </a:rPr>
                <a:t>없이도 실시간 게임 동기화 구현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14031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393700" y="1676400"/>
            <a:ext cx="6172200" cy="75819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sz="2400" dirty="0" smtClean="0"/>
              <a:t>게임 구현에 필요한 프로토콜 설계</a:t>
            </a:r>
            <a:endParaRPr lang="en-US" altLang="ko-KR" sz="2400" dirty="0" smtClean="0"/>
          </a:p>
          <a:p>
            <a:pPr lvl="1">
              <a:lnSpc>
                <a:spcPct val="150000"/>
              </a:lnSpc>
            </a:pPr>
            <a:r>
              <a:rPr lang="en-US" altLang="ko-KR" sz="2000" dirty="0" smtClean="0"/>
              <a:t>3</a:t>
            </a:r>
            <a:r>
              <a:rPr lang="ko-KR" altLang="en-US" sz="2000" smtClean="0"/>
              <a:t>대의 보드가 실시간으로 상태를 공유하기 위해 </a:t>
            </a:r>
            <a:r>
              <a:rPr lang="en-US" altLang="ko-KR" sz="2000" dirty="0" smtClean="0"/>
              <a:t>UDP </a:t>
            </a:r>
            <a:r>
              <a:rPr lang="ko-KR" altLang="en-US" sz="2000" smtClean="0"/>
              <a:t>브로드캐스트 기반의 프로토콜을 직접 설계</a:t>
            </a:r>
            <a:endParaRPr lang="en-US" altLang="ko-KR" sz="2000" dirty="0" smtClean="0"/>
          </a:p>
          <a:p>
            <a:pPr lvl="1">
              <a:lnSpc>
                <a:spcPct val="150000"/>
              </a:lnSpc>
            </a:pPr>
            <a:r>
              <a:rPr lang="ko-KR" altLang="en-US" sz="2000" dirty="0" smtClean="0"/>
              <a:t>메시지 형식은 </a:t>
            </a:r>
            <a:r>
              <a:rPr lang="en-US" altLang="ko-KR" sz="2000" dirty="0" smtClean="0"/>
              <a:t>CM|&lt;</a:t>
            </a:r>
            <a:r>
              <a:rPr lang="en-US" altLang="ko-KR" sz="2000" dirty="0" err="1" smtClean="0"/>
              <a:t>nideId</a:t>
            </a:r>
            <a:r>
              <a:rPr lang="en-US" altLang="ko-KR" sz="2000" dirty="0" smtClean="0"/>
              <a:t>&gt;|&lt;kind&gt;|&lt;value&gt; </a:t>
            </a:r>
            <a:r>
              <a:rPr lang="ko-KR" altLang="en-US" sz="2000" smtClean="0"/>
              <a:t>구조로 정의하고 이를 기반으로 </a:t>
            </a:r>
            <a:r>
              <a:rPr lang="en-US" altLang="ko-KR" sz="2000" dirty="0" smtClean="0"/>
              <a:t>30</a:t>
            </a:r>
            <a:r>
              <a:rPr lang="ko-KR" altLang="en-US" sz="2000" smtClean="0"/>
              <a:t>여 종의 메시지 타입 구현</a:t>
            </a:r>
            <a:endParaRPr lang="en-US" altLang="ko-KR" sz="2000" dirty="0" smtClean="0"/>
          </a:p>
          <a:p>
            <a:pPr lvl="1">
              <a:lnSpc>
                <a:spcPct val="150000"/>
              </a:lnSpc>
            </a:pPr>
            <a:endParaRPr lang="en-US" altLang="ko-KR" sz="2000" dirty="0" smtClean="0"/>
          </a:p>
          <a:p>
            <a:pPr>
              <a:lnSpc>
                <a:spcPct val="150000"/>
              </a:lnSpc>
            </a:pPr>
            <a:r>
              <a:rPr lang="ko-KR" altLang="en-US" sz="2400" dirty="0" smtClean="0"/>
              <a:t>메시지의 중요도에 따라 별도의 </a:t>
            </a:r>
            <a:r>
              <a:rPr lang="ko-KR" altLang="en-US" sz="2400" dirty="0" err="1" smtClean="0"/>
              <a:t>설정값</a:t>
            </a:r>
            <a:r>
              <a:rPr lang="ko-KR" altLang="en-US" sz="2400" dirty="0" smtClean="0"/>
              <a:t> 적용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 smtClean="0"/>
              <a:t>메시지 타입에 따라 재전송 횟수와 간격을 차등 적용</a:t>
            </a:r>
            <a:endParaRPr lang="en-US" altLang="ko-KR" sz="2000" dirty="0" smtClean="0"/>
          </a:p>
          <a:p>
            <a:pPr lvl="1">
              <a:lnSpc>
                <a:spcPct val="150000"/>
              </a:lnSpc>
            </a:pPr>
            <a:r>
              <a:rPr lang="ko-KR" altLang="en-US" sz="2000" dirty="0" smtClean="0"/>
              <a:t>드로잉 좌표처럼 실시간성이 중요한 메시지는 누락을 허용</a:t>
            </a:r>
            <a:endParaRPr lang="en-US" altLang="ko-KR" sz="2000" dirty="0" smtClean="0"/>
          </a:p>
          <a:p>
            <a:pPr lvl="1">
              <a:lnSpc>
                <a:spcPct val="150000"/>
              </a:lnSpc>
            </a:pPr>
            <a:r>
              <a:rPr lang="ko-KR" altLang="en-US" sz="2000" dirty="0" smtClean="0"/>
              <a:t>판정</a:t>
            </a:r>
            <a:r>
              <a:rPr lang="en-US" altLang="ko-KR" sz="2000" dirty="0" smtClean="0"/>
              <a:t>/</a:t>
            </a:r>
            <a:r>
              <a:rPr lang="ko-KR" altLang="en-US" sz="2000" smtClean="0"/>
              <a:t>역할 배정처럼 상태 전이가 걸리는 메시지는 </a:t>
            </a:r>
            <a:r>
              <a:rPr lang="en-US" altLang="ko-KR" sz="2000" dirty="0" smtClean="0"/>
              <a:t>3~5</a:t>
            </a:r>
            <a:r>
              <a:rPr lang="ko-KR" altLang="en-US" sz="2000" smtClean="0"/>
              <a:t>회 재전송</a:t>
            </a:r>
            <a:r>
              <a:rPr lang="en-US" altLang="ko-KR" dirty="0" smtClean="0"/>
              <a:t> </a:t>
            </a:r>
            <a:r>
              <a:rPr lang="ko-KR" altLang="en-US" smtClean="0"/>
              <a:t> 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6355185"/>
              </p:ext>
            </p:extLst>
          </p:nvPr>
        </p:nvGraphicFramePr>
        <p:xfrm>
          <a:off x="6737350" y="1676400"/>
          <a:ext cx="10248635" cy="7741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9727"/>
                <a:gridCol w="2049727"/>
                <a:gridCol w="2049727"/>
                <a:gridCol w="2049727"/>
                <a:gridCol w="2049727"/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 smtClean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종류</a:t>
                      </a:r>
                      <a:endParaRPr lang="en-US" sz="1800" b="1" dirty="0"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 smtClean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값</a:t>
                      </a:r>
                      <a:endParaRPr lang="en-US" sz="1800" b="1" dirty="0"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방향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재전송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설명</a:t>
                      </a:r>
                    </a:p>
                  </a:txBody>
                  <a:tcPr marL="123825" marR="123825" marT="57150" marB="57150" anchor="ctr"/>
                </a:tc>
              </a:tr>
              <a:tr h="286446">
                <a:tc>
                  <a:txBody>
                    <a:bodyPr/>
                    <a:lstStyle/>
                    <a:p>
                      <a:r>
                        <a:rPr lang="en-US" sz="110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ROLE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DRAWER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출제자 → 전체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3</a:t>
                      </a:r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회</a:t>
                      </a:r>
                      <a:r>
                        <a:rPr lang="en-US" altLang="ko-KR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/50</a:t>
                      </a:r>
                      <a:r>
                        <a:rPr 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출제자 선택 알림</a:t>
                      </a:r>
                    </a:p>
                  </a:txBody>
                  <a:tcPr marL="123825" marR="123825" marT="57150" marB="57150" anchor="ctr"/>
                </a:tc>
              </a:tr>
              <a:tr h="324511">
                <a:tc>
                  <a:txBody>
                    <a:bodyPr/>
                    <a:lstStyle/>
                    <a:p>
                      <a:r>
                        <a:rPr lang="en-US" sz="110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STATUS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CHALLENGER_JOIN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도전자 → 전체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</a:t>
                      </a:r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회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도전자 참가 및 슬롯 협상</a:t>
                      </a:r>
                    </a:p>
                  </a:txBody>
                  <a:tcPr marL="123825" marR="123825" marT="57150" marB="57150" anchor="ctr"/>
                </a:tc>
              </a:tr>
              <a:tr h="324511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STATUS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DRAWING_START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출제자 → 전체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4</a:t>
                      </a:r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회</a:t>
                      </a:r>
                      <a:r>
                        <a:rPr lang="en-US" altLang="ko-KR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/150</a:t>
                      </a:r>
                      <a:r>
                        <a:rPr 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라운드 시작 싱크 신호</a:t>
                      </a:r>
                    </a:p>
                  </a:txBody>
                  <a:tcPr marL="123825" marR="123825" marT="57150" marB="57150" anchor="ctr"/>
                </a:tc>
              </a:tr>
              <a:tr h="324511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STATUS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GAME_READY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출제자 → 전체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</a:t>
                      </a:r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회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출제자 라운드 화면 진입 완료</a:t>
                      </a:r>
                    </a:p>
                  </a:txBody>
                  <a:tcPr marL="123825" marR="123825" marT="57150" marB="57150" anchor="ctr"/>
                </a:tc>
              </a:tr>
              <a:tr h="324511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STATUS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DRAWING_ACTIVE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출제자 → 전체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</a:t>
                      </a:r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회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첫 스트로크 시작 알림</a:t>
                      </a:r>
                    </a:p>
                  </a:txBody>
                  <a:tcPr marL="123825" marR="123825" marT="57150" marB="57150" anchor="ctr"/>
                </a:tc>
              </a:tr>
              <a:tr h="324511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DRAW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nx,ny,color</a:t>
                      </a:r>
                      <a:endParaRPr lang="en-US" sz="1100" dirty="0"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출제자 → 전체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</a:t>
                      </a:r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회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드로잉 좌표 </a:t>
                      </a:r>
                      <a:r>
                        <a:rPr lang="en-US" altLang="ko-KR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(0~999 </a:t>
                      </a:r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정규화</a:t>
                      </a:r>
                      <a:r>
                        <a:rPr lang="en-US" altLang="ko-KR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</a:txBody>
                  <a:tcPr marL="123825" marR="123825" marT="57150" marB="57150" anchor="ctr"/>
                </a:tc>
              </a:tr>
              <a:tr h="286446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CLEAR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출제자 → 전체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3</a:t>
                      </a:r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회</a:t>
                      </a:r>
                      <a:r>
                        <a:rPr lang="en-US" altLang="ko-KR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/50</a:t>
                      </a:r>
                      <a:r>
                        <a:rPr 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캔버스 초기화</a:t>
                      </a:r>
                    </a:p>
                  </a:txBody>
                  <a:tcPr marL="123825" marR="123825" marT="57150" marB="57150" anchor="ctr"/>
                </a:tc>
              </a:tr>
              <a:tr h="286446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STATUS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HINT#{</a:t>
                      </a:r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카테고리</a:t>
                      </a:r>
                      <a:r>
                        <a:rPr lang="en-US" altLang="ko-KR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}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출제자 → 전체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</a:t>
                      </a:r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회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30</a:t>
                      </a:r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초 힌트</a:t>
                      </a:r>
                    </a:p>
                  </a:txBody>
                  <a:tcPr marL="123825" marR="123825" marT="57150" marB="57150" anchor="ctr"/>
                </a:tc>
              </a:tr>
              <a:tr h="324511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STATUS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JUDGING_ACTIVE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출제자 → 전체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3</a:t>
                      </a:r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회</a:t>
                      </a:r>
                      <a:r>
                        <a:rPr lang="en-US" altLang="ko-KR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/50</a:t>
                      </a:r>
                      <a:r>
                        <a:rPr 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판정 시작</a:t>
                      </a:r>
                      <a:r>
                        <a:rPr lang="en-US" altLang="ko-KR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도전자 </a:t>
                      </a:r>
                      <a:r>
                        <a:rPr lang="en-US" altLang="ko-KR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submit </a:t>
                      </a:r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잠금</a:t>
                      </a:r>
                    </a:p>
                  </a:txBody>
                  <a:tcPr marL="123825" marR="123825" marT="57150" marB="57150" anchor="ctr"/>
                </a:tc>
              </a:tr>
              <a:tr h="286446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STATUS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JUDGING_END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출제자 → 전체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3</a:t>
                      </a:r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회</a:t>
                      </a:r>
                      <a:r>
                        <a:rPr lang="en-US" altLang="ko-KR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/50</a:t>
                      </a:r>
                      <a:r>
                        <a:rPr 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판정 종료</a:t>
                      </a:r>
                      <a:r>
                        <a:rPr lang="en-US" altLang="ko-KR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잠금 해제</a:t>
                      </a:r>
                    </a:p>
                  </a:txBody>
                  <a:tcPr marL="123825" marR="123825" marT="57150" marB="57150" anchor="ctr"/>
                </a:tc>
              </a:tr>
              <a:tr h="324511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STATUS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A_CLEAR_P{N}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출제자 → 전체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3</a:t>
                      </a:r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회</a:t>
                      </a:r>
                      <a:r>
                        <a:rPr lang="en-US" altLang="ko-KR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/30</a:t>
                      </a:r>
                      <a:r>
                        <a:rPr 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P{N} </a:t>
                      </a:r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답변 패널 초기화</a:t>
                      </a:r>
                    </a:p>
                  </a:txBody>
                  <a:tcPr marL="123825" marR="123825" marT="57150" marB="57150" anchor="ctr"/>
                </a:tc>
              </a:tr>
              <a:tr h="286446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STATUS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RETRY_P{N}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출제자 → 전체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3</a:t>
                      </a:r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회</a:t>
                      </a:r>
                      <a:r>
                        <a:rPr lang="en-US" altLang="ko-KR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/30</a:t>
                      </a:r>
                      <a:r>
                        <a:rPr 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P{N} </a:t>
                      </a:r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재도전 요청</a:t>
                      </a:r>
                    </a:p>
                  </a:txBody>
                  <a:tcPr marL="123825" marR="123825" marT="57150" marB="57150" anchor="ctr"/>
                </a:tc>
              </a:tr>
              <a:tr h="456767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STATUS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CORRECT_P{N}#BOARD{B}#EARLY/LATE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출제자 → 전체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</a:t>
                      </a:r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회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정답 판정 </a:t>
                      </a:r>
                      <a:r>
                        <a:rPr lang="en-US" altLang="ko-KR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</a:t>
                      </a:r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보드번호</a:t>
                      </a:r>
                      <a:r>
                        <a:rPr lang="en-US" altLang="ko-KR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타이밍 포함</a:t>
                      </a:r>
                      <a:r>
                        <a:rPr lang="en-US" altLang="ko-KR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</a:txBody>
                  <a:tcPr marL="123825" marR="123825" marT="57150" marB="57150" anchor="ctr"/>
                </a:tc>
              </a:tr>
              <a:tr h="286446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STATUS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WRONG_ALL#{</a:t>
                      </a:r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정답</a:t>
                      </a:r>
                      <a:r>
                        <a:rPr lang="en-US" altLang="ko-KR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}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출제자 → 전체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</a:t>
                      </a:r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회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시간 초과</a:t>
                      </a:r>
                      <a:r>
                        <a:rPr lang="en-US" altLang="ko-KR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정답 공개</a:t>
                      </a:r>
                    </a:p>
                  </a:txBody>
                  <a:tcPr marL="123825" marR="123825" marT="57150" marB="57150" anchor="ctr"/>
                </a:tc>
              </a:tr>
              <a:tr h="286446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STATUS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ROUND_END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출제자 → 전체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</a:t>
                      </a:r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회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라운드 종료</a:t>
                      </a:r>
                    </a:p>
                  </a:txBody>
                  <a:tcPr marL="123825" marR="123825" marT="57150" marB="57150" anchor="ctr"/>
                </a:tc>
              </a:tr>
              <a:tr h="286446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STATUS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GAME_OVER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출제자 → 전체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</a:t>
                      </a:r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회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전체 라운드 종료</a:t>
                      </a:r>
                    </a:p>
                  </a:txBody>
                  <a:tcPr marL="123825" marR="123825" marT="57150" marB="57150" anchor="ctr"/>
                </a:tc>
              </a:tr>
              <a:tr h="286446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ANSWER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{pn}:DRAWN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도전자 → 전체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3</a:t>
                      </a:r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회</a:t>
                      </a:r>
                      <a:r>
                        <a:rPr lang="en-US" altLang="ko-KR" sz="110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/30</a:t>
                      </a:r>
                      <a:r>
                        <a:rPr lang="en-US" sz="110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답변 제출</a:t>
                      </a:r>
                    </a:p>
                  </a:txBody>
                  <a:tcPr marL="123825" marR="123825" marT="57150" marB="57150" anchor="ctr"/>
                </a:tc>
              </a:tr>
              <a:tr h="456767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A_POINT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{pn},nx,ny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도전자 → 전체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</a:t>
                      </a:r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회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답변 필기 좌표 </a:t>
                      </a:r>
                      <a:r>
                        <a:rPr lang="en-US" altLang="ko-KR" sz="110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(submit </a:t>
                      </a:r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시 일괄 전송</a:t>
                      </a:r>
                      <a:r>
                        <a:rPr lang="en-US" altLang="ko-KR" sz="110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</a:txBody>
                  <a:tcPr marL="123825" marR="123825" marT="57150" marB="57150" anchor="ctr"/>
                </a:tc>
              </a:tr>
              <a:tr h="324511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A_CLEAR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{pn}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도전자 → 전체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</a:t>
                      </a:r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회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도전자 자신의 답변 지우기</a:t>
                      </a:r>
                    </a:p>
                  </a:txBody>
                  <a:tcPr marL="123825" marR="123825" marT="57150" marB="57150" anchor="ctr"/>
                </a:tc>
              </a:tr>
              <a:tr h="286446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A_UP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{pn}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도전자 → 전체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</a:t>
                      </a:r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회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필기 </a:t>
                      </a:r>
                      <a:r>
                        <a:rPr lang="ko-KR" altLang="en-US" sz="1100" dirty="0" err="1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스트로크</a:t>
                      </a:r>
                      <a:r>
                        <a:rPr lang="ko-KR" altLang="en-US" sz="110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끝</a:t>
                      </a:r>
                    </a:p>
                  </a:txBody>
                  <a:tcPr marL="123825" marR="123825" marT="57150" marB="57150" anchor="ctr"/>
                </a:tc>
              </a:tr>
              <a:tr h="324511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FINAL_SCORE_SUBMIT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{nodeId}:{score}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각 보드 → 전체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400ms</a:t>
                      </a:r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마다 반복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최종 점수 제출</a:t>
                      </a:r>
                    </a:p>
                  </a:txBody>
                  <a:tcPr marL="123825" marR="123825" marT="57150" marB="57150" anchor="ctr"/>
                </a:tc>
              </a:tr>
              <a:tr h="324511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FINAL_SCORE_SYNC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PLAYER1:n,PLAYER2:n,...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PLAYER1 → </a:t>
                      </a:r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전체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5</a:t>
                      </a:r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회</a:t>
                      </a:r>
                      <a:r>
                        <a:rPr lang="en-US" altLang="ko-KR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/20</a:t>
                      </a:r>
                      <a:r>
                        <a:rPr 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전체 점수 스냅샷</a:t>
                      </a:r>
                    </a:p>
                  </a:txBody>
                  <a:tcPr marL="123825" marR="123825" marT="57150" marB="57150" anchor="ctr"/>
                </a:tc>
              </a:tr>
              <a:tr h="286446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FINAL_READY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각 보드 → 전체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800ms</a:t>
                      </a:r>
                      <a:r>
                        <a:rPr lang="ko-KR" altLang="en-US" sz="110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마다 반복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결과 화면 배리어</a:t>
                      </a:r>
                    </a:p>
                  </a:txBody>
                  <a:tcPr marL="123825" marR="123825" marT="57150" marB="57150"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44862" y="238662"/>
            <a:ext cx="171287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3. </a:t>
            </a:r>
            <a:r>
              <a:rPr lang="ko-KR" altLang="en-US" sz="54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핵심 기술 </a:t>
            </a:r>
            <a:r>
              <a:rPr lang="en-US" altLang="ko-KR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: </a:t>
            </a:r>
            <a:r>
              <a:rPr lang="en-US" altLang="ko-KR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UDP </a:t>
            </a:r>
            <a:r>
              <a:rPr lang="ko-KR" altLang="en-US" sz="54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기반 어플리케이션 프로토콜 설계</a:t>
            </a:r>
            <a:endParaRPr lang="ko-KR" altLang="en-US" sz="5400" b="1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46081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8940798" y="2960970"/>
            <a:ext cx="7897587" cy="296883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이벤트 </a:t>
            </a:r>
            <a:r>
              <a:rPr lang="ko-KR" altLang="en-US" dirty="0" err="1"/>
              <a:t>파싱</a:t>
            </a:r>
            <a:r>
              <a:rPr lang="ko-KR" altLang="en-US" dirty="0"/>
              <a:t> 흐름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/dev/input/event*</a:t>
            </a:r>
            <a:r>
              <a:rPr lang="ko-KR" altLang="en-US"/>
              <a:t>에서 멀티터치 이벤트 직접 파싱</a:t>
            </a:r>
          </a:p>
          <a:p>
            <a:pPr lvl="1">
              <a:lnSpc>
                <a:spcPct val="150000"/>
              </a:lnSpc>
            </a:pPr>
            <a:r>
              <a:rPr lang="ko-KR" altLang="en-US" dirty="0" err="1" smtClean="0"/>
              <a:t>파싱</a:t>
            </a:r>
            <a:r>
              <a:rPr lang="ko-KR" altLang="en-US" dirty="0" smtClean="0"/>
              <a:t> 데이터 기반 </a:t>
            </a:r>
            <a:r>
              <a:rPr lang="ko-KR" altLang="en-US" dirty="0"/>
              <a:t>좌표 추출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Raw </a:t>
            </a:r>
            <a:r>
              <a:rPr lang="ko-KR" altLang="en-US"/>
              <a:t>값 → 화면 좌표 변환 </a:t>
            </a:r>
            <a:r>
              <a:rPr lang="en-US" altLang="ko-KR" dirty="0"/>
              <a:t>(</a:t>
            </a:r>
            <a:r>
              <a:rPr lang="ko-KR" altLang="en-US"/>
              <a:t>보정 알고리즘 적용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UI </a:t>
            </a:r>
            <a:r>
              <a:rPr lang="ko-KR" altLang="en-US"/>
              <a:t>이벤트 큐로 전달하여 </a:t>
            </a:r>
            <a:r>
              <a:rPr lang="ko-KR" altLang="en-US" smtClean="0"/>
              <a:t>처리</a:t>
            </a:r>
            <a:endParaRPr lang="en-US" altLang="ko-KR" dirty="0" smtClean="0"/>
          </a:p>
          <a:p>
            <a:pPr lvl="1">
              <a:lnSpc>
                <a:spcPct val="150000"/>
              </a:lnSpc>
            </a:pPr>
            <a:r>
              <a:rPr lang="ko-KR" altLang="en-US" dirty="0" smtClean="0"/>
              <a:t>상대</a:t>
            </a:r>
            <a:r>
              <a:rPr lang="en-US" altLang="ko-KR" dirty="0" smtClean="0"/>
              <a:t> </a:t>
            </a:r>
            <a:r>
              <a:rPr lang="ko-KR" altLang="en-US" smtClean="0"/>
              <a:t>보드에</a:t>
            </a:r>
            <a:r>
              <a:rPr lang="en-US" altLang="ko-KR" dirty="0" smtClean="0"/>
              <a:t> </a:t>
            </a:r>
            <a:r>
              <a:rPr lang="ko-KR" altLang="en-US" smtClean="0"/>
              <a:t>출력</a:t>
            </a:r>
            <a:r>
              <a:rPr lang="en-US" altLang="ko-KR" dirty="0" smtClean="0"/>
              <a:t> 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244862" y="238662"/>
            <a:ext cx="163286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3. </a:t>
            </a:r>
            <a:r>
              <a:rPr lang="ko-KR" altLang="en-US" sz="54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핵심 기술 </a:t>
            </a:r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: Linux Input Subsystem </a:t>
            </a:r>
            <a:r>
              <a:rPr lang="ko-KR" altLang="en-US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기반 터치 </a:t>
            </a:r>
            <a:r>
              <a:rPr lang="ko-KR" altLang="en-US" sz="54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처리</a:t>
            </a:r>
            <a:endParaRPr lang="ko-KR" altLang="en-US" sz="5400" b="1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 rotWithShape="1">
          <a:blip r:embed="rId2"/>
          <a:srcRect t="23441" b="27452"/>
          <a:stretch/>
        </p:blipFill>
        <p:spPr>
          <a:xfrm>
            <a:off x="775646" y="2875204"/>
            <a:ext cx="8281267" cy="406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947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6475021" y="2700715"/>
            <a:ext cx="10708079" cy="296883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인터럽트 처리 구조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/dev/gpiochip0 + GPIO_GET_LINEEVENT_IOCTL</a:t>
            </a:r>
            <a:r>
              <a:rPr lang="ko-KR" altLang="en-US"/>
              <a:t>로 커널 이벤트 등록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하강 에지</a:t>
            </a:r>
            <a:r>
              <a:rPr lang="en-US" altLang="ko-KR" dirty="0"/>
              <a:t>(Falling Edge) </a:t>
            </a:r>
            <a:r>
              <a:rPr lang="ko-KR" altLang="en-US"/>
              <a:t>인터럽트 기반 버튼 이벤트 감지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poll()</a:t>
            </a:r>
            <a:r>
              <a:rPr lang="ko-KR" altLang="en-US"/>
              <a:t>로 이벤트 대기</a:t>
            </a:r>
            <a:r>
              <a:rPr lang="en-US" altLang="ko-KR" dirty="0"/>
              <a:t>, </a:t>
            </a:r>
            <a:r>
              <a:rPr lang="ko-KR" altLang="en-US"/>
              <a:t>별도 스레드에서 처리</a:t>
            </a:r>
          </a:p>
          <a:p>
            <a:pPr lvl="1">
              <a:lnSpc>
                <a:spcPct val="150000"/>
              </a:lnSpc>
            </a:pPr>
            <a:r>
              <a:rPr lang="en-US" altLang="ko-KR" dirty="0" err="1"/>
              <a:t>std</a:t>
            </a:r>
            <a:r>
              <a:rPr lang="en-US" altLang="ko-KR" dirty="0"/>
              <a:t>::atomic</a:t>
            </a:r>
            <a:r>
              <a:rPr lang="ko-KR" altLang="en-US"/>
              <a:t>으로 스레드 간 안전한 상태 공유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4862" y="238662"/>
            <a:ext cx="165699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3. </a:t>
            </a:r>
            <a:r>
              <a:rPr lang="ko-KR" altLang="en-US" sz="54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핵심 기술 </a:t>
            </a:r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: GPIO </a:t>
            </a:r>
            <a:r>
              <a:rPr lang="ko-KR" altLang="en-US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인터럽트 기반 물리 </a:t>
            </a:r>
            <a:r>
              <a:rPr lang="ko-KR" altLang="en-US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입력 </a:t>
            </a:r>
            <a:r>
              <a:rPr lang="ko-KR" altLang="en-US" sz="54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처리</a:t>
            </a:r>
            <a:endParaRPr lang="ko-KR" altLang="en-US" sz="5400" b="1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584" y="3351829"/>
            <a:ext cx="4206605" cy="4206605"/>
          </a:xfrm>
          <a:prstGeom prst="rect">
            <a:avLst/>
          </a:prstGeom>
        </p:spPr>
      </p:pic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815636"/>
              </p:ext>
            </p:extLst>
          </p:nvPr>
        </p:nvGraphicFramePr>
        <p:xfrm>
          <a:off x="6925301" y="6351020"/>
          <a:ext cx="6589172" cy="1714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7293"/>
                <a:gridCol w="1647293"/>
                <a:gridCol w="1647293"/>
                <a:gridCol w="1647293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버튼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GPIO line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출제자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도전자</a:t>
                      </a:r>
                    </a:p>
                  </a:txBody>
                  <a:tcPr marL="123825" marR="123825" marT="57150" marB="5715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SW2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17</a:t>
                      </a:r>
                      <a:endParaRPr lang="en-US" dirty="0"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OK (</a:t>
                      </a:r>
                      <a:r>
                        <a:rPr lang="ko-KR" altLang="en-US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정답</a:t>
                      </a:r>
                      <a:r>
                        <a:rPr lang="en-US" altLang="ko-KR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CLEAR (</a:t>
                      </a:r>
                      <a:r>
                        <a:rPr lang="ko-KR" altLang="en-US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지우기</a:t>
                      </a:r>
                      <a:r>
                        <a:rPr lang="en-US" altLang="ko-KR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</a:txBody>
                  <a:tcPr marL="123825" marR="123825" marT="57150" marB="5715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SW3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18</a:t>
                      </a:r>
                      <a:endParaRPr lang="en-US" dirty="0"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NG (</a:t>
                      </a:r>
                      <a:r>
                        <a:rPr lang="ko-KR" altLang="en-US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오답</a:t>
                      </a:r>
                      <a:r>
                        <a:rPr lang="en-US" altLang="ko-KR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SUBMIT </a:t>
                      </a:r>
                      <a:r>
                        <a:rPr lang="en-US" dirty="0" smtClean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/>
                      </a:r>
                      <a:br>
                        <a:rPr lang="en-US" dirty="0" smtClean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</a:br>
                      <a:r>
                        <a:rPr lang="en-US" dirty="0" smtClean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</a:t>
                      </a:r>
                      <a:r>
                        <a:rPr lang="ko-KR" altLang="en-US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제출</a:t>
                      </a:r>
                      <a:r>
                        <a:rPr lang="en-US" altLang="ko-KR" dirty="0"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</a:txBody>
                  <a:tcPr marL="123825" marR="123825" marT="57150" marB="5715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6964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최신 </a:t>
            </a:r>
            <a:r>
              <a:rPr lang="ko-KR" altLang="en-US" dirty="0" err="1" smtClean="0"/>
              <a:t>리눅스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커널</a:t>
            </a:r>
            <a:r>
              <a:rPr lang="ko-KR" altLang="en-US" dirty="0" smtClean="0"/>
              <a:t> </a:t>
            </a:r>
            <a:r>
              <a:rPr lang="ko-KR" altLang="en-US" dirty="0" err="1"/>
              <a:t>포팅</a:t>
            </a:r>
            <a:r>
              <a:rPr lang="ko-KR" altLang="en-US" dirty="0"/>
              <a:t> </a:t>
            </a:r>
            <a:r>
              <a:rPr lang="en-US" altLang="ko-KR" dirty="0" smtClean="0"/>
              <a:t>6.12.81</a:t>
            </a:r>
          </a:p>
          <a:p>
            <a:r>
              <a:rPr lang="ko-KR" altLang="en-US" dirty="0" smtClean="0"/>
              <a:t>오디오 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RFS </a:t>
            </a:r>
          </a:p>
          <a:p>
            <a:r>
              <a:rPr lang="ko-KR" altLang="en-US" dirty="0" smtClean="0"/>
              <a:t>모든 보드 동시에 실행</a:t>
            </a:r>
            <a:endParaRPr lang="en-US" altLang="ko-KR" dirty="0" smtClean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44862" y="238662"/>
            <a:ext cx="165699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3. </a:t>
            </a:r>
            <a:r>
              <a:rPr lang="ko-KR" altLang="en-US" sz="54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핵심 기술 </a:t>
            </a:r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: </a:t>
            </a:r>
            <a:r>
              <a:rPr lang="ko-KR" altLang="en-US" sz="54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최신 리눅스 커널 포팅</a:t>
            </a:r>
            <a:endParaRPr lang="ko-KR" altLang="en-US" sz="5400" b="1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256649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393700" y="1676400"/>
            <a:ext cx="7543800" cy="3606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sz="2400" dirty="0" smtClean="0"/>
              <a:t>비트맵 폰트 직접 제작</a:t>
            </a:r>
            <a:endParaRPr lang="en-US" altLang="ko-KR" sz="2400" dirty="0" smtClean="0"/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A-Z, 0-9, </a:t>
            </a:r>
            <a:r>
              <a:rPr lang="ko-KR" altLang="en-US" sz="2000"/>
              <a:t>기호</a:t>
            </a:r>
            <a:r>
              <a:rPr lang="en-US" altLang="ko-KR" sz="2000" dirty="0"/>
              <a:t>(. : - / ! </a:t>
            </a:r>
            <a:r>
              <a:rPr lang="ko-KR" altLang="en-US" sz="2000"/>
              <a:t>등</a:t>
            </a:r>
            <a:r>
              <a:rPr lang="en-US" altLang="ko-KR" sz="2000" dirty="0"/>
              <a:t>)</a:t>
            </a:r>
            <a:r>
              <a:rPr lang="ko-KR" altLang="en-US" sz="2000"/>
              <a:t>를 </a:t>
            </a:r>
            <a:r>
              <a:rPr lang="en-US" altLang="ko-KR" sz="2000" dirty="0"/>
              <a:t>5×7 </a:t>
            </a:r>
            <a:r>
              <a:rPr lang="ko-KR" altLang="en-US" sz="2000"/>
              <a:t>비트맵 패턴으로 </a:t>
            </a:r>
            <a:r>
              <a:rPr lang="en-US" altLang="ko-KR" sz="2000" dirty="0"/>
              <a:t>display.cpp</a:t>
            </a:r>
            <a:r>
              <a:rPr lang="ko-KR" altLang="en-US" sz="2000"/>
              <a:t>에 </a:t>
            </a:r>
            <a:r>
              <a:rPr lang="ko-KR" altLang="en-US" sz="2000"/>
              <a:t>하드코딩 </a:t>
            </a:r>
            <a:endParaRPr lang="en-US" altLang="ko-KR" sz="2000" dirty="0" smtClean="0"/>
          </a:p>
          <a:p>
            <a:pPr lvl="1">
              <a:lnSpc>
                <a:spcPct val="150000"/>
              </a:lnSpc>
            </a:pPr>
            <a:r>
              <a:rPr lang="en-US" altLang="ko-KR" sz="2000" dirty="0" smtClean="0"/>
              <a:t>scale </a:t>
            </a:r>
            <a:r>
              <a:rPr lang="ko-KR" altLang="en-US" sz="2000"/>
              <a:t>파라미터로 정수 배율 확대 지원 </a:t>
            </a:r>
            <a:r>
              <a:rPr lang="en-US" altLang="ko-KR" sz="2000" dirty="0"/>
              <a:t>(UI</a:t>
            </a:r>
            <a:r>
              <a:rPr lang="ko-KR" altLang="en-US" sz="2000"/>
              <a:t>에서 </a:t>
            </a:r>
            <a:r>
              <a:rPr lang="en-US" altLang="ko-KR" sz="2000" dirty="0"/>
              <a:t>1×~4× </a:t>
            </a:r>
            <a:r>
              <a:rPr lang="ko-KR" altLang="en-US" sz="2000"/>
              <a:t>혼용</a:t>
            </a:r>
            <a:r>
              <a:rPr lang="en-US" altLang="ko-KR" sz="2000" dirty="0"/>
              <a:t>) </a:t>
            </a:r>
            <a:endParaRPr lang="en-US" altLang="ko-KR" sz="2000" dirty="0" smtClean="0"/>
          </a:p>
          <a:p>
            <a:pPr lvl="1">
              <a:lnSpc>
                <a:spcPct val="150000"/>
              </a:lnSpc>
            </a:pPr>
            <a:r>
              <a:rPr lang="ko-KR" altLang="en-US" sz="2000" dirty="0" smtClean="0"/>
              <a:t>모든 </a:t>
            </a:r>
            <a:r>
              <a:rPr lang="en-US" altLang="ko-KR" sz="2000" dirty="0"/>
              <a:t>UI </a:t>
            </a:r>
            <a:r>
              <a:rPr lang="ko-KR" altLang="en-US" sz="2000"/>
              <a:t>레이블은 </a:t>
            </a:r>
            <a:r>
              <a:rPr lang="en-US" altLang="ko-KR" sz="2000" dirty="0"/>
              <a:t>ASCII</a:t>
            </a:r>
            <a:r>
              <a:rPr lang="ko-KR" altLang="en-US" sz="2000"/>
              <a:t>로 통일해 폰트 복잡도 </a:t>
            </a:r>
            <a:r>
              <a:rPr lang="ko-KR" altLang="en-US" sz="2000"/>
              <a:t>최소화 </a:t>
            </a:r>
            <a:endParaRPr lang="en-US" altLang="ko-KR" sz="2000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8" t="36092" r="53906" b="22892"/>
          <a:stretch/>
        </p:blipFill>
        <p:spPr>
          <a:xfrm>
            <a:off x="1016000" y="4775200"/>
            <a:ext cx="6299200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4862" y="238662"/>
            <a:ext cx="165699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3. </a:t>
            </a:r>
            <a:r>
              <a:rPr lang="ko-KR" altLang="en-US" sz="54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핵심 기술 </a:t>
            </a:r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: </a:t>
            </a:r>
            <a:r>
              <a:rPr lang="ko-KR" altLang="en-US" sz="54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라이브러리 독립 구현</a:t>
            </a:r>
            <a:endParaRPr lang="ko-KR" altLang="en-US" sz="5400" b="1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37" t="22422" r="2865" b="56614"/>
          <a:stretch/>
        </p:blipFill>
        <p:spPr>
          <a:xfrm>
            <a:off x="8529831" y="5353050"/>
            <a:ext cx="8009756" cy="2298700"/>
          </a:xfrm>
          <a:prstGeom prst="rect">
            <a:avLst/>
          </a:prstGeom>
        </p:spPr>
      </p:pic>
      <p:sp>
        <p:nvSpPr>
          <p:cNvPr id="6" name="텍스트 개체 틀 1"/>
          <p:cNvSpPr txBox="1">
            <a:spLocks/>
          </p:cNvSpPr>
          <p:nvPr/>
        </p:nvSpPr>
        <p:spPr>
          <a:xfrm>
            <a:off x="9086850" y="1676400"/>
            <a:ext cx="7727950" cy="22733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2400" dirty="0" smtClean="0"/>
              <a:t>PPM </a:t>
            </a:r>
            <a:r>
              <a:rPr lang="ko-KR" altLang="en-US" sz="2400" smtClean="0"/>
              <a:t>이미지 포맷 직접 파싱</a:t>
            </a:r>
            <a:endParaRPr lang="en-US" altLang="ko-KR" sz="2400" dirty="0" smtClean="0"/>
          </a:p>
          <a:p>
            <a:pPr lvl="1">
              <a:lnSpc>
                <a:spcPct val="150000"/>
              </a:lnSpc>
            </a:pPr>
            <a:r>
              <a:rPr lang="ko-KR" altLang="en-US" sz="2000" dirty="0" smtClean="0"/>
              <a:t>보드에 </a:t>
            </a:r>
            <a:r>
              <a:rPr lang="en-US" altLang="ko-KR" sz="2000" dirty="0" err="1" smtClean="0"/>
              <a:t>libpng</a:t>
            </a:r>
            <a:r>
              <a:rPr lang="ko-KR" altLang="en-US" sz="2000" smtClean="0"/>
              <a:t>가 없어 </a:t>
            </a:r>
            <a:r>
              <a:rPr lang="en-US" altLang="ko-KR" sz="2000" dirty="0" smtClean="0"/>
              <a:t>PNG</a:t>
            </a:r>
            <a:r>
              <a:rPr lang="ko-KR" altLang="en-US" sz="2000"/>
              <a:t>를 직접 디코딩할 </a:t>
            </a:r>
            <a:r>
              <a:rPr lang="ko-KR" altLang="en-US" sz="2000"/>
              <a:t>수 </a:t>
            </a:r>
            <a:r>
              <a:rPr lang="ko-KR" altLang="en-US" sz="2000" smtClean="0"/>
              <a:t>없음</a:t>
            </a:r>
            <a:endParaRPr lang="en-US" altLang="ko-KR" sz="2000" dirty="0" smtClean="0"/>
          </a:p>
          <a:p>
            <a:pPr lvl="1">
              <a:lnSpc>
                <a:spcPct val="150000"/>
              </a:lnSpc>
            </a:pPr>
            <a:r>
              <a:rPr lang="ko-KR" altLang="en-US" sz="2000" dirty="0" smtClean="0"/>
              <a:t>원본 </a:t>
            </a:r>
            <a:r>
              <a:rPr lang="ko-KR" altLang="en-US" sz="2000" dirty="0"/>
              <a:t>이미지는 </a:t>
            </a:r>
            <a:r>
              <a:rPr lang="en-US" altLang="ko-KR" sz="2000" dirty="0"/>
              <a:t>PNG</a:t>
            </a:r>
            <a:r>
              <a:rPr lang="ko-KR" altLang="en-US" sz="2000"/>
              <a:t>로 관리하고</a:t>
            </a:r>
            <a:r>
              <a:rPr lang="en-US" altLang="ko-KR" sz="2000" dirty="0"/>
              <a:t>, </a:t>
            </a:r>
            <a:r>
              <a:rPr lang="ko-KR" altLang="en-US" sz="2000"/>
              <a:t>배포 시 </a:t>
            </a:r>
            <a:r>
              <a:rPr lang="en-US" altLang="ko-KR" sz="2000" dirty="0"/>
              <a:t>deploy.sh</a:t>
            </a:r>
            <a:r>
              <a:rPr lang="ko-KR" altLang="en-US" sz="2000"/>
              <a:t>가 </a:t>
            </a:r>
            <a:r>
              <a:rPr lang="ko-KR" altLang="en-US" sz="2000" smtClean="0"/>
              <a:t>자동으로 </a:t>
            </a:r>
            <a:r>
              <a:rPr lang="en-US" altLang="ko-KR" sz="2000" dirty="0"/>
              <a:t>PPM</a:t>
            </a:r>
            <a:r>
              <a:rPr lang="ko-KR" altLang="en-US" sz="2000"/>
              <a:t>으로 변환 후 </a:t>
            </a:r>
            <a:r>
              <a:rPr lang="en-US" altLang="ko-KR" sz="2000" dirty="0"/>
              <a:t>NFS</a:t>
            </a:r>
            <a:r>
              <a:rPr lang="ko-KR" altLang="en-US" sz="2000"/>
              <a:t>에 </a:t>
            </a:r>
            <a:r>
              <a:rPr lang="ko-KR" altLang="en-US" sz="2000"/>
              <a:t>배포 </a:t>
            </a:r>
            <a:endParaRPr lang="en-US" altLang="ko-KR" sz="2000" dirty="0" smtClean="0"/>
          </a:p>
          <a:p>
            <a:pPr lvl="1">
              <a:lnSpc>
                <a:spcPct val="150000"/>
              </a:lnSpc>
            </a:pPr>
            <a:r>
              <a:rPr lang="ko-KR" altLang="en-US" sz="2000" dirty="0" smtClean="0"/>
              <a:t>로딩 </a:t>
            </a:r>
            <a:r>
              <a:rPr lang="ko-KR" altLang="en-US" sz="2000" dirty="0"/>
              <a:t>시 보드 </a:t>
            </a:r>
            <a:r>
              <a:rPr lang="en-US" altLang="ko-KR" sz="2000" dirty="0" err="1"/>
              <a:t>bpp</a:t>
            </a:r>
            <a:r>
              <a:rPr lang="en-US" altLang="ko-KR" sz="2000" dirty="0"/>
              <a:t>(16/32)</a:t>
            </a:r>
            <a:r>
              <a:rPr lang="ko-KR" altLang="en-US" sz="2000"/>
              <a:t>에 맞게 </a:t>
            </a:r>
            <a:r>
              <a:rPr lang="en-US" altLang="ko-KR" sz="2000" dirty="0"/>
              <a:t>RGB → RGB565 </a:t>
            </a:r>
            <a:r>
              <a:rPr lang="ko-KR" altLang="en-US" sz="2000"/>
              <a:t>또는 </a:t>
            </a:r>
            <a:r>
              <a:rPr lang="en-US" altLang="ko-KR" sz="2000" dirty="0"/>
              <a:t>ARGB8888</a:t>
            </a:r>
            <a:r>
              <a:rPr lang="ko-KR" altLang="en-US" sz="2000"/>
              <a:t>로 변환 후 프레임버퍼에 직접 기록</a:t>
            </a:r>
            <a:endParaRPr lang="en-US" altLang="ko-KR" sz="2000" dirty="0" smtClean="0"/>
          </a:p>
        </p:txBody>
      </p:sp>
    </p:spTree>
    <p:extLst>
      <p:ext uri="{BB962C8B-B14F-4D97-AF65-F5344CB8AC3E}">
        <p14:creationId xmlns:p14="http://schemas.microsoft.com/office/powerpoint/2010/main" val="2462400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3. </a:t>
            </a:r>
            <a:r>
              <a:rPr lang="ko-KR" altLang="en-US" sz="54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핵심 기술 </a:t>
            </a:r>
            <a:r>
              <a:rPr lang="en-US" altLang="ko-KR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: </a:t>
            </a:r>
            <a:r>
              <a:rPr lang="ko-KR" altLang="en-US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시스템 </a:t>
            </a:r>
            <a:r>
              <a:rPr lang="ko-KR" altLang="en-US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통합 </a:t>
            </a:r>
            <a:r>
              <a:rPr lang="ko-KR" altLang="en-US" sz="54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아키텍처</a:t>
            </a:r>
            <a:endParaRPr lang="ko-KR" altLang="en-US" sz="5400" b="1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24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9867901" y="2527300"/>
            <a:ext cx="7086600" cy="532129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설계 원칙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모든 계층이 외부 라이브러리 없이 직접 구현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각 계층이 독립 </a:t>
            </a:r>
            <a:r>
              <a:rPr lang="ko-KR" altLang="en-US" sz="2000" dirty="0" err="1"/>
              <a:t>스레드로</a:t>
            </a:r>
            <a:r>
              <a:rPr lang="ko-KR" altLang="en-US" sz="2000" dirty="0"/>
              <a:t> 동작하며 이벤트 큐로 연결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 err="1" smtClean="0"/>
              <a:t>저사양</a:t>
            </a:r>
            <a:r>
              <a:rPr lang="en-US" altLang="ko-KR" sz="2000" dirty="0" smtClean="0"/>
              <a:t> </a:t>
            </a:r>
            <a:r>
              <a:rPr lang="ko-KR" altLang="en-US" sz="2000"/>
              <a:t>환경에서 메모리</a:t>
            </a:r>
            <a:r>
              <a:rPr lang="en-US" altLang="ko-KR" sz="2000" dirty="0"/>
              <a:t>·CPU </a:t>
            </a:r>
            <a:r>
              <a:rPr lang="ko-KR" altLang="en-US" sz="2000"/>
              <a:t>오버헤드 </a:t>
            </a:r>
            <a:r>
              <a:rPr lang="ko-KR" altLang="en-US" sz="2000" smtClean="0"/>
              <a:t>최소화</a:t>
            </a:r>
            <a:r>
              <a:rPr lang="en-US" altLang="ko-KR" sz="2000" dirty="0" smtClean="0"/>
              <a:t/>
            </a:r>
            <a:br>
              <a:rPr lang="en-US" altLang="ko-KR" sz="2000" dirty="0" smtClean="0"/>
            </a:br>
            <a:endParaRPr lang="en-US" altLang="ko-KR" sz="2000" dirty="0" smtClean="0"/>
          </a:p>
          <a:p>
            <a:pPr>
              <a:lnSpc>
                <a:spcPct val="150000"/>
              </a:lnSpc>
            </a:pPr>
            <a:r>
              <a:rPr lang="ko-KR" altLang="en-US" sz="2400" dirty="0"/>
              <a:t>주요 기술 </a:t>
            </a:r>
            <a:r>
              <a:rPr lang="ko-KR" altLang="en-US" sz="2400" dirty="0" err="1"/>
              <a:t>스택</a:t>
            </a:r>
            <a:endParaRPr lang="ko-KR" altLang="en-US" sz="2400" dirty="0"/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/dev/fb0, </a:t>
            </a:r>
            <a:r>
              <a:rPr lang="en-US" altLang="ko-KR" sz="2000" dirty="0" err="1"/>
              <a:t>mmap</a:t>
            </a:r>
            <a:r>
              <a:rPr lang="en-US" altLang="ko-KR" sz="2000" dirty="0"/>
              <a:t>, select, poll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/dev/input/event*, /dev/gpiochip0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pthread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std</a:t>
            </a:r>
            <a:r>
              <a:rPr lang="en-US" altLang="ko-KR" sz="2000" dirty="0"/>
              <a:t>::thread, </a:t>
            </a:r>
            <a:r>
              <a:rPr lang="en-US" altLang="ko-KR" sz="2000" dirty="0" err="1"/>
              <a:t>std</a:t>
            </a:r>
            <a:r>
              <a:rPr lang="en-US" altLang="ko-KR" sz="2000" dirty="0"/>
              <a:t>::atomic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UDP </a:t>
            </a:r>
            <a:r>
              <a:rPr lang="ko-KR" altLang="en-US" sz="2000"/>
              <a:t>브로드캐스트 </a:t>
            </a:r>
            <a:r>
              <a:rPr lang="en-US" altLang="ko-KR" sz="2000" dirty="0"/>
              <a:t>+ </a:t>
            </a:r>
            <a:r>
              <a:rPr lang="ko-KR" altLang="en-US" sz="2000" smtClean="0"/>
              <a:t>동기화</a:t>
            </a:r>
            <a:endParaRPr lang="ko-KR" altLang="en-US" sz="200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718" y="2361964"/>
            <a:ext cx="9321183" cy="576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143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393700" y="1676400"/>
            <a:ext cx="7353300" cy="4102100"/>
          </a:xfrm>
        </p:spPr>
        <p:txBody>
          <a:bodyPr/>
          <a:lstStyle/>
          <a:p>
            <a:r>
              <a:rPr lang="ko-KR" altLang="en-US" dirty="0" smtClean="0"/>
              <a:t>네트워크 성능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그래픽 성능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4. </a:t>
            </a:r>
            <a:r>
              <a:rPr lang="ko-KR" altLang="en-US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결과 분석 및 기대 효과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8872721" y="-68440"/>
            <a:ext cx="8310380" cy="153753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Tx/>
              <a:buChar char="-"/>
            </a:pPr>
            <a:r>
              <a:rPr lang="ko-KR" altLang="en-US" sz="2400" b="1" dirty="0">
                <a:solidFill>
                  <a:schemeClr val="tx1"/>
                </a:solidFill>
              </a:rPr>
              <a:t>결과물에 대한 성능측정 또는 목표달성 여부 등 평가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2400" b="1" dirty="0">
                <a:solidFill>
                  <a:schemeClr val="tx1"/>
                </a:solidFill>
              </a:rPr>
              <a:t>성능이 낮을 경우 원인 분석 및 개선책 검토 기록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2400" b="1" dirty="0">
                <a:solidFill>
                  <a:schemeClr val="tx1"/>
                </a:solidFill>
              </a:rPr>
              <a:t>성능이 만족했을 경우 향후 활용 가능한 기대효과 기록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2400" b="1" dirty="0">
                <a:solidFill>
                  <a:schemeClr val="tx1"/>
                </a:solidFill>
              </a:rPr>
              <a:t>가급적 </a:t>
            </a:r>
            <a:r>
              <a:rPr lang="en-US" altLang="ko-KR" sz="2400" b="1" dirty="0">
                <a:solidFill>
                  <a:schemeClr val="tx1"/>
                </a:solidFill>
              </a:rPr>
              <a:t>1 </a:t>
            </a:r>
            <a:r>
              <a:rPr lang="ko-KR" altLang="en-US" sz="2400" b="1" dirty="0">
                <a:solidFill>
                  <a:schemeClr val="tx1"/>
                </a:solidFill>
              </a:rPr>
              <a:t>페이지로 정리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395477"/>
              </p:ext>
            </p:extLst>
          </p:nvPr>
        </p:nvGraphicFramePr>
        <p:xfrm>
          <a:off x="531169" y="2430780"/>
          <a:ext cx="9363288" cy="201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822"/>
                <a:gridCol w="2340822"/>
                <a:gridCol w="2340822"/>
                <a:gridCol w="2340822"/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측정</a:t>
                      </a:r>
                      <a:r>
                        <a:rPr lang="en-US" altLang="ko-KR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lang="ko-KR" altLang="en-US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설계 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결과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평가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ko-KR" altLang="en-US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평균 지연 시간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약 </a:t>
                      </a:r>
                      <a:r>
                        <a:rPr lang="en-US" altLang="ko-KR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50 ~ 100</a:t>
                      </a:r>
                      <a:r>
                        <a:rPr lang="en-US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실시간 드로잉 자연스러움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✔ 실시간 게임 기준 적합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패킷 전달 신뢰성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재전송 </a:t>
                      </a:r>
                      <a:r>
                        <a:rPr lang="en-US" altLang="ko-KR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3~5</a:t>
                      </a:r>
                      <a:r>
                        <a:rPr lang="ko-KR" altLang="en-US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상태 메시지 거의 </a:t>
                      </a:r>
                      <a:r>
                        <a:rPr lang="en-US" altLang="ko-KR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100% </a:t>
                      </a:r>
                      <a:r>
                        <a:rPr lang="ko-KR" altLang="en-US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전달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✔ 동기화 안정적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ko-KR" altLang="en-US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드로잉 </a:t>
                      </a:r>
                      <a:r>
                        <a:rPr lang="ko-KR" altLang="en-US" dirty="0" err="1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패킷</a:t>
                      </a:r>
                      <a:endParaRPr lang="ko-KR" altLang="en-US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단발 전송 </a:t>
                      </a:r>
                      <a:r>
                        <a:rPr lang="en-US" altLang="ko-KR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</a:t>
                      </a:r>
                      <a:r>
                        <a:rPr lang="ko-KR" altLang="en-US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손실 허용</a:t>
                      </a:r>
                      <a:r>
                        <a:rPr lang="en-US" altLang="ko-KR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일부 점 손실 발생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✔ UX </a:t>
                      </a:r>
                      <a:r>
                        <a:rPr lang="ko-KR" altLang="en-US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영향 미미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886146"/>
              </p:ext>
            </p:extLst>
          </p:nvPr>
        </p:nvGraphicFramePr>
        <p:xfrm>
          <a:off x="10631297" y="2430780"/>
          <a:ext cx="5852055" cy="485769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50685"/>
                <a:gridCol w="1950685"/>
                <a:gridCol w="1950685"/>
              </a:tblGrid>
              <a:tr h="545556">
                <a:tc>
                  <a:txBody>
                    <a:bodyPr/>
                    <a:lstStyle/>
                    <a:p>
                      <a:r>
                        <a:rPr lang="ko-KR" altLang="en-US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목표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달성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비고</a:t>
                      </a:r>
                    </a:p>
                  </a:txBody>
                  <a:tcPr anchor="ctr"/>
                </a:tc>
              </a:tr>
              <a:tr h="941645">
                <a:tc>
                  <a:txBody>
                    <a:bodyPr/>
                    <a:lstStyle/>
                    <a:p>
                      <a:r>
                        <a:rPr lang="ko-KR" altLang="en-US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실시간 멀티플레이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 smtClean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✔</a:t>
                      </a:r>
                      <a:endParaRPr lang="ko-KR" altLang="en-US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100ms </a:t>
                      </a:r>
                      <a:r>
                        <a:rPr lang="ko-KR" altLang="en-US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이하 지연</a:t>
                      </a:r>
                    </a:p>
                  </a:txBody>
                  <a:tcPr anchor="ctr"/>
                </a:tc>
              </a:tr>
              <a:tr h="941645">
                <a:tc>
                  <a:txBody>
                    <a:bodyPr/>
                    <a:lstStyle/>
                    <a:p>
                      <a:r>
                        <a:rPr lang="ko-KR" altLang="en-US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안정적 동기화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상태</a:t>
                      </a:r>
                      <a:r>
                        <a:rPr lang="en-US" altLang="ko-KR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lang="ko-KR" altLang="en-US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점수 완전 일치</a:t>
                      </a:r>
                    </a:p>
                  </a:txBody>
                  <a:tcPr anchor="ctr"/>
                </a:tc>
              </a:tr>
              <a:tr h="545556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깜빡임 없는 </a:t>
                      </a:r>
                      <a:r>
                        <a:rPr lang="en-US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UI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더블 버퍼링 적용</a:t>
                      </a:r>
                    </a:p>
                  </a:txBody>
                  <a:tcPr anchor="ctr"/>
                </a:tc>
              </a:tr>
              <a:tr h="941645">
                <a:tc>
                  <a:txBody>
                    <a:bodyPr/>
                    <a:lstStyle/>
                    <a:p>
                      <a:r>
                        <a:rPr lang="ko-KR" altLang="en-US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충돌 없는 판정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동시 입력 문제 해결</a:t>
                      </a:r>
                    </a:p>
                  </a:txBody>
                  <a:tcPr anchor="ctr"/>
                </a:tc>
              </a:tr>
              <a:tr h="941645">
                <a:tc>
                  <a:txBody>
                    <a:bodyPr/>
                    <a:lstStyle/>
                    <a:p>
                      <a:r>
                        <a:rPr lang="ko-KR" altLang="en-US" dirty="0" err="1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확장성</a:t>
                      </a:r>
                      <a:endParaRPr lang="ko-KR" altLang="en-US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UDP </a:t>
                      </a:r>
                      <a:r>
                        <a:rPr lang="ko-KR" altLang="en-US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기반 구조 한계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텍스트 개체 틀 1"/>
          <p:cNvSpPr txBox="1">
            <a:spLocks/>
          </p:cNvSpPr>
          <p:nvPr/>
        </p:nvSpPr>
        <p:spPr>
          <a:xfrm>
            <a:off x="10821797" y="1676401"/>
            <a:ext cx="5852055" cy="75438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최종 목표 달성 평가</a:t>
            </a:r>
            <a:endParaRPr lang="en-US" altLang="ko-KR" dirty="0" smtClean="0"/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1972914"/>
              </p:ext>
            </p:extLst>
          </p:nvPr>
        </p:nvGraphicFramePr>
        <p:xfrm>
          <a:off x="531169" y="5570220"/>
          <a:ext cx="9363288" cy="174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822"/>
                <a:gridCol w="2340822"/>
                <a:gridCol w="2340822"/>
                <a:gridCol w="2340822"/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방식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결과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평가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ko-KR" altLang="en-US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화면 출력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더블 </a:t>
                      </a:r>
                      <a:r>
                        <a:rPr lang="ko-KR" altLang="en-US" dirty="0" err="1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버퍼링</a:t>
                      </a:r>
                      <a:r>
                        <a:rPr lang="ko-KR" altLang="en-US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en-US" altLang="ko-KR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</a:t>
                      </a:r>
                      <a:r>
                        <a:rPr lang="en-US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HW/SW)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깜빡임 없음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✔ 완전 개선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렌더링 방식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mmap</a:t>
                      </a:r>
                      <a:r>
                        <a:rPr lang="en-US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+ </a:t>
                      </a:r>
                      <a:r>
                        <a:rPr lang="ko-KR" altLang="en-US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직접 드로잉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중간 프레임 노출 없음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✔ 안정적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화면 전환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 smtClean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버퍼 </a:t>
                      </a:r>
                      <a:r>
                        <a:rPr lang="ko-KR" altLang="en-US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교체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부드러운 </a:t>
                      </a:r>
                      <a:r>
                        <a:rPr lang="en-US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UI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✔ UX </a:t>
                      </a:r>
                      <a:r>
                        <a:rPr lang="ko-KR" altLang="en-US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향상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2290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5. </a:t>
            </a:r>
            <a:r>
              <a:rPr lang="ko-KR" altLang="en-US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향후 연구 과제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7340195" y="246759"/>
            <a:ext cx="8437380" cy="91523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Tx/>
              <a:buChar char="-"/>
            </a:pPr>
            <a:r>
              <a:rPr lang="ko-KR" altLang="en-US" sz="2400" b="1" dirty="0">
                <a:solidFill>
                  <a:schemeClr val="tx1"/>
                </a:solidFill>
              </a:rPr>
              <a:t>개발 결과물의 추후 개선점</a:t>
            </a:r>
            <a:r>
              <a:rPr lang="en-US" altLang="ko-KR" sz="2400" b="1" dirty="0">
                <a:solidFill>
                  <a:schemeClr val="tx1"/>
                </a:solidFill>
              </a:rPr>
              <a:t>, </a:t>
            </a:r>
            <a:r>
              <a:rPr lang="ko-KR" altLang="en-US" sz="2400" b="1" dirty="0">
                <a:solidFill>
                  <a:schemeClr val="tx1"/>
                </a:solidFill>
              </a:rPr>
              <a:t>후속 개발 주제 등에 대한 내용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2400" b="1" dirty="0">
                <a:solidFill>
                  <a:schemeClr val="tx1"/>
                </a:solidFill>
              </a:rPr>
              <a:t>가급적 </a:t>
            </a:r>
            <a:r>
              <a:rPr lang="en-US" altLang="ko-KR" sz="2400" b="1" dirty="0">
                <a:solidFill>
                  <a:schemeClr val="tx1"/>
                </a:solidFill>
              </a:rPr>
              <a:t>1</a:t>
            </a:r>
            <a:r>
              <a:rPr lang="ko-KR" altLang="en-US" sz="2400" b="1" dirty="0">
                <a:solidFill>
                  <a:schemeClr val="tx1"/>
                </a:solidFill>
              </a:rPr>
              <a:t>페이지로 요약</a:t>
            </a:r>
          </a:p>
        </p:txBody>
      </p:sp>
      <p:grpSp>
        <p:nvGrpSpPr>
          <p:cNvPr id="13" name="그룹 12"/>
          <p:cNvGrpSpPr/>
          <p:nvPr/>
        </p:nvGrpSpPr>
        <p:grpSpPr>
          <a:xfrm>
            <a:off x="1604413" y="1818831"/>
            <a:ext cx="13441623" cy="5800409"/>
            <a:chOff x="1604413" y="1818831"/>
            <a:chExt cx="13441623" cy="5800409"/>
          </a:xfrm>
        </p:grpSpPr>
        <p:grpSp>
          <p:nvGrpSpPr>
            <p:cNvPr id="8" name="그룹 7"/>
            <p:cNvGrpSpPr/>
            <p:nvPr/>
          </p:nvGrpSpPr>
          <p:grpSpPr>
            <a:xfrm>
              <a:off x="1604413" y="1818831"/>
              <a:ext cx="5735782" cy="5800409"/>
              <a:chOff x="1508166" y="3895296"/>
              <a:chExt cx="4215742" cy="4263242"/>
            </a:xfrm>
          </p:grpSpPr>
          <p:pic>
            <p:nvPicPr>
              <p:cNvPr id="5" name="그림 4"/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618" t="22628" r="35567" b="33662"/>
              <a:stretch/>
            </p:blipFill>
            <p:spPr>
              <a:xfrm>
                <a:off x="1508166" y="3895296"/>
                <a:ext cx="4215742" cy="4263242"/>
              </a:xfrm>
              <a:prstGeom prst="rect">
                <a:avLst/>
              </a:prstGeom>
            </p:spPr>
          </p:pic>
          <p:sp>
            <p:nvSpPr>
              <p:cNvPr id="7" name="직사각형 6"/>
              <p:cNvSpPr/>
              <p:nvPr/>
            </p:nvSpPr>
            <p:spPr>
              <a:xfrm>
                <a:off x="1650670" y="3911872"/>
                <a:ext cx="546265" cy="60564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0" name="그룹 9"/>
            <p:cNvGrpSpPr/>
            <p:nvPr/>
          </p:nvGrpSpPr>
          <p:grpSpPr>
            <a:xfrm>
              <a:off x="8912666" y="1818831"/>
              <a:ext cx="6133370" cy="5796963"/>
              <a:chOff x="7980218" y="3911872"/>
              <a:chExt cx="4510645" cy="4263242"/>
            </a:xfrm>
          </p:grpSpPr>
          <p:pic>
            <p:nvPicPr>
              <p:cNvPr id="6" name="그림 5"/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5420" t="22628" r="3749" b="33662"/>
              <a:stretch/>
            </p:blipFill>
            <p:spPr>
              <a:xfrm>
                <a:off x="7980218" y="3911872"/>
                <a:ext cx="4510645" cy="4263242"/>
              </a:xfrm>
              <a:prstGeom prst="rect">
                <a:avLst/>
              </a:prstGeom>
            </p:spPr>
          </p:pic>
          <p:sp>
            <p:nvSpPr>
              <p:cNvPr id="9" name="직사각형 8"/>
              <p:cNvSpPr/>
              <p:nvPr/>
            </p:nvSpPr>
            <p:spPr>
              <a:xfrm>
                <a:off x="7980218" y="3911872"/>
                <a:ext cx="546265" cy="60564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192" b="2494"/>
          <a:stretch/>
        </p:blipFill>
        <p:spPr>
          <a:xfrm>
            <a:off x="1047245" y="7885215"/>
            <a:ext cx="14630400" cy="159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626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6. </a:t>
            </a:r>
            <a:r>
              <a:rPr lang="ko-KR" altLang="en-US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프로젝트 수행 후기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8402821" y="49816"/>
            <a:ext cx="8323080" cy="130102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Tx/>
              <a:buChar char="-"/>
            </a:pPr>
            <a:r>
              <a:rPr lang="ko-KR" altLang="en-US" sz="2400" b="1" dirty="0">
                <a:solidFill>
                  <a:schemeClr val="tx1"/>
                </a:solidFill>
              </a:rPr>
              <a:t>프로젝트 수행에 따른 </a:t>
            </a:r>
            <a:r>
              <a:rPr lang="ko-KR" altLang="en-US" sz="2400" b="1" dirty="0" err="1">
                <a:solidFill>
                  <a:schemeClr val="tx1"/>
                </a:solidFill>
              </a:rPr>
              <a:t>느낀점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2400" b="1" dirty="0" err="1">
                <a:solidFill>
                  <a:schemeClr val="tx1"/>
                </a:solidFill>
              </a:rPr>
              <a:t>개발중</a:t>
            </a:r>
            <a:r>
              <a:rPr lang="ko-KR" altLang="en-US" sz="2400" b="1" dirty="0">
                <a:solidFill>
                  <a:schemeClr val="tx1"/>
                </a:solidFill>
              </a:rPr>
              <a:t> 어려웠던 점 그리고 이를 극복한 사연 등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2400" b="1" dirty="0">
                <a:solidFill>
                  <a:schemeClr val="tx1"/>
                </a:solidFill>
              </a:rPr>
              <a:t>교육과 프로젝트를 마무리한 소회 등</a:t>
            </a:r>
            <a:r>
              <a:rPr lang="en-US" altLang="ko-KR" sz="2400" b="1" dirty="0">
                <a:solidFill>
                  <a:schemeClr val="tx1"/>
                </a:solidFill>
              </a:rPr>
              <a:t>… 1</a:t>
            </a:r>
            <a:r>
              <a:rPr lang="ko-KR" altLang="en-US" sz="2400" b="1" dirty="0">
                <a:solidFill>
                  <a:schemeClr val="tx1"/>
                </a:solidFill>
              </a:rPr>
              <a:t>페이지로 정리 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992023" y="2311812"/>
            <a:ext cx="15092670" cy="5337217"/>
            <a:chOff x="1078044" y="3631941"/>
            <a:chExt cx="15092670" cy="3535768"/>
          </a:xfrm>
        </p:grpSpPr>
        <p:grpSp>
          <p:nvGrpSpPr>
            <p:cNvPr id="6" name="그룹 5"/>
            <p:cNvGrpSpPr/>
            <p:nvPr/>
          </p:nvGrpSpPr>
          <p:grpSpPr>
            <a:xfrm>
              <a:off x="1078044" y="3631941"/>
              <a:ext cx="7460314" cy="1644190"/>
              <a:chOff x="4008160" y="3964450"/>
              <a:chExt cx="8799378" cy="1644190"/>
            </a:xfrm>
          </p:grpSpPr>
          <p:sp>
            <p:nvSpPr>
              <p:cNvPr id="22" name="Shape 3"/>
              <p:cNvSpPr/>
              <p:nvPr/>
            </p:nvSpPr>
            <p:spPr>
              <a:xfrm>
                <a:off x="4057206" y="3964450"/>
                <a:ext cx="8750332" cy="1644190"/>
              </a:xfrm>
              <a:prstGeom prst="roundRect">
                <a:avLst>
                  <a:gd name="adj" fmla="val 8109"/>
                </a:avLst>
              </a:prstGeom>
              <a:solidFill>
                <a:srgbClr val="FFFFFF"/>
              </a:solidFill>
              <a:ln w="22860">
                <a:solidFill>
                  <a:srgbClr val="C0C1D7"/>
                </a:solidFill>
                <a:prstDash val="solid"/>
              </a:ln>
            </p:spPr>
          </p:sp>
          <p:sp>
            <p:nvSpPr>
              <p:cNvPr id="23" name="Shape 4"/>
              <p:cNvSpPr/>
              <p:nvPr/>
            </p:nvSpPr>
            <p:spPr>
              <a:xfrm>
                <a:off x="4008160" y="3964450"/>
                <a:ext cx="196183" cy="1644190"/>
              </a:xfrm>
              <a:prstGeom prst="roundRect">
                <a:avLst>
                  <a:gd name="adj" fmla="val 83023"/>
                </a:avLst>
              </a:prstGeom>
              <a:solidFill>
                <a:srgbClr val="A50034"/>
              </a:solidFill>
              <a:ln/>
            </p:spPr>
          </p:sp>
          <p:sp>
            <p:nvSpPr>
              <p:cNvPr id="24" name="Text 5"/>
              <p:cNvSpPr/>
              <p:nvPr/>
            </p:nvSpPr>
            <p:spPr>
              <a:xfrm>
                <a:off x="4641155" y="4211838"/>
                <a:ext cx="4847360" cy="34316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r>
                  <a:rPr lang="ko-KR" altLang="en-US" sz="2400" b="1" dirty="0" smtClean="0">
                    <a:solidFill>
                      <a:srgbClr val="272525"/>
                    </a:solidFill>
                    <a:latin typeface="LG스마트체2.0 SemiBold" panose="020B0600000101010101" pitchFamily="50" charset="-127"/>
                    <a:ea typeface="LG스마트체2.0 SemiBold" panose="020B0600000101010101" pitchFamily="50" charset="-127"/>
                    <a:cs typeface="Inter Bold" pitchFamily="34" charset="-120"/>
                  </a:rPr>
                  <a:t>세부 규칙 확립을 위한 시행 착오</a:t>
                </a:r>
                <a:endParaRPr lang="ko-KR" altLang="en-US" sz="2400" b="1" dirty="0">
                  <a:solidFill>
                    <a:srgbClr val="272525"/>
                  </a:solidFill>
                  <a:latin typeface="LG스마트체2.0 SemiBold" panose="020B0600000101010101" pitchFamily="50" charset="-127"/>
                  <a:ea typeface="LG스마트체2.0 SemiBold" panose="020B0600000101010101" pitchFamily="50" charset="-127"/>
                  <a:cs typeface="Inter Bold" pitchFamily="34" charset="-120"/>
                </a:endParaRPr>
              </a:p>
            </p:txBody>
          </p:sp>
          <p:sp>
            <p:nvSpPr>
              <p:cNvPr id="25" name="Text 6"/>
              <p:cNvSpPr/>
              <p:nvPr/>
            </p:nvSpPr>
            <p:spPr>
              <a:xfrm>
                <a:off x="4641155" y="4615334"/>
                <a:ext cx="7729566" cy="63134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ko-KR" altLang="en-US" sz="2000" dirty="0">
                    <a:solidFill>
                      <a:srgbClr val="272525"/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Inter" pitchFamily="34" charset="-120"/>
                  </a:rPr>
                  <a:t>참가자 및 출제자가 그린 그림이 공유가 되는 규칙을 정하고 구현하고 테스트 하는 과정에서 시행착오가 </a:t>
                </a:r>
                <a:r>
                  <a:rPr lang="ko-KR" altLang="en-US" sz="2000" dirty="0" smtClean="0">
                    <a:solidFill>
                      <a:srgbClr val="272525"/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Inter" pitchFamily="34" charset="-120"/>
                  </a:rPr>
                  <a:t>많았음</a:t>
                </a:r>
                <a:endParaRPr lang="en-US" altLang="ko-KR" sz="2000" dirty="0">
                  <a:solidFill>
                    <a:srgbClr val="272525"/>
                  </a:solidFill>
                  <a:latin typeface="LG스마트체2.0 Regular" panose="020B0600000101010101" pitchFamily="50" charset="-127"/>
                  <a:ea typeface="LG스마트체2.0 Regular" panose="020B0600000101010101" pitchFamily="50" charset="-127"/>
                  <a:cs typeface="Inter" pitchFamily="34" charset="-12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ko-KR" altLang="en-US" sz="2000" dirty="0" smtClean="0">
                    <a:solidFill>
                      <a:srgbClr val="272525"/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Inter" pitchFamily="34" charset="-120"/>
                  </a:rPr>
                  <a:t>게임을 플레이하며 규칙을 조금씩 업데이트 해나가는 것으로 해결함</a:t>
                </a:r>
                <a:endParaRPr lang="ko-KR" altLang="en-US" sz="2000" dirty="0">
                  <a:solidFill>
                    <a:srgbClr val="272525"/>
                  </a:solidFill>
                  <a:latin typeface="LG스마트체2.0 Regular" panose="020B0600000101010101" pitchFamily="50" charset="-127"/>
                  <a:ea typeface="LG스마트체2.0 Regular" panose="020B0600000101010101" pitchFamily="50" charset="-127"/>
                  <a:cs typeface="Inter" pitchFamily="34" charset="-120"/>
                </a:endParaRPr>
              </a:p>
            </p:txBody>
          </p:sp>
        </p:grpSp>
        <p:grpSp>
          <p:nvGrpSpPr>
            <p:cNvPr id="7" name="그룹 6"/>
            <p:cNvGrpSpPr/>
            <p:nvPr/>
          </p:nvGrpSpPr>
          <p:grpSpPr>
            <a:xfrm>
              <a:off x="8710400" y="3631941"/>
              <a:ext cx="7460314" cy="1644190"/>
              <a:chOff x="4008160" y="3964450"/>
              <a:chExt cx="8799378" cy="1644190"/>
            </a:xfrm>
          </p:grpSpPr>
          <p:sp>
            <p:nvSpPr>
              <p:cNvPr id="18" name="Shape 3"/>
              <p:cNvSpPr/>
              <p:nvPr/>
            </p:nvSpPr>
            <p:spPr>
              <a:xfrm>
                <a:off x="4057206" y="3964450"/>
                <a:ext cx="8750332" cy="1644190"/>
              </a:xfrm>
              <a:prstGeom prst="roundRect">
                <a:avLst>
                  <a:gd name="adj" fmla="val 8109"/>
                </a:avLst>
              </a:prstGeom>
              <a:solidFill>
                <a:srgbClr val="FFFFFF"/>
              </a:solidFill>
              <a:ln w="22860">
                <a:solidFill>
                  <a:srgbClr val="C0C1D7"/>
                </a:solidFill>
                <a:prstDash val="solid"/>
              </a:ln>
            </p:spPr>
          </p:sp>
          <p:sp>
            <p:nvSpPr>
              <p:cNvPr id="19" name="Shape 4"/>
              <p:cNvSpPr/>
              <p:nvPr/>
            </p:nvSpPr>
            <p:spPr>
              <a:xfrm>
                <a:off x="4008160" y="3964450"/>
                <a:ext cx="196183" cy="1644190"/>
              </a:xfrm>
              <a:prstGeom prst="roundRect">
                <a:avLst>
                  <a:gd name="adj" fmla="val 83023"/>
                </a:avLst>
              </a:prstGeom>
              <a:solidFill>
                <a:srgbClr val="A50034"/>
              </a:solidFill>
              <a:ln/>
            </p:spPr>
          </p:sp>
          <p:sp>
            <p:nvSpPr>
              <p:cNvPr id="20" name="Text 5"/>
              <p:cNvSpPr/>
              <p:nvPr/>
            </p:nvSpPr>
            <p:spPr>
              <a:xfrm>
                <a:off x="4641155" y="4211838"/>
                <a:ext cx="4847360" cy="34316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r>
                  <a:rPr lang="ko-KR" altLang="en-US" sz="2400" b="1" dirty="0" smtClean="0">
                    <a:solidFill>
                      <a:srgbClr val="272525"/>
                    </a:solidFill>
                    <a:latin typeface="LG스마트체2.0 SemiBold" panose="020B0600000101010101" pitchFamily="50" charset="-127"/>
                    <a:ea typeface="LG스마트체2.0 SemiBold" panose="020B0600000101010101" pitchFamily="50" charset="-127"/>
                    <a:cs typeface="Inter Bold" pitchFamily="34" charset="-120"/>
                  </a:rPr>
                  <a:t>버그 해결</a:t>
                </a:r>
                <a:endParaRPr lang="en-US" altLang="ko-KR" sz="2400" b="1" dirty="0">
                  <a:solidFill>
                    <a:srgbClr val="272525"/>
                  </a:solidFill>
                  <a:latin typeface="LG스마트체2.0 SemiBold" panose="020B0600000101010101" pitchFamily="50" charset="-127"/>
                  <a:ea typeface="LG스마트체2.0 SemiBold" panose="020B0600000101010101" pitchFamily="50" charset="-127"/>
                  <a:cs typeface="Inter Bold" pitchFamily="34" charset="-120"/>
                </a:endParaRPr>
              </a:p>
            </p:txBody>
          </p:sp>
          <p:sp>
            <p:nvSpPr>
              <p:cNvPr id="21" name="Text 6"/>
              <p:cNvSpPr/>
              <p:nvPr/>
            </p:nvSpPr>
            <p:spPr>
              <a:xfrm>
                <a:off x="4641155" y="4614241"/>
                <a:ext cx="7729566" cy="63134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ko-KR" altLang="en-US" sz="2000" dirty="0" smtClean="0">
                    <a:solidFill>
                      <a:srgbClr val="272525"/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Inter" pitchFamily="34" charset="-120"/>
                  </a:rPr>
                  <a:t>순식간에 지나간 버그를 잡기 위해 반복 게임 플레이를 계속 진행함</a:t>
                </a:r>
                <a:endParaRPr lang="en-US" altLang="ko-KR" sz="2000" dirty="0" smtClean="0">
                  <a:solidFill>
                    <a:srgbClr val="272525"/>
                  </a:solidFill>
                  <a:latin typeface="LG스마트체2.0 Regular" panose="020B0600000101010101" pitchFamily="50" charset="-127"/>
                  <a:ea typeface="LG스마트체2.0 Regular" panose="020B0600000101010101" pitchFamily="50" charset="-127"/>
                  <a:cs typeface="Inter" pitchFamily="34" charset="-12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ko-KR" altLang="en-US" sz="2000" dirty="0" smtClean="0">
                    <a:solidFill>
                      <a:srgbClr val="272525"/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Inter" pitchFamily="34" charset="-120"/>
                  </a:rPr>
                  <a:t>반복 플레이를 통해 버그를 특정하고 해결함</a:t>
                </a:r>
                <a:endParaRPr lang="en-US" altLang="ko-KR" sz="2000" dirty="0">
                  <a:solidFill>
                    <a:srgbClr val="272525"/>
                  </a:solidFill>
                  <a:latin typeface="LG스마트체2.0 Regular" panose="020B0600000101010101" pitchFamily="50" charset="-127"/>
                  <a:ea typeface="LG스마트체2.0 Regular" panose="020B0600000101010101" pitchFamily="50" charset="-127"/>
                  <a:cs typeface="Inter" pitchFamily="34" charset="-120"/>
                </a:endParaRPr>
              </a:p>
            </p:txBody>
          </p:sp>
        </p:grpSp>
        <p:grpSp>
          <p:nvGrpSpPr>
            <p:cNvPr id="8" name="그룹 7"/>
            <p:cNvGrpSpPr/>
            <p:nvPr/>
          </p:nvGrpSpPr>
          <p:grpSpPr>
            <a:xfrm>
              <a:off x="1078044" y="5523519"/>
              <a:ext cx="7460314" cy="1644190"/>
              <a:chOff x="4008160" y="3964450"/>
              <a:chExt cx="8799378" cy="1644190"/>
            </a:xfrm>
          </p:grpSpPr>
          <p:sp>
            <p:nvSpPr>
              <p:cNvPr id="14" name="Shape 3"/>
              <p:cNvSpPr/>
              <p:nvPr/>
            </p:nvSpPr>
            <p:spPr>
              <a:xfrm>
                <a:off x="4057206" y="3964450"/>
                <a:ext cx="8750332" cy="1644190"/>
              </a:xfrm>
              <a:prstGeom prst="roundRect">
                <a:avLst>
                  <a:gd name="adj" fmla="val 8109"/>
                </a:avLst>
              </a:prstGeom>
              <a:solidFill>
                <a:srgbClr val="FFFFFF"/>
              </a:solidFill>
              <a:ln w="22860">
                <a:solidFill>
                  <a:srgbClr val="C0C1D7"/>
                </a:solidFill>
                <a:prstDash val="solid"/>
              </a:ln>
            </p:spPr>
          </p:sp>
          <p:sp>
            <p:nvSpPr>
              <p:cNvPr id="15" name="Shape 4"/>
              <p:cNvSpPr/>
              <p:nvPr/>
            </p:nvSpPr>
            <p:spPr>
              <a:xfrm>
                <a:off x="4008160" y="3964450"/>
                <a:ext cx="196183" cy="1644190"/>
              </a:xfrm>
              <a:prstGeom prst="roundRect">
                <a:avLst>
                  <a:gd name="adj" fmla="val 83023"/>
                </a:avLst>
              </a:prstGeom>
              <a:solidFill>
                <a:srgbClr val="A50034"/>
              </a:solidFill>
              <a:ln/>
            </p:spPr>
          </p:sp>
          <p:sp>
            <p:nvSpPr>
              <p:cNvPr id="16" name="Text 5"/>
              <p:cNvSpPr/>
              <p:nvPr/>
            </p:nvSpPr>
            <p:spPr>
              <a:xfrm>
                <a:off x="4641155" y="4211838"/>
                <a:ext cx="4847360" cy="34316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r>
                  <a:rPr lang="ko-KR" altLang="en-US" sz="2400" b="1" dirty="0" smtClean="0">
                    <a:solidFill>
                      <a:srgbClr val="272525"/>
                    </a:solidFill>
                    <a:latin typeface="LG스마트체2.0 SemiBold" panose="020B0600000101010101" pitchFamily="50" charset="-127"/>
                    <a:ea typeface="LG스마트체2.0 SemiBold" panose="020B0600000101010101" pitchFamily="50" charset="-127"/>
                    <a:cs typeface="Inter Bold" pitchFamily="34" charset="-120"/>
                  </a:rPr>
                  <a:t>부드러운 </a:t>
                </a:r>
                <a:r>
                  <a:rPr lang="ko-KR" altLang="en-US" sz="2400" b="1" dirty="0" err="1" smtClean="0">
                    <a:solidFill>
                      <a:srgbClr val="272525"/>
                    </a:solidFill>
                    <a:latin typeface="LG스마트체2.0 SemiBold" panose="020B0600000101010101" pitchFamily="50" charset="-127"/>
                    <a:ea typeface="LG스마트체2.0 SemiBold" panose="020B0600000101010101" pitchFamily="50" charset="-127"/>
                    <a:cs typeface="Inter Bold" pitchFamily="34" charset="-120"/>
                  </a:rPr>
                  <a:t>터치감을</a:t>
                </a:r>
                <a:r>
                  <a:rPr lang="ko-KR" altLang="en-US" sz="2400" b="1" dirty="0" smtClean="0">
                    <a:solidFill>
                      <a:srgbClr val="272525"/>
                    </a:solidFill>
                    <a:latin typeface="LG스마트체2.0 SemiBold" panose="020B0600000101010101" pitchFamily="50" charset="-127"/>
                    <a:ea typeface="LG스마트체2.0 SemiBold" panose="020B0600000101010101" pitchFamily="50" charset="-127"/>
                    <a:cs typeface="Inter Bold" pitchFamily="34" charset="-120"/>
                  </a:rPr>
                  <a:t> 위한 최적화</a:t>
                </a:r>
                <a:endParaRPr lang="ko-KR" altLang="en-US" sz="2400" b="1" dirty="0">
                  <a:solidFill>
                    <a:srgbClr val="272525"/>
                  </a:solidFill>
                  <a:latin typeface="LG스마트체2.0 SemiBold" panose="020B0600000101010101" pitchFamily="50" charset="-127"/>
                  <a:ea typeface="LG스마트체2.0 SemiBold" panose="020B0600000101010101" pitchFamily="50" charset="-127"/>
                  <a:cs typeface="Inter Bold" pitchFamily="34" charset="-120"/>
                </a:endParaRPr>
              </a:p>
            </p:txBody>
          </p:sp>
          <p:sp>
            <p:nvSpPr>
              <p:cNvPr id="17" name="Text 6"/>
              <p:cNvSpPr/>
              <p:nvPr/>
            </p:nvSpPr>
            <p:spPr>
              <a:xfrm>
                <a:off x="4641155" y="4682312"/>
                <a:ext cx="7729566" cy="63134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endParaRPr lang="en-US" altLang="ko-KR" sz="2000" dirty="0">
                  <a:solidFill>
                    <a:srgbClr val="272525"/>
                  </a:solidFill>
                  <a:latin typeface="LG스마트체2.0 Regular" panose="020B0600000101010101" pitchFamily="50" charset="-127"/>
                  <a:ea typeface="LG스마트체2.0 Regular" panose="020B0600000101010101" pitchFamily="50" charset="-127"/>
                  <a:cs typeface="Inter" pitchFamily="34" charset="-120"/>
                </a:endParaRPr>
              </a:p>
            </p:txBody>
          </p:sp>
        </p:grpSp>
        <p:grpSp>
          <p:nvGrpSpPr>
            <p:cNvPr id="9" name="그룹 8"/>
            <p:cNvGrpSpPr/>
            <p:nvPr/>
          </p:nvGrpSpPr>
          <p:grpSpPr>
            <a:xfrm>
              <a:off x="8710400" y="5523519"/>
              <a:ext cx="7460314" cy="1644190"/>
              <a:chOff x="4008160" y="3964450"/>
              <a:chExt cx="8799378" cy="1644190"/>
            </a:xfrm>
          </p:grpSpPr>
          <p:sp>
            <p:nvSpPr>
              <p:cNvPr id="10" name="Shape 3"/>
              <p:cNvSpPr/>
              <p:nvPr/>
            </p:nvSpPr>
            <p:spPr>
              <a:xfrm>
                <a:off x="4057206" y="3964450"/>
                <a:ext cx="8750332" cy="1644190"/>
              </a:xfrm>
              <a:prstGeom prst="roundRect">
                <a:avLst>
                  <a:gd name="adj" fmla="val 8109"/>
                </a:avLst>
              </a:prstGeom>
              <a:solidFill>
                <a:srgbClr val="FFFFFF"/>
              </a:solidFill>
              <a:ln w="22860">
                <a:solidFill>
                  <a:srgbClr val="C0C1D7"/>
                </a:solidFill>
                <a:prstDash val="solid"/>
              </a:ln>
            </p:spPr>
          </p:sp>
          <p:sp>
            <p:nvSpPr>
              <p:cNvPr id="11" name="Shape 4"/>
              <p:cNvSpPr/>
              <p:nvPr/>
            </p:nvSpPr>
            <p:spPr>
              <a:xfrm>
                <a:off x="4008160" y="3964450"/>
                <a:ext cx="196183" cy="1644190"/>
              </a:xfrm>
              <a:prstGeom prst="roundRect">
                <a:avLst>
                  <a:gd name="adj" fmla="val 83023"/>
                </a:avLst>
              </a:prstGeom>
              <a:solidFill>
                <a:srgbClr val="A50034"/>
              </a:solidFill>
              <a:ln/>
            </p:spPr>
          </p:sp>
          <p:sp>
            <p:nvSpPr>
              <p:cNvPr id="12" name="Text 5"/>
              <p:cNvSpPr/>
              <p:nvPr/>
            </p:nvSpPr>
            <p:spPr>
              <a:xfrm>
                <a:off x="4641155" y="4211838"/>
                <a:ext cx="4847360" cy="34316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r>
                  <a:rPr lang="ko-KR" altLang="en-US" sz="2400" b="1" dirty="0">
                    <a:solidFill>
                      <a:srgbClr val="272525"/>
                    </a:solidFill>
                    <a:latin typeface="LG스마트체2.0 SemiBold" panose="020B0600000101010101" pitchFamily="50" charset="-127"/>
                    <a:ea typeface="LG스마트체2.0 SemiBold" panose="020B0600000101010101" pitchFamily="50" charset="-127"/>
                    <a:cs typeface="Inter Bold" pitchFamily="34" charset="-120"/>
                  </a:rPr>
                  <a:t>점수 </a:t>
                </a:r>
                <a:r>
                  <a:rPr lang="ko-KR" altLang="en-US" sz="2400" b="1" dirty="0" smtClean="0">
                    <a:solidFill>
                      <a:srgbClr val="272525"/>
                    </a:solidFill>
                    <a:latin typeface="LG스마트체2.0 SemiBold" panose="020B0600000101010101" pitchFamily="50" charset="-127"/>
                    <a:ea typeface="LG스마트체2.0 SemiBold" panose="020B0600000101010101" pitchFamily="50" charset="-127"/>
                    <a:cs typeface="Inter Bold" pitchFamily="34" charset="-120"/>
                  </a:rPr>
                  <a:t>불일치 오류 해결</a:t>
                </a:r>
                <a:endParaRPr lang="ko-KR" altLang="en-US" sz="2400" b="1" dirty="0">
                  <a:solidFill>
                    <a:srgbClr val="272525"/>
                  </a:solidFill>
                  <a:latin typeface="LG스마트체2.0 SemiBold" panose="020B0600000101010101" pitchFamily="50" charset="-127"/>
                  <a:ea typeface="LG스마트체2.0 SemiBold" panose="020B0600000101010101" pitchFamily="50" charset="-127"/>
                  <a:cs typeface="Inter Bold" pitchFamily="34" charset="-120"/>
                </a:endParaRPr>
              </a:p>
            </p:txBody>
          </p:sp>
          <p:sp>
            <p:nvSpPr>
              <p:cNvPr id="13" name="Text 6"/>
              <p:cNvSpPr/>
              <p:nvPr/>
            </p:nvSpPr>
            <p:spPr>
              <a:xfrm>
                <a:off x="4641155" y="4603716"/>
                <a:ext cx="7729566" cy="63134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ko-KR" altLang="en-US" sz="2000" dirty="0">
                    <a:solidFill>
                      <a:srgbClr val="272525"/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Inter" pitchFamily="34" charset="-120"/>
                  </a:rPr>
                  <a:t>네트워크 지연이나 </a:t>
                </a:r>
                <a:r>
                  <a:rPr lang="ko-KR" altLang="en-US" sz="2000" dirty="0" err="1">
                    <a:solidFill>
                      <a:srgbClr val="272525"/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Inter" pitchFamily="34" charset="-120"/>
                  </a:rPr>
                  <a:t>패킷</a:t>
                </a:r>
                <a:r>
                  <a:rPr lang="ko-KR" altLang="en-US" sz="2000" dirty="0">
                    <a:solidFill>
                      <a:srgbClr val="272525"/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Inter" pitchFamily="34" charset="-120"/>
                  </a:rPr>
                  <a:t> 누락으로 </a:t>
                </a:r>
                <a:r>
                  <a:rPr lang="ko-KR" altLang="en-US" sz="2000" dirty="0" smtClean="0">
                    <a:solidFill>
                      <a:srgbClr val="272525"/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Inter" pitchFamily="34" charset="-120"/>
                  </a:rPr>
                  <a:t>라운드가 </a:t>
                </a:r>
                <a:r>
                  <a:rPr lang="ko-KR" altLang="en-US" sz="2000" dirty="0">
                    <a:solidFill>
                      <a:srgbClr val="272525"/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Inter" pitchFamily="34" charset="-120"/>
                  </a:rPr>
                  <a:t>끝나는 시점에 보드 간 점수가 서로 달라지는 상황이 </a:t>
                </a:r>
                <a:r>
                  <a:rPr lang="ko-KR" altLang="en-US" sz="2000" dirty="0" smtClean="0">
                    <a:solidFill>
                      <a:srgbClr val="272525"/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Inter" pitchFamily="34" charset="-120"/>
                  </a:rPr>
                  <a:t>발생</a:t>
                </a:r>
                <a:endParaRPr lang="en-US" altLang="ko-KR" sz="2000" dirty="0" smtClean="0">
                  <a:solidFill>
                    <a:srgbClr val="272525"/>
                  </a:solidFill>
                  <a:latin typeface="LG스마트체2.0 Regular" panose="020B0600000101010101" pitchFamily="50" charset="-127"/>
                  <a:ea typeface="LG스마트체2.0 Regular" panose="020B0600000101010101" pitchFamily="50" charset="-127"/>
                  <a:cs typeface="Inter" pitchFamily="34" charset="-12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ko-KR" altLang="en-US" sz="2000" dirty="0" smtClean="0">
                    <a:solidFill>
                      <a:srgbClr val="272525"/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Inter" pitchFamily="34" charset="-120"/>
                  </a:rPr>
                  <a:t>각 </a:t>
                </a:r>
                <a:r>
                  <a:rPr lang="ko-KR" altLang="en-US" sz="2000" dirty="0">
                    <a:solidFill>
                      <a:srgbClr val="272525"/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Inter" pitchFamily="34" charset="-120"/>
                  </a:rPr>
                  <a:t>보드는 자기 자신의 점수만 직접 </a:t>
                </a:r>
                <a:r>
                  <a:rPr lang="ko-KR" altLang="en-US" sz="2000" dirty="0" smtClean="0">
                    <a:solidFill>
                      <a:srgbClr val="272525"/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Inter" pitchFamily="34" charset="-120"/>
                  </a:rPr>
                  <a:t>관리하는 방식으로 해결</a:t>
                </a:r>
                <a:endParaRPr lang="ko-KR" altLang="en-US" sz="2000" dirty="0">
                  <a:solidFill>
                    <a:srgbClr val="272525"/>
                  </a:solidFill>
                  <a:latin typeface="LG스마트체2.0 Regular" panose="020B0600000101010101" pitchFamily="50" charset="-127"/>
                  <a:ea typeface="LG스마트체2.0 Regular" panose="020B0600000101010101" pitchFamily="50" charset="-127"/>
                  <a:cs typeface="Inter" pitchFamily="34" charset="-120"/>
                </a:endParaRPr>
              </a:p>
            </p:txBody>
          </p:sp>
        </p:grpSp>
      </p:grpSp>
      <p:grpSp>
        <p:nvGrpSpPr>
          <p:cNvPr id="26" name="그룹 25"/>
          <p:cNvGrpSpPr/>
          <p:nvPr/>
        </p:nvGrpSpPr>
        <p:grpSpPr>
          <a:xfrm>
            <a:off x="992023" y="7987914"/>
            <a:ext cx="15092670" cy="963811"/>
            <a:chOff x="6567055" y="6581229"/>
            <a:chExt cx="15092670" cy="963811"/>
          </a:xfrm>
        </p:grpSpPr>
        <p:sp>
          <p:nvSpPr>
            <p:cNvPr id="27" name="Shape 5"/>
            <p:cNvSpPr/>
            <p:nvPr/>
          </p:nvSpPr>
          <p:spPr>
            <a:xfrm>
              <a:off x="6567055" y="6581229"/>
              <a:ext cx="15092670" cy="963811"/>
            </a:xfrm>
            <a:prstGeom prst="roundRect">
              <a:avLst>
                <a:gd name="adj" fmla="val 9884"/>
              </a:avLst>
            </a:prstGeom>
            <a:solidFill>
              <a:srgbClr val="B6D6FC"/>
            </a:solidFill>
            <a:ln/>
          </p:spPr>
        </p:sp>
        <p:pic>
          <p:nvPicPr>
            <p:cNvPr id="28" name="Image 1" descr="preencoded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20683" y="6937194"/>
              <a:ext cx="283488" cy="226814"/>
            </a:xfrm>
            <a:prstGeom prst="rect">
              <a:avLst/>
            </a:prstGeom>
          </p:spPr>
        </p:pic>
        <p:sp>
          <p:nvSpPr>
            <p:cNvPr id="29" name="Text 6"/>
            <p:cNvSpPr/>
            <p:nvPr/>
          </p:nvSpPr>
          <p:spPr>
            <a:xfrm>
              <a:off x="7530985" y="6876591"/>
              <a:ext cx="7320201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850"/>
                </a:lnSpc>
              </a:pPr>
              <a:r>
                <a:rPr lang="ko-KR" altLang="en-US" sz="1750" dirty="0">
                  <a:solidFill>
                    <a:srgbClr val="000000"/>
                  </a:solidFill>
                  <a:latin typeface="LG스마트체2.0 Regular" panose="020B0600000101010101" pitchFamily="50" charset="-127"/>
                  <a:ea typeface="LG스마트체2.0 Regular" panose="020B0600000101010101" pitchFamily="50" charset="-127"/>
                  <a:cs typeface="Inter" pitchFamily="34" charset="-120"/>
                </a:rPr>
                <a:t>교육 기간에 배운 내용을 프로젝트에 </a:t>
              </a:r>
              <a:r>
                <a:rPr lang="ko-KR" altLang="en-US" sz="1750" dirty="0" err="1">
                  <a:solidFill>
                    <a:srgbClr val="000000"/>
                  </a:solidFill>
                  <a:latin typeface="LG스마트체2.0 Regular" panose="020B0600000101010101" pitchFamily="50" charset="-127"/>
                  <a:ea typeface="LG스마트체2.0 Regular" panose="020B0600000101010101" pitchFamily="50" charset="-127"/>
                  <a:cs typeface="Inter" pitchFamily="34" charset="-120"/>
                </a:rPr>
                <a:t>적용함으로서</a:t>
              </a:r>
              <a:r>
                <a:rPr lang="ko-KR" altLang="en-US" sz="1750" dirty="0">
                  <a:solidFill>
                    <a:srgbClr val="000000"/>
                  </a:solidFill>
                  <a:latin typeface="LG스마트체2.0 Regular" panose="020B0600000101010101" pitchFamily="50" charset="-127"/>
                  <a:ea typeface="LG스마트체2.0 Regular" panose="020B0600000101010101" pitchFamily="50" charset="-127"/>
                  <a:cs typeface="Inter" pitchFamily="34" charset="-120"/>
                </a:rPr>
                <a:t> 복습이 되고 피와 살이 되고 기억에 잘 남음</a:t>
              </a:r>
            </a:p>
          </p:txBody>
        </p:sp>
      </p:grpSp>
      <p:sp>
        <p:nvSpPr>
          <p:cNvPr id="31" name="Text 6"/>
          <p:cNvSpPr/>
          <p:nvPr/>
        </p:nvSpPr>
        <p:spPr>
          <a:xfrm>
            <a:off x="1528690" y="6132103"/>
            <a:ext cx="6553303" cy="953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solidFill>
                  <a:srgbClr val="272525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Inter" pitchFamily="34" charset="-120"/>
              </a:rPr>
              <a:t>데이터 전송 주기 조절을 통해 게임 플레이에 집중 가능하도록 최적화 진행</a:t>
            </a:r>
            <a:endParaRPr lang="ko-KR" altLang="en-US" sz="2000" dirty="0">
              <a:solidFill>
                <a:srgbClr val="272525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  <a:cs typeface="Inter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93654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 smtClean="0"/>
              <a:t>참가자 및 출제자가 그린 그림이 공유가 되는 규칙을 정하고 구현하고 테스트 하는 과정에서 시행착오가 많았음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게임을 플레이하며</a:t>
            </a:r>
            <a:r>
              <a:rPr lang="en-US" altLang="ko-KR" dirty="0"/>
              <a:t> </a:t>
            </a:r>
            <a:r>
              <a:rPr lang="ko-KR" altLang="en-US" smtClean="0"/>
              <a:t>규칙을 업데이트 해나감</a:t>
            </a:r>
            <a:endParaRPr lang="en-US" altLang="ko-KR" dirty="0" smtClean="0"/>
          </a:p>
          <a:p>
            <a:r>
              <a:rPr lang="ko-KR" altLang="en-US" dirty="0" smtClean="0"/>
              <a:t>버그를 찾기 위한 게임 플레이에 소모되는 시간이 많음</a:t>
            </a:r>
            <a:endParaRPr lang="en-US" altLang="ko-KR" dirty="0" smtClean="0"/>
          </a:p>
          <a:p>
            <a:r>
              <a:rPr lang="ko-KR" altLang="en-US" dirty="0" smtClean="0"/>
              <a:t>버그 하나를 해결하면 이전에 해결한 버그가 다시 재현됨</a:t>
            </a:r>
            <a:endParaRPr lang="en-US" altLang="ko-KR" dirty="0" smtClean="0"/>
          </a:p>
          <a:p>
            <a:r>
              <a:rPr lang="ko-KR" altLang="en-US" dirty="0" smtClean="0"/>
              <a:t>교육 기간에 배운 내용을 프로젝트에 </a:t>
            </a:r>
            <a:r>
              <a:rPr lang="ko-KR" altLang="en-US" dirty="0" err="1" smtClean="0"/>
              <a:t>적용함으로서</a:t>
            </a:r>
            <a:r>
              <a:rPr lang="ko-KR" altLang="en-US" dirty="0" smtClean="0"/>
              <a:t> 복습이 되고 피와 살이 되고 기억에 잘 남음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아쉬운 점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하드웨어의 한계로 편한 </a:t>
            </a:r>
            <a:r>
              <a:rPr lang="ko-KR" altLang="en-US" dirty="0" err="1" smtClean="0"/>
              <a:t>터치감을</a:t>
            </a:r>
            <a:r>
              <a:rPr lang="ko-KR" altLang="en-US" dirty="0"/>
              <a:t> </a:t>
            </a:r>
            <a:r>
              <a:rPr lang="ko-KR" altLang="en-US" dirty="0" smtClean="0"/>
              <a:t>게임에 구현해내지 못함</a:t>
            </a:r>
            <a:endParaRPr lang="en-US" altLang="ko-KR" dirty="0" smtClean="0"/>
          </a:p>
          <a:p>
            <a:pPr lvl="1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6. </a:t>
            </a:r>
            <a:r>
              <a:rPr lang="ko-KR" altLang="en-US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프로젝트 수행 후기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8402821" y="49816"/>
            <a:ext cx="8323080" cy="130102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Tx/>
              <a:buChar char="-"/>
            </a:pPr>
            <a:r>
              <a:rPr lang="ko-KR" altLang="en-US" sz="2400" b="1" dirty="0">
                <a:solidFill>
                  <a:schemeClr val="tx1"/>
                </a:solidFill>
              </a:rPr>
              <a:t>프로젝트 수행에 따른 </a:t>
            </a:r>
            <a:r>
              <a:rPr lang="ko-KR" altLang="en-US" sz="2400" b="1" dirty="0" err="1">
                <a:solidFill>
                  <a:schemeClr val="tx1"/>
                </a:solidFill>
              </a:rPr>
              <a:t>느낀점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2400" b="1" dirty="0" err="1">
                <a:solidFill>
                  <a:schemeClr val="tx1"/>
                </a:solidFill>
              </a:rPr>
              <a:t>개발중</a:t>
            </a:r>
            <a:r>
              <a:rPr lang="ko-KR" altLang="en-US" sz="2400" b="1" dirty="0">
                <a:solidFill>
                  <a:schemeClr val="tx1"/>
                </a:solidFill>
              </a:rPr>
              <a:t> 어려웠던 점 그리고 이를 극복한 사연 등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2400" b="1" dirty="0">
                <a:solidFill>
                  <a:schemeClr val="tx1"/>
                </a:solidFill>
              </a:rPr>
              <a:t>교육과 프로젝트를 마무리한 소회 등</a:t>
            </a:r>
            <a:r>
              <a:rPr lang="en-US" altLang="ko-KR" sz="2400" b="1" dirty="0">
                <a:solidFill>
                  <a:schemeClr val="tx1"/>
                </a:solidFill>
              </a:rPr>
              <a:t>… 1</a:t>
            </a:r>
            <a:r>
              <a:rPr lang="ko-KR" altLang="en-US" sz="2400" b="1" dirty="0">
                <a:solidFill>
                  <a:schemeClr val="tx1"/>
                </a:solidFill>
              </a:rPr>
              <a:t>페이지로 정리 </a:t>
            </a:r>
          </a:p>
        </p:txBody>
      </p:sp>
    </p:spTree>
    <p:extLst>
      <p:ext uri="{BB962C8B-B14F-4D97-AF65-F5344CB8AC3E}">
        <p14:creationId xmlns:p14="http://schemas.microsoft.com/office/powerpoint/2010/main" val="3764778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0" y="1068779"/>
            <a:ext cx="17556163" cy="8807059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660111" y="3926399"/>
            <a:ext cx="224933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 smtClean="0">
                <a:solidFill>
                  <a:schemeClr val="bg1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감사합니다</a:t>
            </a:r>
            <a:r>
              <a:rPr lang="en-US" altLang="ko-KR" sz="3200" dirty="0" smtClean="0">
                <a:solidFill>
                  <a:schemeClr val="bg1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!</a:t>
            </a:r>
          </a:p>
          <a:p>
            <a:pPr algn="ctr"/>
            <a:endParaRPr lang="en-US" altLang="ko-KR" sz="3200" dirty="0">
              <a:solidFill>
                <a:schemeClr val="bg1"/>
              </a:solidFill>
              <a:latin typeface="LG스마트체2.0 Bold" panose="020B0600000101010101" pitchFamily="50" charset="-127"/>
              <a:ea typeface="LG스마트체2.0 Bold" panose="020B0600000101010101" pitchFamily="50" charset="-127"/>
            </a:endParaRPr>
          </a:p>
          <a:p>
            <a:pPr algn="ctr"/>
            <a:r>
              <a:rPr lang="en-US" altLang="ko-KR" sz="3200" dirty="0" smtClean="0">
                <a:solidFill>
                  <a:schemeClr val="bg1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Q&amp;A</a:t>
            </a:r>
            <a:endParaRPr lang="ko-KR" altLang="en-US" sz="3200">
              <a:solidFill>
                <a:schemeClr val="bg1"/>
              </a:solidFill>
              <a:latin typeface="LG스마트체2.0 Bold" panose="020B0600000101010101" pitchFamily="50" charset="-127"/>
              <a:ea typeface="LG스마트체2.0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65294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altLang="ko-KR" sz="19900" dirty="0" smtClean="0"/>
              <a:t>APPENDIX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0112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393700" y="177800"/>
            <a:ext cx="16560800" cy="9525000"/>
          </a:xfrm>
          <a:solidFill>
            <a:schemeClr val="bg1"/>
          </a:solidFill>
        </p:spPr>
        <p:txBody>
          <a:bodyPr/>
          <a:lstStyle/>
          <a:p>
            <a:r>
              <a:rPr lang="en-US" altLang="ko-KR" sz="1400" dirty="0"/>
              <a:t>===================================</a:t>
            </a:r>
          </a:p>
          <a:p>
            <a:r>
              <a:rPr lang="en-US" altLang="ko-KR" sz="1400" dirty="0"/>
              <a:t>MAC </a:t>
            </a:r>
            <a:r>
              <a:rPr lang="ko-KR" altLang="en-US" sz="1400"/>
              <a:t>주소 변경 방법</a:t>
            </a:r>
          </a:p>
          <a:p>
            <a:r>
              <a:rPr lang="en-US" altLang="ko-KR" sz="1400" dirty="0"/>
              <a:t>===================================</a:t>
            </a:r>
          </a:p>
          <a:p>
            <a:r>
              <a:rPr lang="en-US" altLang="ko-KR" sz="1400" dirty="0"/>
              <a:t>1. MAC </a:t>
            </a:r>
            <a:r>
              <a:rPr lang="ko-KR" altLang="en-US" sz="1400"/>
              <a:t>주소란 이더넷 장치의 하드웨어 주소임 </a:t>
            </a:r>
            <a:r>
              <a:rPr lang="en-US" altLang="ko-KR" sz="1400" dirty="0"/>
              <a:t>-&gt; </a:t>
            </a:r>
            <a:r>
              <a:rPr lang="ko-KR" altLang="en-US" sz="1400"/>
              <a:t>동일한 네트워크에서는 </a:t>
            </a:r>
            <a:r>
              <a:rPr lang="en-US" altLang="ko-KR" sz="1400" dirty="0"/>
              <a:t>IP </a:t>
            </a:r>
            <a:r>
              <a:rPr lang="ko-KR" altLang="en-US" sz="1400"/>
              <a:t>주소가 아니라 </a:t>
            </a:r>
            <a:r>
              <a:rPr lang="en-US" altLang="ko-KR" sz="1400" dirty="0"/>
              <a:t>MAC </a:t>
            </a:r>
            <a:r>
              <a:rPr lang="ko-KR" altLang="en-US" sz="1400"/>
              <a:t>주소를 이용하여 통신이 이루어짐</a:t>
            </a:r>
          </a:p>
          <a:p>
            <a:r>
              <a:rPr lang="en-US" altLang="ko-KR" sz="1400" dirty="0"/>
              <a:t>2. WT2837</a:t>
            </a:r>
            <a:r>
              <a:rPr lang="ko-KR" altLang="en-US" sz="1400"/>
              <a:t>은 </a:t>
            </a:r>
            <a:r>
              <a:rPr lang="en-US" altLang="ko-KR" sz="1400" dirty="0"/>
              <a:t>U-Boot</a:t>
            </a:r>
            <a:r>
              <a:rPr lang="ko-KR" altLang="en-US" sz="1400"/>
              <a:t>의 환경변수 </a:t>
            </a:r>
            <a:r>
              <a:rPr lang="en-US" altLang="ko-KR" sz="1400" dirty="0" err="1"/>
              <a:t>ethaddr</a:t>
            </a:r>
            <a:r>
              <a:rPr lang="ko-KR" altLang="en-US" sz="1400"/>
              <a:t>에 저장된 </a:t>
            </a:r>
            <a:r>
              <a:rPr lang="en-US" altLang="ko-KR" sz="1400" dirty="0"/>
              <a:t>MAC </a:t>
            </a:r>
            <a:r>
              <a:rPr lang="ko-KR" altLang="en-US" sz="1400"/>
              <a:t>주소를 커널이 받아서 사용함</a:t>
            </a:r>
          </a:p>
          <a:p>
            <a:r>
              <a:rPr lang="en-US" altLang="ko-KR" sz="1400" dirty="0"/>
              <a:t>3. </a:t>
            </a:r>
            <a:r>
              <a:rPr lang="ko-KR" altLang="en-US" sz="1400"/>
              <a:t>따라서 현재 커널이 부팅완료된 후 </a:t>
            </a:r>
            <a:r>
              <a:rPr lang="en-US" altLang="ko-KR" sz="1400" dirty="0"/>
              <a:t>MAC </a:t>
            </a:r>
            <a:r>
              <a:rPr lang="ko-KR" altLang="en-US" sz="1400"/>
              <a:t>주소를 보면 다음과 같이 모두 </a:t>
            </a:r>
            <a:r>
              <a:rPr lang="en-US" altLang="ko-KR" sz="1400" dirty="0"/>
              <a:t>B8:27:EB:9D:E5:C8 </a:t>
            </a:r>
            <a:r>
              <a:rPr lang="ko-KR" altLang="en-US" sz="1400"/>
              <a:t>로 되어 있음</a:t>
            </a:r>
          </a:p>
          <a:p>
            <a:endParaRPr lang="ko-KR" altLang="en-US" sz="1400" dirty="0"/>
          </a:p>
          <a:p>
            <a:r>
              <a:rPr lang="en-US" altLang="ko-KR" sz="1400" dirty="0"/>
              <a:t>root@WT2837:~# </a:t>
            </a:r>
            <a:r>
              <a:rPr lang="en-US" altLang="ko-KR" sz="1400" dirty="0" err="1"/>
              <a:t>ifconfig</a:t>
            </a:r>
            <a:r>
              <a:rPr lang="en-US" altLang="ko-KR" sz="1400" dirty="0"/>
              <a:t>                                                         </a:t>
            </a:r>
          </a:p>
          <a:p>
            <a:r>
              <a:rPr lang="en-US" altLang="ko-KR" sz="1400" dirty="0"/>
              <a:t>eth0      Link </a:t>
            </a:r>
            <a:r>
              <a:rPr lang="en-US" altLang="ko-KR" sz="1400" dirty="0" err="1"/>
              <a:t>encap:Ethernet</a:t>
            </a:r>
            <a:r>
              <a:rPr lang="en-US" altLang="ko-KR" sz="1400" dirty="0"/>
              <a:t>  </a:t>
            </a:r>
            <a:r>
              <a:rPr lang="en-US" altLang="ko-KR" sz="1400" dirty="0" err="1"/>
              <a:t>HWaddr</a:t>
            </a:r>
            <a:r>
              <a:rPr lang="en-US" altLang="ko-KR" sz="1400" dirty="0"/>
              <a:t> B8:27:EB:9D:E5:C8                         </a:t>
            </a:r>
          </a:p>
          <a:p>
            <a:r>
              <a:rPr lang="en-US" altLang="ko-KR" sz="1400" dirty="0"/>
              <a:t>          </a:t>
            </a:r>
            <a:r>
              <a:rPr lang="en-US" altLang="ko-KR" sz="1400" dirty="0" err="1"/>
              <a:t>inet</a:t>
            </a:r>
            <a:r>
              <a:rPr lang="en-US" altLang="ko-KR" sz="1400" dirty="0"/>
              <a:t> addr:192.168.10.3  Bcast:0.0.0.0  Mask:255.255.255.0             </a:t>
            </a:r>
          </a:p>
          <a:p>
            <a:r>
              <a:rPr lang="en-US" altLang="ko-KR" sz="1400" dirty="0"/>
              <a:t>          UP BROADCAST RUNNING MULTICAST  MTU:1500  Metric:1                    </a:t>
            </a:r>
          </a:p>
          <a:p>
            <a:r>
              <a:rPr lang="en-US" altLang="ko-KR" sz="1400" dirty="0"/>
              <a:t>          RX packets:37 errors:0 dropped:0 overruns:0 frame:0                   </a:t>
            </a:r>
          </a:p>
          <a:p>
            <a:r>
              <a:rPr lang="en-US" altLang="ko-KR" sz="1400" dirty="0"/>
              <a:t>          TX packets:31 errors:0 dropped:0 overruns:0 carrier:0                 </a:t>
            </a:r>
          </a:p>
          <a:p>
            <a:r>
              <a:rPr lang="en-US" altLang="ko-KR" sz="1400" dirty="0"/>
              <a:t>          collisions:0 txqueuelen:1000                                          </a:t>
            </a:r>
          </a:p>
          <a:p>
            <a:r>
              <a:rPr lang="en-US" altLang="ko-KR" sz="1400" dirty="0"/>
              <a:t>          RX bytes:3710 (3.6 KiB)  TX bytes:3334 (3.2 KiB) </a:t>
            </a:r>
          </a:p>
          <a:p>
            <a:r>
              <a:rPr lang="en-US" altLang="ko-KR" sz="1400" dirty="0"/>
              <a:t>		  </a:t>
            </a:r>
          </a:p>
          <a:p>
            <a:r>
              <a:rPr lang="en-US" altLang="ko-KR" sz="1400" dirty="0"/>
              <a:t>4. </a:t>
            </a:r>
            <a:r>
              <a:rPr lang="ko-KR" altLang="en-US" sz="1400"/>
              <a:t>동일한 네트워크에 있는 보드들의 </a:t>
            </a:r>
            <a:r>
              <a:rPr lang="en-US" altLang="ko-KR" sz="1400" dirty="0"/>
              <a:t>MAC </a:t>
            </a:r>
            <a:r>
              <a:rPr lang="ko-KR" altLang="en-US" sz="1400"/>
              <a:t>주소가 동일하면 통신이 안됨 </a:t>
            </a:r>
            <a:r>
              <a:rPr lang="en-US" altLang="ko-KR" sz="1400" dirty="0"/>
              <a:t>-&gt; </a:t>
            </a:r>
            <a:r>
              <a:rPr lang="ko-KR" altLang="en-US" sz="1400"/>
              <a:t>따라서 보드들의 </a:t>
            </a:r>
            <a:r>
              <a:rPr lang="en-US" altLang="ko-KR" sz="1400" dirty="0"/>
              <a:t>MAC </a:t>
            </a:r>
            <a:r>
              <a:rPr lang="ko-KR" altLang="en-US" sz="1400"/>
              <a:t>주소를 다르게 설정해야 함</a:t>
            </a:r>
          </a:p>
          <a:p>
            <a:endParaRPr lang="ko-KR" altLang="en-US" sz="1400" dirty="0"/>
          </a:p>
          <a:p>
            <a:r>
              <a:rPr lang="en-US" altLang="ko-KR" sz="1400" dirty="0"/>
              <a:t>5. WT2837 </a:t>
            </a:r>
            <a:r>
              <a:rPr lang="ko-KR" altLang="en-US" sz="1400"/>
              <a:t>보드의 </a:t>
            </a:r>
            <a:r>
              <a:rPr lang="en-US" altLang="ko-KR" sz="1400" dirty="0"/>
              <a:t>MAC </a:t>
            </a:r>
            <a:r>
              <a:rPr lang="ko-KR" altLang="en-US" sz="1400"/>
              <a:t>주소 변경 방법 </a:t>
            </a:r>
            <a:r>
              <a:rPr lang="en-US" altLang="ko-KR" sz="1400" dirty="0"/>
              <a:t>(U-Boot</a:t>
            </a:r>
            <a:r>
              <a:rPr lang="ko-KR" altLang="en-US" sz="1400"/>
              <a:t>에서 진행해야 함</a:t>
            </a:r>
            <a:r>
              <a:rPr lang="en-US" altLang="ko-KR" sz="1400" dirty="0"/>
              <a:t>)</a:t>
            </a:r>
          </a:p>
          <a:p>
            <a:r>
              <a:rPr lang="en-US" altLang="ko-KR" sz="1400" dirty="0" err="1"/>
              <a:t>setenv</a:t>
            </a:r>
            <a:r>
              <a:rPr lang="en-US" altLang="ko-KR" sz="1400" dirty="0"/>
              <a:t> -f </a:t>
            </a:r>
            <a:r>
              <a:rPr lang="en-US" altLang="ko-KR" sz="1400" dirty="0" err="1"/>
              <a:t>ethaddr</a:t>
            </a:r>
            <a:r>
              <a:rPr lang="en-US" altLang="ko-KR" sz="1400" dirty="0"/>
              <a:t> B8:27:EB:9D:E5:C9</a:t>
            </a:r>
          </a:p>
          <a:p>
            <a:r>
              <a:rPr lang="en-US" altLang="ko-KR" sz="1400" dirty="0" err="1"/>
              <a:t>saveenv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6. </a:t>
            </a:r>
            <a:r>
              <a:rPr lang="ko-KR" altLang="en-US" sz="1400"/>
              <a:t>예를 들어 보드가 </a:t>
            </a:r>
            <a:r>
              <a:rPr lang="en-US" altLang="ko-KR" sz="1400" dirty="0"/>
              <a:t>4</a:t>
            </a:r>
            <a:r>
              <a:rPr lang="ko-KR" altLang="en-US" sz="1400"/>
              <a:t>대인 경우 아래와 같이 </a:t>
            </a:r>
            <a:r>
              <a:rPr lang="en-US" altLang="ko-KR" sz="1400" dirty="0"/>
              <a:t>MAC </a:t>
            </a:r>
            <a:r>
              <a:rPr lang="ko-KR" altLang="en-US" sz="1400"/>
              <a:t>주소를 설정하면 됨</a:t>
            </a:r>
          </a:p>
          <a:p>
            <a:r>
              <a:rPr lang="ko-KR" altLang="en-US" sz="1400" dirty="0"/>
              <a:t>보드</a:t>
            </a:r>
            <a:r>
              <a:rPr lang="en-US" altLang="ko-KR" sz="1400" dirty="0"/>
              <a:t>1: B8:27:EB:9D:E5:C8</a:t>
            </a:r>
          </a:p>
          <a:p>
            <a:r>
              <a:rPr lang="ko-KR" altLang="en-US" sz="1400" dirty="0"/>
              <a:t>보드</a:t>
            </a:r>
            <a:r>
              <a:rPr lang="en-US" altLang="ko-KR" sz="1400" dirty="0"/>
              <a:t>2: B8:27:EB:9D:E5:C9</a:t>
            </a:r>
          </a:p>
          <a:p>
            <a:r>
              <a:rPr lang="ko-KR" altLang="en-US" sz="1400" dirty="0"/>
              <a:t>보드</a:t>
            </a:r>
            <a:r>
              <a:rPr lang="en-US" altLang="ko-KR" sz="1400" dirty="0"/>
              <a:t>3: B8:27:EB:9D:E5:CA</a:t>
            </a:r>
          </a:p>
          <a:p>
            <a:r>
              <a:rPr lang="ko-KR" altLang="en-US" sz="1400" dirty="0"/>
              <a:t>보드</a:t>
            </a:r>
            <a:r>
              <a:rPr lang="en-US" altLang="ko-KR" sz="1400" dirty="0"/>
              <a:t>4: B8:27:EB:9D:E5:CB</a:t>
            </a:r>
          </a:p>
          <a:p>
            <a:endParaRPr lang="en-US" altLang="ko-KR" sz="1400" dirty="0"/>
          </a:p>
          <a:p>
            <a:r>
              <a:rPr lang="en-US" altLang="ko-KR" sz="1400" dirty="0"/>
              <a:t>===================================</a:t>
            </a:r>
          </a:p>
          <a:p>
            <a:r>
              <a:rPr lang="en-US" altLang="ko-KR" sz="1400" dirty="0"/>
              <a:t>IP </a:t>
            </a:r>
            <a:r>
              <a:rPr lang="ko-KR" altLang="en-US" sz="1400"/>
              <a:t>주소 변경 방법</a:t>
            </a:r>
          </a:p>
          <a:p>
            <a:r>
              <a:rPr lang="en-US" altLang="ko-KR" sz="1400" dirty="0"/>
              <a:t>===================================</a:t>
            </a:r>
          </a:p>
          <a:p>
            <a:r>
              <a:rPr lang="en-US" altLang="ko-KR" sz="1400" dirty="0"/>
              <a:t>1. ~/work/</a:t>
            </a:r>
            <a:r>
              <a:rPr lang="en-US" altLang="ko-KR" sz="1400" dirty="0" err="1"/>
              <a:t>myrootfs</a:t>
            </a:r>
            <a:r>
              <a:rPr lang="en-US" altLang="ko-KR" sz="1400" dirty="0"/>
              <a:t>/</a:t>
            </a:r>
            <a:r>
              <a:rPr lang="en-US" altLang="ko-KR" sz="1400" dirty="0" err="1"/>
              <a:t>rootfs</a:t>
            </a:r>
            <a:r>
              <a:rPr lang="en-US" altLang="ko-KR" sz="1400" dirty="0"/>
              <a:t>/</a:t>
            </a:r>
            <a:r>
              <a:rPr lang="en-US" altLang="ko-KR" sz="1400" dirty="0" err="1"/>
              <a:t>etc</a:t>
            </a:r>
            <a:r>
              <a:rPr lang="en-US" altLang="ko-KR" sz="1400" dirty="0"/>
              <a:t>/network/interfaces</a:t>
            </a:r>
            <a:r>
              <a:rPr lang="ko-KR" altLang="en-US" sz="1400"/>
              <a:t>에서 </a:t>
            </a:r>
            <a:r>
              <a:rPr lang="en-US" altLang="ko-KR" sz="1400" dirty="0"/>
              <a:t>192.168.10.3</a:t>
            </a:r>
            <a:r>
              <a:rPr lang="ko-KR" altLang="en-US" sz="1400"/>
              <a:t>을 희망하는 </a:t>
            </a:r>
            <a:r>
              <a:rPr lang="en-US" altLang="ko-KR" sz="1400" dirty="0"/>
              <a:t>IP </a:t>
            </a:r>
            <a:r>
              <a:rPr lang="ko-KR" altLang="en-US" sz="1400"/>
              <a:t>주소로 변경 후 </a:t>
            </a:r>
            <a:r>
              <a:rPr lang="en-US" altLang="ko-KR" sz="1400" dirty="0"/>
              <a:t>ext2img.gz</a:t>
            </a:r>
            <a:r>
              <a:rPr lang="ko-KR" altLang="en-US" sz="1400"/>
              <a:t>을 새로 생성하고 </a:t>
            </a:r>
            <a:r>
              <a:rPr lang="en-US" altLang="ko-KR" sz="1400" dirty="0"/>
              <a:t>SD </a:t>
            </a:r>
            <a:r>
              <a:rPr lang="ko-KR" altLang="en-US" sz="1400"/>
              <a:t>카드에 구움</a:t>
            </a:r>
          </a:p>
          <a:p>
            <a:r>
              <a:rPr lang="en-US" altLang="ko-KR" sz="1400" dirty="0"/>
              <a:t>2. </a:t>
            </a:r>
            <a:r>
              <a:rPr lang="ko-KR" altLang="en-US" sz="1400"/>
              <a:t>보드 부팅 후 </a:t>
            </a:r>
            <a:r>
              <a:rPr lang="en-US" altLang="ko-KR" sz="1400" dirty="0" err="1"/>
              <a:t>ifconfig</a:t>
            </a:r>
            <a:r>
              <a:rPr lang="en-US" altLang="ko-KR" sz="1400" dirty="0"/>
              <a:t> </a:t>
            </a:r>
            <a:r>
              <a:rPr lang="ko-KR" altLang="en-US" sz="1400"/>
              <a:t>명령으로 변경된 </a:t>
            </a:r>
            <a:r>
              <a:rPr lang="en-US" altLang="ko-KR" sz="1400" dirty="0"/>
              <a:t>IP </a:t>
            </a:r>
            <a:r>
              <a:rPr lang="ko-KR" altLang="en-US" sz="1400"/>
              <a:t>주소 확인</a:t>
            </a:r>
          </a:p>
          <a:p>
            <a:endParaRPr lang="ko-KR" altLang="en-US" sz="1400" dirty="0"/>
          </a:p>
          <a:p>
            <a:r>
              <a:rPr lang="en-US" altLang="ko-KR" sz="1400" dirty="0"/>
              <a:t>===================================</a:t>
            </a:r>
          </a:p>
          <a:p>
            <a:r>
              <a:rPr lang="en-US" altLang="ko-KR" sz="1400" dirty="0"/>
              <a:t>telnet </a:t>
            </a:r>
            <a:r>
              <a:rPr lang="ko-KR" altLang="en-US" sz="1400"/>
              <a:t>접속 방법</a:t>
            </a:r>
          </a:p>
          <a:p>
            <a:r>
              <a:rPr lang="en-US" altLang="ko-KR" sz="1400" dirty="0"/>
              <a:t>===================================</a:t>
            </a:r>
          </a:p>
          <a:p>
            <a:r>
              <a:rPr lang="en-US" altLang="ko-KR" sz="1400" dirty="0"/>
              <a:t>1. </a:t>
            </a:r>
            <a:r>
              <a:rPr lang="ko-KR" altLang="en-US" sz="1400"/>
              <a:t>보드 부팅 후 </a:t>
            </a:r>
            <a:r>
              <a:rPr lang="en-US" altLang="ko-KR" sz="1400" dirty="0"/>
              <a:t>Ubuntu</a:t>
            </a:r>
            <a:r>
              <a:rPr lang="ko-KR" altLang="en-US" sz="1400"/>
              <a:t>에서 아래와 같이 명령</a:t>
            </a:r>
          </a:p>
          <a:p>
            <a:r>
              <a:rPr lang="en-US" altLang="ko-KR" sz="1400" dirty="0"/>
              <a:t>telnet </a:t>
            </a:r>
            <a:r>
              <a:rPr lang="en-US" altLang="ko-KR" sz="1400" dirty="0" smtClean="0"/>
              <a:t>192.168.10.3</a:t>
            </a:r>
          </a:p>
          <a:p>
            <a:r>
              <a:rPr lang="ko-KR" altLang="en-US" sz="1400" dirty="0"/>
              <a:t>root@WT2837:~# telnetd -F -l /bin/sh -p </a:t>
            </a:r>
            <a:r>
              <a:rPr lang="ko-KR" altLang="en-US" sz="1400" dirty="0" smtClean="0"/>
              <a:t>23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548557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0. </a:t>
            </a:r>
            <a:r>
              <a:rPr lang="ko-KR" altLang="en-US" sz="54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기획</a:t>
            </a:r>
            <a:endParaRPr lang="ko-KR" altLang="en-US" sz="5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01540" y="1926235"/>
            <a:ext cx="16410803" cy="784478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400" b="1" dirty="0" smtClean="0">
                <a:solidFill>
                  <a:schemeClr val="tx1"/>
                </a:solidFill>
              </a:rPr>
              <a:t>1. </a:t>
            </a:r>
            <a:r>
              <a:rPr lang="ko-KR" altLang="en-US" sz="2400" b="1" smtClean="0">
                <a:solidFill>
                  <a:schemeClr val="tx1"/>
                </a:solidFill>
              </a:rPr>
              <a:t>주제 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: </a:t>
            </a:r>
            <a:r>
              <a:rPr lang="ko-KR" altLang="en-US" sz="2400" b="1" smtClean="0">
                <a:solidFill>
                  <a:schemeClr val="tx1"/>
                </a:solidFill>
              </a:rPr>
              <a:t>캐치 </a:t>
            </a:r>
            <a:r>
              <a:rPr lang="ko-KR" altLang="en-US" sz="2400" b="1" dirty="0" smtClean="0">
                <a:solidFill>
                  <a:schemeClr val="tx1"/>
                </a:solidFill>
              </a:rPr>
              <a:t>마인드</a:t>
            </a:r>
            <a:endParaRPr lang="en-US" altLang="ko-KR" sz="2400" b="1" dirty="0" smtClean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2400" b="1" dirty="0" smtClean="0">
                <a:solidFill>
                  <a:schemeClr val="tx1"/>
                </a:solidFill>
              </a:rPr>
              <a:t>필요 인원 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3</a:t>
            </a:r>
            <a:r>
              <a:rPr lang="ko-KR" altLang="en-US" sz="2400" b="1" smtClean="0">
                <a:solidFill>
                  <a:schemeClr val="tx1"/>
                </a:solidFill>
              </a:rPr>
              <a:t>명 </a:t>
            </a:r>
            <a:r>
              <a:rPr lang="en-US" altLang="ko-KR" sz="2400" b="1" dirty="0">
                <a:solidFill>
                  <a:schemeClr val="tx1"/>
                </a:solidFill>
              </a:rPr>
              <a:t>(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1</a:t>
            </a:r>
            <a:r>
              <a:rPr lang="ko-KR" altLang="en-US" sz="2400" b="1" smtClean="0">
                <a:solidFill>
                  <a:schemeClr val="tx1"/>
                </a:solidFill>
              </a:rPr>
              <a:t>명 출제자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, 2</a:t>
            </a:r>
            <a:r>
              <a:rPr lang="ko-KR" altLang="en-US" sz="2400" b="1" smtClean="0">
                <a:solidFill>
                  <a:schemeClr val="tx1"/>
                </a:solidFill>
              </a:rPr>
              <a:t>명 참가자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)</a:t>
            </a:r>
          </a:p>
          <a:p>
            <a:endParaRPr lang="en-US" altLang="ko-KR" sz="2400" b="1" dirty="0" smtClean="0">
              <a:solidFill>
                <a:schemeClr val="tx1"/>
              </a:solidFill>
            </a:endParaRPr>
          </a:p>
          <a:p>
            <a:r>
              <a:rPr lang="en-US" altLang="ko-KR" sz="2400" b="1" dirty="0" smtClean="0">
                <a:solidFill>
                  <a:schemeClr val="tx1"/>
                </a:solidFill>
              </a:rPr>
              <a:t>2. </a:t>
            </a:r>
            <a:r>
              <a:rPr lang="ko-KR" altLang="en-US" sz="2400" b="1" smtClean="0">
                <a:solidFill>
                  <a:schemeClr val="tx1"/>
                </a:solidFill>
              </a:rPr>
              <a:t>게임 방식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ko-KR" sz="2000" dirty="0" smtClean="0">
                <a:solidFill>
                  <a:schemeClr val="tx1"/>
                </a:solidFill>
              </a:rPr>
              <a:t>3</a:t>
            </a:r>
            <a:r>
              <a:rPr lang="ko-KR" altLang="en-US" sz="2000" smtClean="0">
                <a:solidFill>
                  <a:schemeClr val="tx1"/>
                </a:solidFill>
              </a:rPr>
              <a:t>인 연결 </a:t>
            </a:r>
            <a:r>
              <a:rPr lang="en-US" altLang="ko-KR" sz="2000" dirty="0" smtClean="0">
                <a:solidFill>
                  <a:schemeClr val="tx1"/>
                </a:solidFill>
              </a:rPr>
              <a:t>– UDP </a:t>
            </a:r>
            <a:r>
              <a:rPr lang="ko-KR" altLang="en-US" sz="2000" smtClean="0">
                <a:solidFill>
                  <a:schemeClr val="tx1"/>
                </a:solidFill>
              </a:rPr>
              <a:t>통신</a:t>
            </a:r>
            <a:endParaRPr lang="en-US" altLang="ko-KR" sz="2000" dirty="0" smtClean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ko-KR" altLang="en-US" sz="2000" dirty="0" smtClean="0">
                <a:solidFill>
                  <a:schemeClr val="tx1"/>
                </a:solidFill>
              </a:rPr>
              <a:t>출제자</a:t>
            </a:r>
            <a:r>
              <a:rPr lang="en-US" altLang="ko-KR" sz="2000" dirty="0" smtClean="0">
                <a:solidFill>
                  <a:schemeClr val="tx1"/>
                </a:solidFill>
              </a:rPr>
              <a:t>, </a:t>
            </a:r>
            <a:r>
              <a:rPr lang="ko-KR" altLang="en-US" sz="2000" smtClean="0">
                <a:solidFill>
                  <a:schemeClr val="tx1"/>
                </a:solidFill>
              </a:rPr>
              <a:t>참가자 선택 </a:t>
            </a:r>
            <a:r>
              <a:rPr lang="en-US" altLang="ko-KR" sz="2000" dirty="0" smtClean="0">
                <a:solidFill>
                  <a:schemeClr val="tx1"/>
                </a:solidFill>
              </a:rPr>
              <a:t>– </a:t>
            </a:r>
            <a:r>
              <a:rPr lang="ko-KR" altLang="en-US" sz="2000" smtClean="0">
                <a:solidFill>
                  <a:schemeClr val="tx1"/>
                </a:solidFill>
              </a:rPr>
              <a:t>선착순</a:t>
            </a:r>
            <a:r>
              <a:rPr lang="en-US" altLang="ko-KR" sz="2000" dirty="0" smtClean="0">
                <a:solidFill>
                  <a:schemeClr val="tx1"/>
                </a:solidFill>
              </a:rPr>
              <a:t>? </a:t>
            </a:r>
            <a:r>
              <a:rPr lang="ko-KR" altLang="en-US" sz="2000" smtClean="0">
                <a:solidFill>
                  <a:schemeClr val="tx1"/>
                </a:solidFill>
              </a:rPr>
              <a:t>랜덤</a:t>
            </a:r>
            <a:r>
              <a:rPr lang="en-US" altLang="ko-KR" sz="2000" dirty="0" smtClean="0">
                <a:solidFill>
                  <a:schemeClr val="tx1"/>
                </a:solidFill>
              </a:rPr>
              <a:t>?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sz="2000" dirty="0" smtClean="0">
                <a:solidFill>
                  <a:schemeClr val="tx1"/>
                </a:solidFill>
              </a:rPr>
              <a:t>출제자가 </a:t>
            </a:r>
            <a:r>
              <a:rPr lang="ko-KR" altLang="en-US" sz="2000" dirty="0">
                <a:solidFill>
                  <a:schemeClr val="tx1"/>
                </a:solidFill>
              </a:rPr>
              <a:t>카테고리</a:t>
            </a:r>
            <a:r>
              <a:rPr lang="en-US" altLang="ko-KR" sz="2000" dirty="0">
                <a:solidFill>
                  <a:schemeClr val="tx1"/>
                </a:solidFill>
              </a:rPr>
              <a:t>&gt;</a:t>
            </a:r>
            <a:r>
              <a:rPr lang="ko-KR" altLang="en-US" sz="2000">
                <a:solidFill>
                  <a:schemeClr val="tx1"/>
                </a:solidFill>
              </a:rPr>
              <a:t>주제어 </a:t>
            </a:r>
            <a:r>
              <a:rPr lang="ko-KR" altLang="en-US" sz="2000" smtClean="0">
                <a:solidFill>
                  <a:schemeClr val="tx1"/>
                </a:solidFill>
              </a:rPr>
              <a:t>순서로 선택 </a:t>
            </a:r>
            <a:r>
              <a:rPr lang="en-US" altLang="ko-KR" sz="2000" dirty="0" smtClean="0">
                <a:solidFill>
                  <a:schemeClr val="tx1"/>
                </a:solidFill>
              </a:rPr>
              <a:t>– </a:t>
            </a:r>
            <a:r>
              <a:rPr lang="ko-KR" altLang="en-US" sz="2000" smtClean="0">
                <a:solidFill>
                  <a:schemeClr val="tx1"/>
                </a:solidFill>
              </a:rPr>
              <a:t>각 계층 별 </a:t>
            </a:r>
            <a:r>
              <a:rPr lang="en-US" altLang="ko-KR" sz="2000" dirty="0" smtClean="0">
                <a:solidFill>
                  <a:schemeClr val="tx1"/>
                </a:solidFill>
              </a:rPr>
              <a:t>4</a:t>
            </a:r>
            <a:r>
              <a:rPr lang="ko-KR" altLang="en-US" sz="2000" smtClean="0">
                <a:solidFill>
                  <a:schemeClr val="tx1"/>
                </a:solidFill>
              </a:rPr>
              <a:t>개씩 랜덤</a:t>
            </a:r>
            <a:endParaRPr lang="en-US" altLang="ko-KR" sz="2000" dirty="0" smtClean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ko-KR" altLang="en-US" sz="2000" dirty="0" smtClean="0">
                <a:solidFill>
                  <a:schemeClr val="tx1"/>
                </a:solidFill>
              </a:rPr>
              <a:t>출제자가 그림 그리기 시작 </a:t>
            </a:r>
            <a:r>
              <a:rPr lang="en-US" altLang="ko-KR" sz="2000" dirty="0" smtClean="0">
                <a:solidFill>
                  <a:schemeClr val="tx1"/>
                </a:solidFill>
              </a:rPr>
              <a:t>– BGM?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sz="2000" dirty="0" smtClean="0">
                <a:solidFill>
                  <a:schemeClr val="tx1"/>
                </a:solidFill>
              </a:rPr>
              <a:t>그리는 도중 참가자는 정답을 자신의 화면에 작성하여 제출</a:t>
            </a:r>
            <a:endParaRPr lang="ko-KR" altLang="en-US" sz="2000" dirty="0">
              <a:solidFill>
                <a:schemeClr val="tx1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solidFill>
                  <a:schemeClr val="tx1"/>
                </a:solidFill>
              </a:rPr>
              <a:t>화면에 글씨를 쓰고 버튼을 눌러 제출</a:t>
            </a:r>
            <a:r>
              <a:rPr lang="en-US" altLang="ko-KR" sz="2000" dirty="0" smtClean="0">
                <a:solidFill>
                  <a:schemeClr val="tx1"/>
                </a:solidFill>
              </a:rPr>
              <a:t>, </a:t>
            </a:r>
            <a:r>
              <a:rPr lang="ko-KR" altLang="en-US" sz="2000" smtClean="0">
                <a:solidFill>
                  <a:schemeClr val="tx1"/>
                </a:solidFill>
              </a:rPr>
              <a:t>제출 시 소리</a:t>
            </a:r>
            <a:endParaRPr lang="ko-KR" altLang="en-US" sz="2000" dirty="0">
              <a:solidFill>
                <a:schemeClr val="tx1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chemeClr val="tx1"/>
                </a:solidFill>
              </a:rPr>
              <a:t>제출 버튼 클릭 시 </a:t>
            </a:r>
            <a:r>
              <a:rPr lang="ko-KR" altLang="en-US" sz="2000" dirty="0" smtClean="0">
                <a:solidFill>
                  <a:schemeClr val="tx1"/>
                </a:solidFill>
              </a:rPr>
              <a:t>출제자 화면에 참가자 작성 답이 뜨도록 구성</a:t>
            </a:r>
            <a:endParaRPr lang="en-US" altLang="ko-KR" sz="2000" dirty="0" smtClean="0">
              <a:solidFill>
                <a:schemeClr val="tx1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solidFill>
                  <a:schemeClr val="tx1"/>
                </a:solidFill>
              </a:rPr>
              <a:t>참가자가 작성 중에는 다른 참가자는 작성되는 내용을 볼 수 없음</a:t>
            </a:r>
            <a:endParaRPr lang="en-US" altLang="ko-KR" sz="2000" dirty="0" smtClean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ko-KR" altLang="en-US" sz="2000" dirty="0" smtClean="0">
                <a:solidFill>
                  <a:schemeClr val="tx1"/>
                </a:solidFill>
              </a:rPr>
              <a:t>출제자는 확인 후 정답 판단</a:t>
            </a:r>
            <a:endParaRPr lang="en-US" altLang="ko-KR" sz="2000" dirty="0" smtClean="0">
              <a:solidFill>
                <a:schemeClr val="tx1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solidFill>
                  <a:schemeClr val="tx1"/>
                </a:solidFill>
              </a:rPr>
              <a:t>정답 판단은 </a:t>
            </a:r>
            <a:r>
              <a:rPr lang="ko-KR" altLang="en-US" sz="2000" dirty="0" err="1" smtClean="0">
                <a:solidFill>
                  <a:schemeClr val="tx1"/>
                </a:solidFill>
              </a:rPr>
              <a:t>버튼식</a:t>
            </a:r>
            <a:r>
              <a:rPr lang="en-US" altLang="ko-KR" sz="2000" dirty="0" smtClean="0">
                <a:solidFill>
                  <a:schemeClr val="tx1"/>
                </a:solidFill>
              </a:rPr>
              <a:t>, </a:t>
            </a:r>
            <a:r>
              <a:rPr lang="ko-KR" altLang="en-US" sz="2000" smtClean="0">
                <a:solidFill>
                  <a:schemeClr val="tx1"/>
                </a:solidFill>
              </a:rPr>
              <a:t>정답</a:t>
            </a:r>
            <a:r>
              <a:rPr lang="en-US" altLang="ko-KR" sz="2000" dirty="0" smtClean="0">
                <a:solidFill>
                  <a:schemeClr val="tx1"/>
                </a:solidFill>
              </a:rPr>
              <a:t>/</a:t>
            </a:r>
            <a:r>
              <a:rPr lang="ko-KR" altLang="en-US" sz="2000" smtClean="0">
                <a:solidFill>
                  <a:schemeClr val="tx1"/>
                </a:solidFill>
              </a:rPr>
              <a:t>오답 각각 소리</a:t>
            </a:r>
            <a:endParaRPr lang="en-US" altLang="ko-KR" sz="2000" dirty="0" smtClean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ko-KR" altLang="en-US" sz="2000" dirty="0" smtClean="0">
                <a:solidFill>
                  <a:schemeClr val="tx1"/>
                </a:solidFill>
              </a:rPr>
              <a:t>정답 시 다음 라운드 시작</a:t>
            </a:r>
            <a:endParaRPr lang="en-US" altLang="ko-KR" sz="2000" dirty="0" smtClean="0">
              <a:solidFill>
                <a:schemeClr val="tx1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solidFill>
                  <a:schemeClr val="tx1"/>
                </a:solidFill>
              </a:rPr>
              <a:t>맞춘 사람이 출제자가 되고</a:t>
            </a:r>
            <a:r>
              <a:rPr lang="en-US" altLang="ko-KR" sz="2000" dirty="0" smtClean="0">
                <a:solidFill>
                  <a:schemeClr val="tx1"/>
                </a:solidFill>
              </a:rPr>
              <a:t>, </a:t>
            </a:r>
            <a:r>
              <a:rPr lang="ko-KR" altLang="en-US" sz="2000" smtClean="0">
                <a:solidFill>
                  <a:schemeClr val="tx1"/>
                </a:solidFill>
              </a:rPr>
              <a:t>다시 주제어 선택 화면으로 전환</a:t>
            </a:r>
            <a:endParaRPr lang="en-US" altLang="ko-KR" sz="2000" dirty="0" smtClean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ko-KR" altLang="en-US" sz="2000" dirty="0" smtClean="0">
                <a:solidFill>
                  <a:schemeClr val="tx1"/>
                </a:solidFill>
              </a:rPr>
              <a:t>이후 반복</a:t>
            </a:r>
            <a:endParaRPr lang="en-US" altLang="ko-KR" sz="2000" dirty="0" smtClean="0">
              <a:solidFill>
                <a:schemeClr val="tx1"/>
              </a:solidFill>
            </a:endParaRPr>
          </a:p>
          <a:p>
            <a:endParaRPr lang="en-US" altLang="ko-KR" sz="2400" b="1" dirty="0" smtClean="0">
              <a:solidFill>
                <a:schemeClr val="tx1"/>
              </a:solidFill>
            </a:endParaRPr>
          </a:p>
          <a:p>
            <a:r>
              <a:rPr lang="ko-KR" altLang="en-US" sz="2400" b="1" dirty="0" err="1" smtClean="0">
                <a:solidFill>
                  <a:schemeClr val="tx1"/>
                </a:solidFill>
              </a:rPr>
              <a:t>걱정점</a:t>
            </a:r>
            <a:endParaRPr lang="en-US" altLang="ko-KR" sz="2400" b="1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b="1" dirty="0" smtClean="0">
                <a:solidFill>
                  <a:schemeClr val="tx1"/>
                </a:solidFill>
              </a:rPr>
              <a:t>3</a:t>
            </a:r>
            <a:r>
              <a:rPr lang="ko-KR" altLang="en-US" sz="2400" b="1" smtClean="0">
                <a:solidFill>
                  <a:schemeClr val="tx1"/>
                </a:solidFill>
              </a:rPr>
              <a:t>인 통신 방식</a:t>
            </a:r>
            <a:endParaRPr lang="en-US" altLang="ko-KR" sz="2400" b="1" dirty="0" smtClean="0">
              <a:solidFill>
                <a:schemeClr val="tx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solidFill>
                  <a:schemeClr val="tx1"/>
                </a:solidFill>
              </a:rPr>
              <a:t>허브 필요</a:t>
            </a:r>
            <a:r>
              <a:rPr lang="en-US" altLang="ko-KR" sz="2400" b="1" dirty="0">
                <a:solidFill>
                  <a:schemeClr val="tx1"/>
                </a:solidFill>
              </a:rPr>
              <a:t> 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– </a:t>
            </a:r>
            <a:r>
              <a:rPr lang="ko-KR" altLang="en-US" sz="2400" b="1" smtClean="0">
                <a:solidFill>
                  <a:schemeClr val="tx1"/>
                </a:solidFill>
              </a:rPr>
              <a:t>이더넷</a:t>
            </a:r>
            <a:endParaRPr lang="en-US" altLang="ko-KR" sz="2400" b="1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solidFill>
                  <a:schemeClr val="tx1"/>
                </a:solidFill>
              </a:rPr>
              <a:t>참가자 화면에서 출제자 화면 실시간 출력이 가능할까</a:t>
            </a:r>
            <a:endParaRPr lang="en-US" altLang="ko-KR" sz="2400" b="1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b="1" dirty="0" smtClean="0">
                <a:solidFill>
                  <a:schemeClr val="tx1"/>
                </a:solidFill>
              </a:rPr>
              <a:t>QT </a:t>
            </a:r>
            <a:r>
              <a:rPr lang="ko-KR" altLang="en-US" sz="2400" b="1" smtClean="0">
                <a:solidFill>
                  <a:schemeClr val="tx1"/>
                </a:solidFill>
              </a:rPr>
              <a:t>그림판 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– </a:t>
            </a:r>
            <a:r>
              <a:rPr lang="ko-KR" altLang="en-US" sz="2400" b="1" smtClean="0">
                <a:solidFill>
                  <a:schemeClr val="tx1"/>
                </a:solidFill>
              </a:rPr>
              <a:t>좌표식으로 정보를 전파하는 식으로</a:t>
            </a:r>
            <a:endParaRPr lang="en-US" altLang="ko-KR" sz="2400" b="1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solidFill>
                  <a:schemeClr val="tx1"/>
                </a:solidFill>
              </a:rPr>
              <a:t>점의 색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, </a:t>
            </a:r>
            <a:r>
              <a:rPr lang="ko-KR" altLang="en-US" sz="2400" b="1" smtClean="0">
                <a:solidFill>
                  <a:schemeClr val="tx1"/>
                </a:solidFill>
              </a:rPr>
              <a:t>크기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solidFill>
                  <a:schemeClr val="tx1"/>
                </a:solidFill>
              </a:rPr>
              <a:t>일정 시간마다 </a:t>
            </a:r>
            <a:r>
              <a:rPr lang="ko-KR" altLang="en-US" sz="2400" b="1" dirty="0" err="1" smtClean="0">
                <a:solidFill>
                  <a:schemeClr val="tx1"/>
                </a:solidFill>
              </a:rPr>
              <a:t>캡처를</a:t>
            </a:r>
            <a:r>
              <a:rPr lang="ko-KR" altLang="en-US" sz="2400" b="1" dirty="0" smtClean="0">
                <a:solidFill>
                  <a:schemeClr val="tx1"/>
                </a:solidFill>
              </a:rPr>
              <a:t> 전송하는 방식 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– 3fps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solidFill>
                  <a:schemeClr val="tx1"/>
                </a:solidFill>
              </a:rPr>
              <a:t>제한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 </a:t>
            </a:r>
            <a:r>
              <a:rPr lang="ko-KR" altLang="en-US" sz="2400" b="1" smtClean="0">
                <a:solidFill>
                  <a:schemeClr val="tx1"/>
                </a:solidFill>
              </a:rPr>
              <a:t>시간 표시 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– </a:t>
            </a:r>
            <a:r>
              <a:rPr lang="ko-KR" altLang="en-US" sz="2400" b="1" smtClean="0">
                <a:solidFill>
                  <a:schemeClr val="tx1"/>
                </a:solidFill>
              </a:rPr>
              <a:t>남은 시간이 적을 때 붉은 색으로 전환</a:t>
            </a:r>
            <a:endParaRPr lang="en-US" altLang="ko-KR" sz="2400" b="1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solidFill>
                  <a:schemeClr val="tx1"/>
                </a:solidFill>
              </a:rPr>
              <a:t>참가자 찬스 </a:t>
            </a:r>
            <a:endParaRPr lang="en-US" altLang="ko-KR" sz="2400" b="1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b="1" dirty="0" err="1" smtClean="0">
                <a:solidFill>
                  <a:schemeClr val="tx1"/>
                </a:solidFill>
              </a:rPr>
              <a:t>점수제</a:t>
            </a:r>
            <a:r>
              <a:rPr lang="ko-KR" altLang="en-US" sz="2400" b="1" dirty="0" smtClean="0">
                <a:solidFill>
                  <a:schemeClr val="tx1"/>
                </a:solidFill>
              </a:rPr>
              <a:t> 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– </a:t>
            </a:r>
            <a:r>
              <a:rPr lang="ko-KR" altLang="en-US" sz="2400" b="1" smtClean="0">
                <a:solidFill>
                  <a:schemeClr val="tx1"/>
                </a:solidFill>
              </a:rPr>
              <a:t>빨리 맞출때 출제자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, </a:t>
            </a:r>
            <a:r>
              <a:rPr lang="ko-KR" altLang="en-US" sz="2400" b="1" smtClean="0">
                <a:solidFill>
                  <a:schemeClr val="tx1"/>
                </a:solidFill>
              </a:rPr>
              <a:t>맞춘 참가자 점수 추가</a:t>
            </a:r>
            <a:endParaRPr lang="en-US" altLang="ko-KR" sz="2400" b="1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b="1" dirty="0" smtClean="0">
              <a:solidFill>
                <a:schemeClr val="tx1"/>
              </a:solidFill>
            </a:endParaRPr>
          </a:p>
          <a:p>
            <a:endParaRPr lang="ko-KR" altLang="en-US" sz="3200" b="1" dirty="0">
              <a:solidFill>
                <a:schemeClr val="tx1"/>
              </a:solidFill>
            </a:endParaRPr>
          </a:p>
        </p:txBody>
      </p:sp>
      <p:grpSp>
        <p:nvGrpSpPr>
          <p:cNvPr id="21" name="그룹 20"/>
          <p:cNvGrpSpPr/>
          <p:nvPr/>
        </p:nvGrpSpPr>
        <p:grpSpPr>
          <a:xfrm>
            <a:off x="11547566" y="2974770"/>
            <a:ext cx="4611188" cy="3517470"/>
            <a:chOff x="11547566" y="2974770"/>
            <a:chExt cx="4611188" cy="3517470"/>
          </a:xfrm>
        </p:grpSpPr>
        <p:grpSp>
          <p:nvGrpSpPr>
            <p:cNvPr id="16" name="그룹 15"/>
            <p:cNvGrpSpPr/>
            <p:nvPr/>
          </p:nvGrpSpPr>
          <p:grpSpPr>
            <a:xfrm>
              <a:off x="11547566" y="3566160"/>
              <a:ext cx="4611188" cy="2926080"/>
              <a:chOff x="11913326" y="5799909"/>
              <a:chExt cx="4611188" cy="2926080"/>
            </a:xfrm>
          </p:grpSpPr>
          <p:sp>
            <p:nvSpPr>
              <p:cNvPr id="6" name="직사각형 5"/>
              <p:cNvSpPr/>
              <p:nvPr/>
            </p:nvSpPr>
            <p:spPr>
              <a:xfrm>
                <a:off x="11913326" y="5799909"/>
                <a:ext cx="4611188" cy="2913017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/>
              </a:p>
            </p:txBody>
          </p:sp>
          <p:cxnSp>
            <p:nvCxnSpPr>
              <p:cNvPr id="8" name="직선 연결선 7"/>
              <p:cNvCxnSpPr/>
              <p:nvPr/>
            </p:nvCxnSpPr>
            <p:spPr>
              <a:xfrm>
                <a:off x="14218920" y="7256418"/>
                <a:ext cx="0" cy="146957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직선 연결선 11"/>
              <p:cNvCxnSpPr>
                <a:stCxn id="6" idx="3"/>
                <a:endCxn id="6" idx="1"/>
              </p:cNvCxnSpPr>
              <p:nvPr/>
            </p:nvCxnSpPr>
            <p:spPr>
              <a:xfrm flipH="1">
                <a:off x="11913326" y="7256418"/>
                <a:ext cx="461118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TextBox 16"/>
            <p:cNvSpPr txBox="1"/>
            <p:nvPr/>
          </p:nvSpPr>
          <p:spPr>
            <a:xfrm>
              <a:off x="11691258" y="2974770"/>
              <a:ext cx="14189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/>
                <a:t>화면 </a:t>
              </a:r>
              <a:r>
                <a:rPr lang="en-US" altLang="ko-KR" b="1" dirty="0" smtClean="0"/>
                <a:t>UI </a:t>
              </a:r>
              <a:r>
                <a:rPr lang="ko-KR" altLang="en-US" b="1" smtClean="0"/>
                <a:t>구성</a:t>
              </a:r>
              <a:endParaRPr lang="ko-KR" altLang="en-US" b="1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1691258" y="3703023"/>
              <a:ext cx="1483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/>
                <a:t>출제자</a:t>
              </a:r>
              <a:r>
                <a:rPr lang="en-US" altLang="ko-KR" b="1" dirty="0"/>
                <a:t>(</a:t>
              </a:r>
              <a:r>
                <a:rPr lang="ko-KR" altLang="en-US" b="1" smtClean="0"/>
                <a:t>점수</a:t>
              </a:r>
              <a:r>
                <a:rPr lang="en-US" altLang="ko-KR" b="1" dirty="0" smtClean="0"/>
                <a:t>)</a:t>
              </a:r>
              <a:endParaRPr lang="ko-KR" altLang="en-US" b="1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1575644" y="5159532"/>
              <a:ext cx="17059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/>
                <a:t>참가자 </a:t>
              </a:r>
              <a:r>
                <a:rPr lang="en-US" altLang="ko-KR" b="1" dirty="0" smtClean="0"/>
                <a:t>1</a:t>
              </a:r>
              <a:r>
                <a:rPr lang="en-US" altLang="ko-KR" b="1" dirty="0"/>
                <a:t> (</a:t>
              </a:r>
              <a:r>
                <a:rPr lang="ko-KR" altLang="en-US" b="1"/>
                <a:t>점수</a:t>
              </a:r>
              <a:r>
                <a:rPr lang="en-US" altLang="ko-KR" b="1" dirty="0"/>
                <a:t>)</a:t>
              </a:r>
              <a:endParaRPr lang="ko-KR" altLang="en-US" b="1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3958875" y="5159532"/>
              <a:ext cx="17059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smtClean="0"/>
                <a:t>참가자 </a:t>
              </a:r>
              <a:r>
                <a:rPr lang="en-US" altLang="ko-KR" b="1" dirty="0" smtClean="0"/>
                <a:t>2 </a:t>
              </a:r>
              <a:r>
                <a:rPr lang="en-US" altLang="ko-KR" b="1" dirty="0"/>
                <a:t>(</a:t>
              </a:r>
              <a:r>
                <a:rPr lang="ko-KR" altLang="en-US" b="1"/>
                <a:t>점수</a:t>
              </a:r>
              <a:r>
                <a:rPr lang="en-US" altLang="ko-KR" b="1" dirty="0"/>
                <a:t>)</a:t>
              </a:r>
              <a:endParaRPr lang="ko-KR" alt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589041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0. </a:t>
            </a:r>
            <a:r>
              <a:rPr lang="ko-KR" altLang="en-US" sz="54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기획</a:t>
            </a:r>
            <a:endParaRPr lang="ko-KR" altLang="en-US" sz="5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01540" y="1926235"/>
            <a:ext cx="16410803" cy="784478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3200" b="1" dirty="0" smtClean="0">
                <a:solidFill>
                  <a:schemeClr val="tx1"/>
                </a:solidFill>
              </a:rPr>
              <a:t>허브</a:t>
            </a:r>
            <a:r>
              <a:rPr lang="en-US" altLang="ko-KR" sz="3200" b="1" dirty="0" smtClean="0">
                <a:solidFill>
                  <a:schemeClr val="tx1"/>
                </a:solidFill>
              </a:rPr>
              <a:t> </a:t>
            </a:r>
          </a:p>
          <a:p>
            <a:r>
              <a:rPr lang="en-US" altLang="ko-KR" sz="3200" b="1" dirty="0" smtClean="0">
                <a:solidFill>
                  <a:schemeClr val="tx1"/>
                </a:solidFill>
              </a:rPr>
              <a:t>Id</a:t>
            </a:r>
            <a:r>
              <a:rPr lang="ko-KR" altLang="en-US" sz="3200" b="1" smtClean="0">
                <a:solidFill>
                  <a:schemeClr val="tx1"/>
                </a:solidFill>
              </a:rPr>
              <a:t> </a:t>
            </a:r>
            <a:r>
              <a:rPr lang="en-US" altLang="ko-KR" sz="3200" b="1" dirty="0" smtClean="0">
                <a:solidFill>
                  <a:schemeClr val="tx1"/>
                </a:solidFill>
              </a:rPr>
              <a:t>: LGE123456</a:t>
            </a:r>
          </a:p>
          <a:p>
            <a:r>
              <a:rPr lang="en-US" altLang="ko-KR" sz="3200" b="1" dirty="0" smtClean="0">
                <a:solidFill>
                  <a:schemeClr val="tx1"/>
                </a:solidFill>
              </a:rPr>
              <a:t>Pw : lge123456!</a:t>
            </a:r>
          </a:p>
          <a:p>
            <a:r>
              <a:rPr lang="en-US" altLang="ko-KR" sz="3200" b="1" dirty="0" smtClean="0">
                <a:solidFill>
                  <a:schemeClr val="tx1"/>
                </a:solidFill>
              </a:rPr>
              <a:t>IP : 192.168.0.188</a:t>
            </a:r>
          </a:p>
          <a:p>
            <a:endParaRPr lang="en-US" altLang="ko-KR" sz="3200" b="1" dirty="0">
              <a:solidFill>
                <a:schemeClr val="tx1"/>
              </a:solidFill>
            </a:endParaRPr>
          </a:p>
          <a:p>
            <a:endParaRPr lang="ko-KR" altLang="en-US" sz="3200" b="1" dirty="0">
              <a:solidFill>
                <a:schemeClr val="tx1"/>
              </a:solidFill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339146"/>
              </p:ext>
            </p:extLst>
          </p:nvPr>
        </p:nvGraphicFramePr>
        <p:xfrm>
          <a:off x="6060373" y="2577967"/>
          <a:ext cx="8778081" cy="2529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27"/>
                <a:gridCol w="2926027"/>
                <a:gridCol w="2926027"/>
              </a:tblGrid>
              <a:tr h="505922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 smtClean="0"/>
                        <a:t>IP</a:t>
                      </a:r>
                      <a:endParaRPr lang="ko-KR" altLang="en-US" sz="2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 smtClean="0"/>
                        <a:t>MAC</a:t>
                      </a:r>
                      <a:endParaRPr lang="ko-KR" altLang="en-US" sz="2400" b="1"/>
                    </a:p>
                  </a:txBody>
                  <a:tcPr anchor="ctr"/>
                </a:tc>
              </a:tr>
              <a:tr h="5059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 smtClean="0"/>
                        <a:t>경환</a:t>
                      </a:r>
                      <a:r>
                        <a:rPr lang="en-US" altLang="ko-KR" sz="2400" b="1" dirty="0" smtClean="0"/>
                        <a:t> PC</a:t>
                      </a:r>
                      <a:endParaRPr lang="ko-KR" altLang="en-US" sz="2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 smtClean="0">
                          <a:solidFill>
                            <a:schemeClr val="tx1"/>
                          </a:solidFill>
                        </a:rPr>
                        <a:t>192.168.10.2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/>
                    </a:p>
                  </a:txBody>
                  <a:tcPr anchor="ctr"/>
                </a:tc>
              </a:tr>
              <a:tr h="5059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 smtClean="0"/>
                        <a:t>보드 </a:t>
                      </a:r>
                      <a:r>
                        <a:rPr lang="en-US" altLang="ko-KR" sz="2400" b="1" dirty="0" smtClean="0"/>
                        <a:t>1</a:t>
                      </a:r>
                      <a:endParaRPr lang="ko-KR" altLang="en-US" sz="2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 smtClean="0">
                          <a:solidFill>
                            <a:schemeClr val="tx1"/>
                          </a:solidFill>
                        </a:rPr>
                        <a:t>192.168.10.3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 smtClean="0"/>
                        <a:t>B8:27:EB:9D:E5:C8</a:t>
                      </a:r>
                      <a:endParaRPr lang="ko-KR" altLang="en-US" sz="2400" b="1"/>
                    </a:p>
                  </a:txBody>
                  <a:tcPr anchor="ctr"/>
                </a:tc>
              </a:tr>
              <a:tr h="5059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smtClean="0"/>
                        <a:t>보드 </a:t>
                      </a:r>
                      <a:r>
                        <a:rPr lang="en-US" altLang="ko-KR" sz="2400" b="1" dirty="0" smtClean="0"/>
                        <a:t>2</a:t>
                      </a:r>
                      <a:endParaRPr lang="ko-KR" altLang="en-US" sz="2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 smtClean="0">
                          <a:solidFill>
                            <a:schemeClr val="tx1"/>
                          </a:solidFill>
                        </a:rPr>
                        <a:t>192.168.10.4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 smtClean="0"/>
                        <a:t>B8:27:EB:9D:E5:C9</a:t>
                      </a:r>
                      <a:endParaRPr lang="ko-KR" altLang="en-US" sz="2400" b="1"/>
                    </a:p>
                  </a:txBody>
                  <a:tcPr anchor="ctr"/>
                </a:tc>
              </a:tr>
              <a:tr h="5059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 smtClean="0"/>
                        <a:t>보드 </a:t>
                      </a:r>
                      <a:r>
                        <a:rPr lang="en-US" altLang="ko-KR" sz="2400" b="1" dirty="0" smtClean="0"/>
                        <a:t>3</a:t>
                      </a:r>
                      <a:endParaRPr lang="ko-KR" altLang="en-US" sz="2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 smtClean="0">
                          <a:solidFill>
                            <a:schemeClr val="tx1"/>
                          </a:solidFill>
                        </a:rPr>
                        <a:t>192.168.10.5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 smtClean="0"/>
                        <a:t>B8:27:EB:9D:E5:CA</a:t>
                      </a:r>
                      <a:endParaRPr lang="ko-KR" altLang="en-US" sz="2400" b="1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7622443" y="5416103"/>
            <a:ext cx="42691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root@WT2837:~# telnetd -F -l /bin/sh -p 23</a:t>
            </a:r>
          </a:p>
        </p:txBody>
      </p:sp>
    </p:spTree>
    <p:extLst>
      <p:ext uri="{BB962C8B-B14F-4D97-AF65-F5344CB8AC3E}">
        <p14:creationId xmlns:p14="http://schemas.microsoft.com/office/powerpoint/2010/main" val="1752568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0. </a:t>
            </a:r>
            <a:r>
              <a:rPr lang="ko-KR" altLang="en-US" sz="54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기획</a:t>
            </a:r>
            <a:r>
              <a:rPr lang="en-US" altLang="ko-KR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(260416)</a:t>
            </a:r>
            <a:endParaRPr lang="ko-KR" altLang="en-US" sz="5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01540" y="1561514"/>
            <a:ext cx="16410803" cy="820950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2400" b="1" dirty="0" smtClean="0">
                <a:solidFill>
                  <a:schemeClr val="tx1"/>
                </a:solidFill>
              </a:rPr>
              <a:t>초안 만들기 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– </a:t>
            </a:r>
            <a:r>
              <a:rPr lang="ko-KR" altLang="en-US" sz="2400" b="1" smtClean="0">
                <a:solidFill>
                  <a:schemeClr val="tx1"/>
                </a:solidFill>
              </a:rPr>
              <a:t>소리 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, </a:t>
            </a:r>
            <a:r>
              <a:rPr lang="ko-KR" altLang="en-US" sz="2400" b="1" smtClean="0">
                <a:solidFill>
                  <a:schemeClr val="tx1"/>
                </a:solidFill>
              </a:rPr>
              <a:t>이미지 굳이 필요 없음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. </a:t>
            </a:r>
            <a:r>
              <a:rPr lang="ko-KR" altLang="en-US" sz="2400" b="1" smtClean="0">
                <a:solidFill>
                  <a:schemeClr val="tx1"/>
                </a:solidFill>
              </a:rPr>
              <a:t>오로지 기능 위주 구현</a:t>
            </a:r>
            <a:endParaRPr lang="en-US" altLang="ko-KR" sz="2400" b="1" dirty="0" smtClean="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altLang="ko-KR" sz="2400" b="1" dirty="0" smtClean="0">
                <a:solidFill>
                  <a:schemeClr val="tx1"/>
                </a:solidFill>
              </a:rPr>
              <a:t>UDP </a:t>
            </a:r>
            <a:r>
              <a:rPr lang="ko-KR" altLang="en-US" sz="2400" b="1" smtClean="0">
                <a:solidFill>
                  <a:schemeClr val="tx1"/>
                </a:solidFill>
              </a:rPr>
              <a:t>통신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(</a:t>
            </a:r>
            <a:r>
              <a:rPr lang="ko-KR" altLang="en-US" sz="2400" b="1" smtClean="0">
                <a:solidFill>
                  <a:schemeClr val="tx1"/>
                </a:solidFill>
              </a:rPr>
              <a:t>완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)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ko-KR" altLang="en-US" sz="2400" b="1" dirty="0" smtClean="0">
                <a:solidFill>
                  <a:schemeClr val="tx1"/>
                </a:solidFill>
              </a:rPr>
              <a:t>그림 그렸을 때 동기화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(</a:t>
            </a:r>
            <a:r>
              <a:rPr lang="ko-KR" altLang="en-US" sz="2400" b="1" smtClean="0">
                <a:solidFill>
                  <a:schemeClr val="tx1"/>
                </a:solidFill>
              </a:rPr>
              <a:t>완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)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ko-KR" altLang="en-US" sz="2400" b="1" dirty="0" smtClean="0">
                <a:solidFill>
                  <a:schemeClr val="tx1"/>
                </a:solidFill>
              </a:rPr>
              <a:t>발표 자료 초안 만들기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(</a:t>
            </a:r>
            <a:r>
              <a:rPr lang="ko-KR" altLang="en-US" sz="2400" b="1" smtClean="0">
                <a:solidFill>
                  <a:schemeClr val="tx1"/>
                </a:solidFill>
              </a:rPr>
              <a:t>완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)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altLang="ko-KR" sz="2400" b="1" dirty="0">
                <a:solidFill>
                  <a:schemeClr val="tx1"/>
                </a:solidFill>
              </a:rPr>
              <a:t>Linux 6.12.81 </a:t>
            </a:r>
            <a:r>
              <a:rPr lang="ko-KR" altLang="en-US" sz="2400" b="1">
                <a:solidFill>
                  <a:schemeClr val="tx1"/>
                </a:solidFill>
              </a:rPr>
              <a:t>이미지 </a:t>
            </a:r>
            <a:r>
              <a:rPr lang="ko-KR" altLang="en-US" sz="2400" b="1" smtClean="0">
                <a:solidFill>
                  <a:schemeClr val="tx1"/>
                </a:solidFill>
              </a:rPr>
              <a:t>배포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(</a:t>
            </a:r>
            <a:r>
              <a:rPr lang="ko-KR" altLang="en-US" sz="2400" b="1" smtClean="0">
                <a:solidFill>
                  <a:schemeClr val="tx1"/>
                </a:solidFill>
              </a:rPr>
              <a:t>완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)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ko-KR" altLang="en-US" sz="2400" b="1" dirty="0">
                <a:solidFill>
                  <a:schemeClr val="tx1"/>
                </a:solidFill>
              </a:rPr>
              <a:t>참가자</a:t>
            </a:r>
            <a:r>
              <a:rPr lang="en-US" altLang="ko-KR" sz="2400" b="1" dirty="0">
                <a:solidFill>
                  <a:schemeClr val="tx1"/>
                </a:solidFill>
              </a:rPr>
              <a:t>, </a:t>
            </a:r>
            <a:r>
              <a:rPr lang="ko-KR" altLang="en-US" sz="2400" b="1">
                <a:solidFill>
                  <a:schemeClr val="tx1"/>
                </a:solidFill>
              </a:rPr>
              <a:t>출제자 </a:t>
            </a:r>
            <a:r>
              <a:rPr lang="ko-KR" altLang="en-US" sz="2400" b="1" smtClean="0">
                <a:solidFill>
                  <a:schemeClr val="tx1"/>
                </a:solidFill>
              </a:rPr>
              <a:t>전환 기능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(</a:t>
            </a:r>
            <a:r>
              <a:rPr lang="ko-KR" altLang="en-US" sz="2400" b="1" smtClean="0">
                <a:solidFill>
                  <a:schemeClr val="tx1"/>
                </a:solidFill>
              </a:rPr>
              <a:t>완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)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ko-KR" altLang="en-US" sz="2400" b="1" dirty="0">
                <a:solidFill>
                  <a:schemeClr val="tx1"/>
                </a:solidFill>
              </a:rPr>
              <a:t>가끔 선택화면에서 선택 </a:t>
            </a:r>
            <a:r>
              <a:rPr lang="ko-KR" altLang="en-US" sz="2400" b="1" dirty="0" err="1">
                <a:solidFill>
                  <a:schemeClr val="tx1"/>
                </a:solidFill>
              </a:rPr>
              <a:t>안했는데</a:t>
            </a:r>
            <a:r>
              <a:rPr lang="ko-KR" altLang="en-US" sz="2400" b="1" dirty="0">
                <a:solidFill>
                  <a:schemeClr val="tx1"/>
                </a:solidFill>
              </a:rPr>
              <a:t> 넘어감 </a:t>
            </a:r>
            <a:r>
              <a:rPr lang="en-US" altLang="ko-KR" sz="2400" b="1" dirty="0">
                <a:solidFill>
                  <a:schemeClr val="tx1"/>
                </a:solidFill>
              </a:rPr>
              <a:t>– </a:t>
            </a:r>
            <a:r>
              <a:rPr lang="ko-KR" altLang="en-US" sz="2400" b="1">
                <a:solidFill>
                  <a:schemeClr val="tx1"/>
                </a:solidFill>
              </a:rPr>
              <a:t>터치 버퍼가 남아있음</a:t>
            </a:r>
            <a:r>
              <a:rPr lang="en-US" altLang="ko-KR" sz="2400" b="1" dirty="0">
                <a:solidFill>
                  <a:schemeClr val="tx1"/>
                </a:solidFill>
              </a:rPr>
              <a:t>. </a:t>
            </a:r>
            <a:r>
              <a:rPr lang="ko-KR" altLang="en-US" sz="2400" b="1">
                <a:solidFill>
                  <a:schemeClr val="tx1"/>
                </a:solidFill>
              </a:rPr>
              <a:t>확인창</a:t>
            </a:r>
            <a:r>
              <a:rPr lang="en-US" altLang="ko-KR" sz="2400" b="1" dirty="0">
                <a:solidFill>
                  <a:schemeClr val="tx1"/>
                </a:solidFill>
              </a:rPr>
              <a:t> </a:t>
            </a:r>
            <a:r>
              <a:rPr lang="ko-KR" altLang="en-US" sz="2400" b="1" smtClean="0">
                <a:solidFill>
                  <a:schemeClr val="tx1"/>
                </a:solidFill>
              </a:rPr>
              <a:t>생성하자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(</a:t>
            </a:r>
            <a:r>
              <a:rPr lang="ko-KR" altLang="en-US" sz="2400" b="1" smtClean="0">
                <a:solidFill>
                  <a:schemeClr val="tx1"/>
                </a:solidFill>
              </a:rPr>
              <a:t>완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)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en-US" altLang="ko-KR" sz="2400" b="1" dirty="0" smtClean="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ko-KR" altLang="en-US" sz="2400" b="1" dirty="0" smtClean="0">
                <a:solidFill>
                  <a:schemeClr val="tx1"/>
                </a:solidFill>
              </a:rPr>
              <a:t>참가자가 자기의 화면을 알 수 있도록 표시</a:t>
            </a:r>
            <a:r>
              <a:rPr lang="en-US" altLang="ko-KR" sz="2400" b="1" dirty="0">
                <a:solidFill>
                  <a:schemeClr val="tx1"/>
                </a:solidFill>
              </a:rPr>
              <a:t>?</a:t>
            </a:r>
            <a:endParaRPr lang="en-US" altLang="ko-KR" sz="2400" b="1" dirty="0" smtClean="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ko-KR" altLang="en-US" sz="2400" b="1" dirty="0" smtClean="0">
                <a:solidFill>
                  <a:schemeClr val="tx1"/>
                </a:solidFill>
              </a:rPr>
              <a:t>지우개 기능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altLang="ko-KR" sz="2400" b="1" dirty="0" smtClean="0">
                <a:solidFill>
                  <a:schemeClr val="tx1"/>
                </a:solidFill>
              </a:rPr>
              <a:t>telnet </a:t>
            </a:r>
            <a:r>
              <a:rPr lang="ko-KR" altLang="en-US" sz="2400" b="1" smtClean="0">
                <a:solidFill>
                  <a:schemeClr val="tx1"/>
                </a:solidFill>
              </a:rPr>
              <a:t>끊기는 경우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.. -&gt; </a:t>
            </a:r>
            <a:r>
              <a:rPr lang="ko-KR" altLang="en-US" sz="2400" b="1" smtClean="0">
                <a:solidFill>
                  <a:schemeClr val="tx1"/>
                </a:solidFill>
              </a:rPr>
              <a:t>잘 안생기는 경우 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-&gt; </a:t>
            </a:r>
            <a:r>
              <a:rPr lang="ko-KR" altLang="en-US" sz="2400" b="1" smtClean="0">
                <a:solidFill>
                  <a:schemeClr val="tx1"/>
                </a:solidFill>
              </a:rPr>
              <a:t>재발생 시 강사님께 말씀드리자</a:t>
            </a:r>
            <a:endParaRPr lang="en-US" altLang="ko-KR" sz="2400" b="1" dirty="0" smtClean="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ko-KR" altLang="en-US" sz="2400" b="1" dirty="0" smtClean="0">
                <a:solidFill>
                  <a:schemeClr val="tx1"/>
                </a:solidFill>
              </a:rPr>
              <a:t>일정 시간 못 맞추면 힌트로 카테고리 출력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endParaRPr lang="en-US" altLang="ko-KR" sz="3200" b="1" dirty="0" smtClean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endParaRPr lang="en-US" altLang="ko-KR" sz="3200" b="1" dirty="0" smtClean="0">
              <a:solidFill>
                <a:schemeClr val="tx1"/>
              </a:solidFill>
            </a:endParaRPr>
          </a:p>
          <a:p>
            <a:endParaRPr lang="en-US" altLang="ko-KR" sz="3200" b="1" dirty="0" smtClean="0">
              <a:solidFill>
                <a:schemeClr val="tx1"/>
              </a:solidFill>
            </a:endParaRPr>
          </a:p>
          <a:p>
            <a:endParaRPr lang="en-US" altLang="ko-KR" sz="3200" b="1" dirty="0" smtClean="0">
              <a:solidFill>
                <a:schemeClr val="tx1"/>
              </a:solidFill>
            </a:endParaRPr>
          </a:p>
          <a:p>
            <a:endParaRPr lang="ko-KR" altLang="en-US" sz="3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0631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8857633" y="1561514"/>
            <a:ext cx="7743960" cy="86536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구현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>
                <a:solidFill>
                  <a:schemeClr val="tx1"/>
                </a:solidFill>
              </a:rPr>
              <a:t>참가자 </a:t>
            </a:r>
            <a:r>
              <a:rPr lang="en-US" altLang="ko-KR" b="1" dirty="0">
                <a:solidFill>
                  <a:schemeClr val="tx1"/>
                </a:solidFill>
              </a:rPr>
              <a:t>1</a:t>
            </a:r>
            <a:r>
              <a:rPr lang="ko-KR" altLang="en-US" b="1">
                <a:solidFill>
                  <a:schemeClr val="tx1"/>
                </a:solidFill>
              </a:rPr>
              <a:t>이 제출한 상태에서 참가자 </a:t>
            </a:r>
            <a:r>
              <a:rPr lang="en-US" altLang="ko-KR" b="1" dirty="0">
                <a:solidFill>
                  <a:schemeClr val="tx1"/>
                </a:solidFill>
              </a:rPr>
              <a:t>2</a:t>
            </a:r>
            <a:r>
              <a:rPr lang="ko-KR" altLang="en-US" b="1">
                <a:solidFill>
                  <a:schemeClr val="tx1"/>
                </a:solidFill>
              </a:rPr>
              <a:t>가 제출하고 </a:t>
            </a:r>
            <a:r>
              <a:rPr lang="en-US" altLang="ko-KR" b="1" dirty="0">
                <a:solidFill>
                  <a:schemeClr val="tx1"/>
                </a:solidFill>
              </a:rPr>
              <a:t>NG </a:t>
            </a:r>
            <a:r>
              <a:rPr lang="ko-KR" altLang="en-US" b="1">
                <a:solidFill>
                  <a:schemeClr val="tx1"/>
                </a:solidFill>
              </a:rPr>
              <a:t>터치하면 참가자 </a:t>
            </a:r>
            <a:r>
              <a:rPr lang="en-US" altLang="ko-KR" b="1" dirty="0">
                <a:solidFill>
                  <a:schemeClr val="tx1"/>
                </a:solidFill>
              </a:rPr>
              <a:t>2</a:t>
            </a:r>
            <a:r>
              <a:rPr lang="ko-KR" altLang="en-US" b="1">
                <a:solidFill>
                  <a:schemeClr val="tx1"/>
                </a:solidFill>
              </a:rPr>
              <a:t>가 </a:t>
            </a:r>
            <a:r>
              <a:rPr lang="ko-KR" altLang="en-US" b="1" smtClean="0">
                <a:solidFill>
                  <a:schemeClr val="tx1"/>
                </a:solidFill>
              </a:rPr>
              <a:t>끊김</a:t>
            </a:r>
            <a:r>
              <a:rPr lang="en-US" altLang="ko-KR" b="1" dirty="0">
                <a:solidFill>
                  <a:schemeClr val="tx1"/>
                </a:solidFill>
              </a:rPr>
              <a:t/>
            </a:r>
            <a:br>
              <a:rPr lang="en-US" altLang="ko-KR" b="1" dirty="0">
                <a:solidFill>
                  <a:schemeClr val="tx1"/>
                </a:solidFill>
              </a:rPr>
            </a:br>
            <a:r>
              <a:rPr lang="ko-KR" altLang="en-US" b="1" smtClean="0">
                <a:solidFill>
                  <a:schemeClr val="tx1"/>
                </a:solidFill>
              </a:rPr>
              <a:t>참가자 </a:t>
            </a:r>
            <a:r>
              <a:rPr lang="en-US" altLang="ko-KR" b="1" dirty="0" smtClean="0">
                <a:solidFill>
                  <a:schemeClr val="tx1"/>
                </a:solidFill>
              </a:rPr>
              <a:t>1</a:t>
            </a:r>
            <a:r>
              <a:rPr lang="ko-KR" altLang="en-US" b="1" smtClean="0">
                <a:solidFill>
                  <a:schemeClr val="tx1"/>
                </a:solidFill>
              </a:rPr>
              <a:t>이 제출한 상태에서 참가자 </a:t>
            </a:r>
            <a:r>
              <a:rPr lang="en-US" altLang="ko-KR" b="1" dirty="0" smtClean="0">
                <a:solidFill>
                  <a:schemeClr val="tx1"/>
                </a:solidFill>
              </a:rPr>
              <a:t>2</a:t>
            </a:r>
            <a:r>
              <a:rPr lang="ko-KR" altLang="en-US" b="1" smtClean="0">
                <a:solidFill>
                  <a:schemeClr val="tx1"/>
                </a:solidFill>
              </a:rPr>
              <a:t>가 제출 못하도록 원복하자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6.12.81 </a:t>
            </a:r>
            <a:r>
              <a:rPr lang="ko-KR" altLang="en-US" b="1" smtClean="0">
                <a:solidFill>
                  <a:schemeClr val="tx1"/>
                </a:solidFill>
              </a:rPr>
              <a:t>리눅스 </a:t>
            </a:r>
            <a:r>
              <a:rPr lang="ko-KR" altLang="en-US" b="1" dirty="0" err="1" smtClean="0">
                <a:solidFill>
                  <a:schemeClr val="tx1"/>
                </a:solidFill>
              </a:rPr>
              <a:t>커널</a:t>
            </a:r>
            <a:r>
              <a:rPr lang="ko-KR" altLang="en-US" b="1" dirty="0" smtClean="0">
                <a:solidFill>
                  <a:schemeClr val="tx1"/>
                </a:solidFill>
              </a:rPr>
              <a:t> 이미지 </a:t>
            </a:r>
            <a:r>
              <a:rPr lang="ko-KR" altLang="en-US" b="1" smtClean="0">
                <a:solidFill>
                  <a:schemeClr val="tx1"/>
                </a:solidFill>
              </a:rPr>
              <a:t>보드에 업로드 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참가자</a:t>
            </a:r>
            <a:r>
              <a:rPr lang="en-US" altLang="ko-KR" b="1" dirty="0" smtClean="0">
                <a:solidFill>
                  <a:schemeClr val="tx1"/>
                </a:solidFill>
              </a:rPr>
              <a:t>/</a:t>
            </a:r>
            <a:r>
              <a:rPr lang="ko-KR" altLang="en-US" b="1" smtClean="0">
                <a:solidFill>
                  <a:schemeClr val="tx1"/>
                </a:solidFill>
              </a:rPr>
              <a:t>출제자 화면에 </a:t>
            </a:r>
            <a:r>
              <a:rPr lang="ko-KR" altLang="en-US" b="1" dirty="0" smtClean="0">
                <a:solidFill>
                  <a:schemeClr val="tx1"/>
                </a:solidFill>
              </a:rPr>
              <a:t>지우개 기능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음악 </a:t>
            </a:r>
            <a:r>
              <a:rPr lang="ko-KR" altLang="en-US" b="1" dirty="0" err="1" smtClean="0">
                <a:solidFill>
                  <a:schemeClr val="tx1"/>
                </a:solidFill>
              </a:rPr>
              <a:t>싱크</a:t>
            </a:r>
            <a:r>
              <a:rPr lang="ko-KR" altLang="en-US" b="1" dirty="0" smtClean="0">
                <a:solidFill>
                  <a:schemeClr val="tx1"/>
                </a:solidFill>
              </a:rPr>
              <a:t> 맞추기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일정 </a:t>
            </a:r>
            <a:r>
              <a:rPr lang="ko-KR" altLang="en-US" b="1" dirty="0">
                <a:solidFill>
                  <a:schemeClr val="tx1"/>
                </a:solidFill>
              </a:rPr>
              <a:t>시간 못 맞추면 힌트로 카테고리 </a:t>
            </a:r>
            <a:r>
              <a:rPr lang="ko-KR" altLang="en-US" b="1" dirty="0" smtClean="0">
                <a:solidFill>
                  <a:schemeClr val="tx1"/>
                </a:solidFill>
              </a:rPr>
              <a:t>출력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UI </a:t>
            </a:r>
            <a:r>
              <a:rPr lang="ko-KR" altLang="en-US" b="1" smtClean="0">
                <a:solidFill>
                  <a:schemeClr val="tx1"/>
                </a:solidFill>
              </a:rPr>
              <a:t>화면 추가</a:t>
            </a:r>
            <a:r>
              <a:rPr lang="en-US" altLang="ko-KR" b="1" dirty="0" smtClean="0">
                <a:solidFill>
                  <a:schemeClr val="tx1"/>
                </a:solidFill>
              </a:rPr>
              <a:t>(</a:t>
            </a:r>
            <a:r>
              <a:rPr lang="ko-KR" altLang="en-US" b="1" smtClean="0">
                <a:solidFill>
                  <a:schemeClr val="tx1"/>
                </a:solidFill>
              </a:rPr>
              <a:t>게임 시작 화면</a:t>
            </a:r>
            <a:r>
              <a:rPr lang="en-US" altLang="ko-KR" b="1" dirty="0" smtClean="0">
                <a:solidFill>
                  <a:schemeClr val="tx1"/>
                </a:solidFill>
              </a:rPr>
              <a:t>, </a:t>
            </a:r>
            <a:r>
              <a:rPr lang="ko-KR" altLang="en-US" b="1" smtClean="0">
                <a:solidFill>
                  <a:schemeClr val="tx1"/>
                </a:solidFill>
              </a:rPr>
              <a:t>케릭터 추가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  <a:r>
              <a:rPr lang="ko-KR" altLang="en-US" b="1" smtClean="0">
                <a:solidFill>
                  <a:schemeClr val="tx1"/>
                </a:solidFill>
              </a:rPr>
              <a:t> 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err="1" smtClean="0">
                <a:solidFill>
                  <a:schemeClr val="tx1"/>
                </a:solidFill>
              </a:rPr>
              <a:t>점수제</a:t>
            </a:r>
            <a:r>
              <a:rPr lang="ko-KR" altLang="en-US" b="1" dirty="0" smtClean="0">
                <a:solidFill>
                  <a:schemeClr val="tx1"/>
                </a:solidFill>
              </a:rPr>
              <a:t> 룰 </a:t>
            </a:r>
            <a:r>
              <a:rPr lang="en-US" altLang="ko-KR" b="1" dirty="0" smtClean="0">
                <a:solidFill>
                  <a:schemeClr val="tx1"/>
                </a:solidFill>
              </a:rPr>
              <a:t>(5</a:t>
            </a:r>
            <a:r>
              <a:rPr lang="ko-KR" altLang="en-US" b="1" smtClean="0">
                <a:solidFill>
                  <a:schemeClr val="tx1"/>
                </a:solidFill>
              </a:rPr>
              <a:t>라운드</a:t>
            </a:r>
            <a:r>
              <a:rPr lang="en-US" altLang="ko-KR" b="1" dirty="0" smtClean="0">
                <a:solidFill>
                  <a:schemeClr val="tx1"/>
                </a:solidFill>
              </a:rPr>
              <a:t>, 60</a:t>
            </a:r>
            <a:r>
              <a:rPr lang="ko-KR" altLang="en-US" b="1" smtClean="0">
                <a:solidFill>
                  <a:schemeClr val="tx1"/>
                </a:solidFill>
              </a:rPr>
              <a:t>초 </a:t>
            </a:r>
            <a:r>
              <a:rPr lang="en-US" altLang="ko-KR" b="1" dirty="0" smtClean="0">
                <a:solidFill>
                  <a:schemeClr val="tx1"/>
                </a:solidFill>
              </a:rPr>
              <a:t>-&gt; 0</a:t>
            </a:r>
            <a:r>
              <a:rPr lang="ko-KR" altLang="en-US" b="1" smtClean="0">
                <a:solidFill>
                  <a:schemeClr val="tx1"/>
                </a:solidFill>
              </a:rPr>
              <a:t>초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  <a:endParaRPr lang="en-US" altLang="ko-KR" b="1" dirty="0">
              <a:solidFill>
                <a:schemeClr val="tx1"/>
              </a:solidFill>
            </a:endParaRPr>
          </a:p>
          <a:p>
            <a:pPr marL="1257300" lvl="2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최초 출제자는 선착순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1257300" lvl="2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60 ~ 30</a:t>
            </a:r>
            <a:r>
              <a:rPr lang="ko-KR" altLang="en-US" b="1" smtClean="0">
                <a:solidFill>
                  <a:schemeClr val="tx1"/>
                </a:solidFill>
              </a:rPr>
              <a:t>초 </a:t>
            </a:r>
            <a:r>
              <a:rPr lang="en-US" altLang="ko-KR" b="1" dirty="0" smtClean="0">
                <a:solidFill>
                  <a:schemeClr val="tx1"/>
                </a:solidFill>
              </a:rPr>
              <a:t>– </a:t>
            </a:r>
            <a:r>
              <a:rPr lang="ko-KR" altLang="en-US" b="1" smtClean="0">
                <a:solidFill>
                  <a:schemeClr val="tx1"/>
                </a:solidFill>
              </a:rPr>
              <a:t>출제자의 문제를 맞추면</a:t>
            </a:r>
            <a:r>
              <a:rPr lang="en-US" altLang="ko-KR" b="1" dirty="0" smtClean="0">
                <a:solidFill>
                  <a:schemeClr val="tx1"/>
                </a:solidFill>
              </a:rPr>
              <a:t>,</a:t>
            </a:r>
            <a:r>
              <a:rPr lang="ko-KR" altLang="en-US" b="1" smtClean="0">
                <a:solidFill>
                  <a:schemeClr val="tx1"/>
                </a:solidFill>
              </a:rPr>
              <a:t> 출제자가 </a:t>
            </a:r>
            <a:r>
              <a:rPr lang="en-US" altLang="ko-KR" b="1" dirty="0" smtClean="0">
                <a:solidFill>
                  <a:schemeClr val="tx1"/>
                </a:solidFill>
              </a:rPr>
              <a:t>2</a:t>
            </a:r>
            <a:r>
              <a:rPr lang="ko-KR" altLang="en-US" b="1" smtClean="0">
                <a:solidFill>
                  <a:schemeClr val="tx1"/>
                </a:solidFill>
              </a:rPr>
              <a:t>점 획득</a:t>
            </a:r>
            <a:r>
              <a:rPr lang="en-US" altLang="ko-KR" b="1" dirty="0" smtClean="0">
                <a:solidFill>
                  <a:schemeClr val="tx1"/>
                </a:solidFill>
              </a:rPr>
              <a:t>, </a:t>
            </a:r>
            <a:r>
              <a:rPr lang="ko-KR" altLang="en-US" b="1" smtClean="0">
                <a:solidFill>
                  <a:schemeClr val="tx1"/>
                </a:solidFill>
              </a:rPr>
              <a:t>참가자는 </a:t>
            </a:r>
            <a:r>
              <a:rPr lang="en-US" altLang="ko-KR" b="1" dirty="0" smtClean="0">
                <a:solidFill>
                  <a:schemeClr val="tx1"/>
                </a:solidFill>
              </a:rPr>
              <a:t>3</a:t>
            </a:r>
            <a:r>
              <a:rPr lang="ko-KR" altLang="en-US" b="1" smtClean="0">
                <a:solidFill>
                  <a:schemeClr val="tx1"/>
                </a:solidFill>
              </a:rPr>
              <a:t>점 획득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1257300" lvl="2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30</a:t>
            </a:r>
            <a:r>
              <a:rPr lang="ko-KR" altLang="en-US" b="1">
                <a:solidFill>
                  <a:schemeClr val="tx1"/>
                </a:solidFill>
              </a:rPr>
              <a:t> </a:t>
            </a:r>
            <a:r>
              <a:rPr lang="en-US" altLang="ko-KR" b="1" dirty="0" smtClean="0">
                <a:solidFill>
                  <a:schemeClr val="tx1"/>
                </a:solidFill>
              </a:rPr>
              <a:t>~ 0</a:t>
            </a:r>
            <a:r>
              <a:rPr lang="ko-KR" altLang="en-US" b="1" smtClean="0">
                <a:solidFill>
                  <a:schemeClr val="tx1"/>
                </a:solidFill>
              </a:rPr>
              <a:t>초 </a:t>
            </a:r>
            <a:r>
              <a:rPr lang="en-US" altLang="ko-KR" b="1" dirty="0" smtClean="0">
                <a:solidFill>
                  <a:schemeClr val="tx1"/>
                </a:solidFill>
              </a:rPr>
              <a:t>– </a:t>
            </a:r>
            <a:r>
              <a:rPr lang="ko-KR" altLang="en-US" b="1" smtClean="0">
                <a:solidFill>
                  <a:schemeClr val="tx1"/>
                </a:solidFill>
              </a:rPr>
              <a:t>힌트 출력</a:t>
            </a:r>
            <a:r>
              <a:rPr lang="en-US" altLang="ko-KR" b="1" dirty="0" smtClean="0">
                <a:solidFill>
                  <a:schemeClr val="tx1"/>
                </a:solidFill>
              </a:rPr>
              <a:t>(</a:t>
            </a:r>
            <a:r>
              <a:rPr lang="ko-KR" altLang="en-US" b="1" smtClean="0">
                <a:solidFill>
                  <a:schemeClr val="tx1"/>
                </a:solidFill>
              </a:rPr>
              <a:t>카테고리</a:t>
            </a:r>
            <a:r>
              <a:rPr lang="en-US" altLang="ko-KR" b="1" dirty="0" smtClean="0">
                <a:solidFill>
                  <a:schemeClr val="tx1"/>
                </a:solidFill>
              </a:rPr>
              <a:t>). </a:t>
            </a:r>
            <a:r>
              <a:rPr lang="ko-KR" altLang="en-US" b="1" smtClean="0">
                <a:solidFill>
                  <a:schemeClr val="tx1"/>
                </a:solidFill>
              </a:rPr>
              <a:t>출제자의 </a:t>
            </a:r>
            <a:r>
              <a:rPr lang="ko-KR" altLang="en-US" b="1">
                <a:solidFill>
                  <a:schemeClr val="tx1"/>
                </a:solidFill>
              </a:rPr>
              <a:t>문제를 맞추면</a:t>
            </a:r>
            <a:r>
              <a:rPr lang="en-US" altLang="ko-KR" b="1" dirty="0">
                <a:solidFill>
                  <a:schemeClr val="tx1"/>
                </a:solidFill>
              </a:rPr>
              <a:t>,</a:t>
            </a:r>
            <a:r>
              <a:rPr lang="ko-KR" altLang="en-US" b="1">
                <a:solidFill>
                  <a:schemeClr val="tx1"/>
                </a:solidFill>
              </a:rPr>
              <a:t> 출제자가 </a:t>
            </a:r>
            <a:r>
              <a:rPr lang="en-US" altLang="ko-KR" b="1" dirty="0" smtClean="0">
                <a:solidFill>
                  <a:schemeClr val="tx1"/>
                </a:solidFill>
              </a:rPr>
              <a:t>1</a:t>
            </a:r>
            <a:r>
              <a:rPr lang="ko-KR" altLang="en-US" b="1" smtClean="0">
                <a:solidFill>
                  <a:schemeClr val="tx1"/>
                </a:solidFill>
              </a:rPr>
              <a:t>점 </a:t>
            </a:r>
            <a:r>
              <a:rPr lang="ko-KR" altLang="en-US" b="1">
                <a:solidFill>
                  <a:schemeClr val="tx1"/>
                </a:solidFill>
              </a:rPr>
              <a:t>획득</a:t>
            </a:r>
            <a:r>
              <a:rPr lang="en-US" altLang="ko-KR" b="1" dirty="0">
                <a:solidFill>
                  <a:schemeClr val="tx1"/>
                </a:solidFill>
              </a:rPr>
              <a:t>, </a:t>
            </a:r>
            <a:r>
              <a:rPr lang="ko-KR" altLang="en-US" b="1">
                <a:solidFill>
                  <a:schemeClr val="tx1"/>
                </a:solidFill>
              </a:rPr>
              <a:t>참가자는 </a:t>
            </a:r>
            <a:r>
              <a:rPr lang="en-US" altLang="ko-KR" b="1" dirty="0" smtClean="0">
                <a:solidFill>
                  <a:schemeClr val="tx1"/>
                </a:solidFill>
              </a:rPr>
              <a:t>2</a:t>
            </a:r>
            <a:r>
              <a:rPr lang="ko-KR" altLang="en-US" b="1" smtClean="0">
                <a:solidFill>
                  <a:schemeClr val="tx1"/>
                </a:solidFill>
              </a:rPr>
              <a:t>점 획득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1257300" lvl="2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0</a:t>
            </a:r>
            <a:r>
              <a:rPr lang="ko-KR" altLang="en-US" b="1" smtClean="0">
                <a:solidFill>
                  <a:schemeClr val="tx1"/>
                </a:solidFill>
              </a:rPr>
              <a:t>초 이후 </a:t>
            </a:r>
            <a:r>
              <a:rPr lang="en-US" altLang="ko-KR" b="1" dirty="0" smtClean="0">
                <a:solidFill>
                  <a:schemeClr val="tx1"/>
                </a:solidFill>
              </a:rPr>
              <a:t>– </a:t>
            </a:r>
            <a:r>
              <a:rPr lang="ko-KR" altLang="en-US" b="1" smtClean="0">
                <a:solidFill>
                  <a:schemeClr val="tx1"/>
                </a:solidFill>
              </a:rPr>
              <a:t>바로 종료 후</a:t>
            </a:r>
            <a:r>
              <a:rPr lang="en-US" altLang="ko-KR" b="1" dirty="0" smtClean="0">
                <a:solidFill>
                  <a:schemeClr val="tx1"/>
                </a:solidFill>
              </a:rPr>
              <a:t>, </a:t>
            </a:r>
            <a:r>
              <a:rPr lang="ko-KR" altLang="en-US" b="1" smtClean="0">
                <a:solidFill>
                  <a:schemeClr val="tx1"/>
                </a:solidFill>
              </a:rPr>
              <a:t>정답 공개</a:t>
            </a:r>
            <a:r>
              <a:rPr lang="en-US" altLang="ko-KR" b="1" dirty="0" smtClean="0">
                <a:solidFill>
                  <a:schemeClr val="tx1"/>
                </a:solidFill>
              </a:rPr>
              <a:t>. </a:t>
            </a:r>
            <a:r>
              <a:rPr lang="ko-KR" altLang="en-US" b="1" smtClean="0">
                <a:solidFill>
                  <a:schemeClr val="tx1"/>
                </a:solidFill>
              </a:rPr>
              <a:t>출제자 </a:t>
            </a:r>
            <a:r>
              <a:rPr lang="en-US" altLang="ko-KR" b="1" dirty="0" smtClean="0">
                <a:solidFill>
                  <a:schemeClr val="tx1"/>
                </a:solidFill>
              </a:rPr>
              <a:t>1</a:t>
            </a:r>
            <a:r>
              <a:rPr lang="ko-KR" altLang="en-US" b="1" smtClean="0">
                <a:solidFill>
                  <a:schemeClr val="tx1"/>
                </a:solidFill>
              </a:rPr>
              <a:t>점 감점</a:t>
            </a:r>
            <a:r>
              <a:rPr lang="en-US" altLang="ko-KR" b="1" dirty="0" smtClean="0">
                <a:solidFill>
                  <a:schemeClr val="tx1"/>
                </a:solidFill>
              </a:rPr>
              <a:t>, </a:t>
            </a:r>
            <a:r>
              <a:rPr lang="ko-KR" altLang="en-US" b="1" smtClean="0">
                <a:solidFill>
                  <a:schemeClr val="tx1"/>
                </a:solidFill>
              </a:rPr>
              <a:t>다음 출제자는 기존 출제자 유지 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기타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>
                <a:solidFill>
                  <a:schemeClr val="tx1"/>
                </a:solidFill>
              </a:rPr>
              <a:t>팀 소개 영상 </a:t>
            </a:r>
            <a:r>
              <a:rPr lang="en-US" altLang="ko-KR" b="1" dirty="0">
                <a:solidFill>
                  <a:schemeClr val="tx1"/>
                </a:solidFill>
              </a:rPr>
              <a:t>– </a:t>
            </a:r>
            <a:r>
              <a:rPr lang="ko-KR" altLang="en-US" b="1">
                <a:solidFill>
                  <a:schemeClr val="tx1"/>
                </a:solidFill>
              </a:rPr>
              <a:t>월요일 오후 </a:t>
            </a:r>
            <a:r>
              <a:rPr lang="ko-KR" altLang="en-US" b="1" smtClean="0">
                <a:solidFill>
                  <a:schemeClr val="tx1"/>
                </a:solidFill>
              </a:rPr>
              <a:t>한시까지 제출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전시회 시연 고려 </a:t>
            </a:r>
            <a:r>
              <a:rPr lang="en-US" altLang="ko-KR" b="1" dirty="0" smtClean="0">
                <a:solidFill>
                  <a:schemeClr val="tx1"/>
                </a:solidFill>
              </a:rPr>
              <a:t>– PC </a:t>
            </a:r>
            <a:r>
              <a:rPr lang="ko-KR" altLang="en-US" b="1" smtClean="0">
                <a:solidFill>
                  <a:schemeClr val="tx1"/>
                </a:solidFill>
              </a:rPr>
              <a:t>모니터에 띄울 수 있는지</a:t>
            </a:r>
            <a:endParaRPr lang="en-US" altLang="ko-KR" sz="2800" b="1" dirty="0" smtClean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0. </a:t>
            </a:r>
            <a:r>
              <a:rPr lang="ko-KR" altLang="en-US" sz="54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기획</a:t>
            </a:r>
            <a:r>
              <a:rPr lang="en-US" altLang="ko-KR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(260417)</a:t>
            </a:r>
            <a:endParaRPr lang="ko-KR" altLang="en-US" sz="5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01541" y="1561514"/>
            <a:ext cx="7743960" cy="86536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b="1" dirty="0">
                <a:solidFill>
                  <a:schemeClr val="tx1"/>
                </a:solidFill>
              </a:rPr>
              <a:t>telnet </a:t>
            </a:r>
            <a:r>
              <a:rPr lang="ko-KR" altLang="en-US" b="1">
                <a:solidFill>
                  <a:schemeClr val="tx1"/>
                </a:solidFill>
              </a:rPr>
              <a:t>끊기는 경우</a:t>
            </a:r>
            <a:r>
              <a:rPr lang="en-US" altLang="ko-KR" b="1" dirty="0">
                <a:solidFill>
                  <a:schemeClr val="tx1"/>
                </a:solidFill>
              </a:rPr>
              <a:t>.. </a:t>
            </a:r>
            <a:r>
              <a:rPr lang="en-US" altLang="ko-KR" b="1" dirty="0" smtClean="0">
                <a:solidFill>
                  <a:schemeClr val="tx1"/>
                </a:solidFill>
              </a:rPr>
              <a:t>-&gt; </a:t>
            </a:r>
            <a:r>
              <a:rPr lang="ko-KR" altLang="en-US" b="1" smtClean="0">
                <a:solidFill>
                  <a:schemeClr val="tx1"/>
                </a:solidFill>
              </a:rPr>
              <a:t>보드 </a:t>
            </a:r>
            <a:r>
              <a:rPr lang="en-US" altLang="ko-KR" b="1" dirty="0" smtClean="0">
                <a:solidFill>
                  <a:schemeClr val="tx1"/>
                </a:solidFill>
              </a:rPr>
              <a:t>2,3 </a:t>
            </a:r>
            <a:r>
              <a:rPr lang="en-US" altLang="ko-KR" b="1" dirty="0" err="1" smtClean="0">
                <a:solidFill>
                  <a:schemeClr val="tx1"/>
                </a:solidFill>
              </a:rPr>
              <a:t>Brrootfs</a:t>
            </a:r>
            <a:r>
              <a:rPr lang="en-US" altLang="ko-KR" b="1" dirty="0" smtClean="0">
                <a:solidFill>
                  <a:schemeClr val="tx1"/>
                </a:solidFill>
              </a:rPr>
              <a:t> </a:t>
            </a:r>
            <a:r>
              <a:rPr lang="ko-KR" altLang="en-US" b="1" smtClean="0">
                <a:solidFill>
                  <a:schemeClr val="tx1"/>
                </a:solidFill>
              </a:rPr>
              <a:t>이미지 구워서 업로드</a:t>
            </a:r>
            <a:r>
              <a:rPr lang="en-US" altLang="ko-KR" b="1" dirty="0" smtClean="0">
                <a:solidFill>
                  <a:schemeClr val="tx1"/>
                </a:solidFill>
              </a:rPr>
              <a:t>(</a:t>
            </a:r>
            <a:r>
              <a:rPr lang="ko-KR" altLang="en-US" b="1" smtClean="0">
                <a:solidFill>
                  <a:schemeClr val="tx1"/>
                </a:solidFill>
              </a:rPr>
              <a:t>완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  <a:endParaRPr lang="en-US" altLang="ko-KR" b="1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참가자가 </a:t>
            </a:r>
            <a:r>
              <a:rPr lang="ko-KR" altLang="en-US" b="1" dirty="0">
                <a:solidFill>
                  <a:schemeClr val="tx1"/>
                </a:solidFill>
              </a:rPr>
              <a:t>자기의 화면을 알 수 있도록 </a:t>
            </a:r>
            <a:r>
              <a:rPr lang="ko-KR" altLang="en-US" b="1" dirty="0" smtClean="0">
                <a:solidFill>
                  <a:schemeClr val="tx1"/>
                </a:solidFill>
              </a:rPr>
              <a:t>표시</a:t>
            </a:r>
            <a:r>
              <a:rPr lang="en-US" altLang="ko-KR" b="1" dirty="0" smtClean="0">
                <a:solidFill>
                  <a:schemeClr val="tx1"/>
                </a:solidFill>
              </a:rPr>
              <a:t>(</a:t>
            </a:r>
            <a:r>
              <a:rPr lang="ko-KR" altLang="en-US" b="1" smtClean="0">
                <a:solidFill>
                  <a:schemeClr val="tx1"/>
                </a:solidFill>
              </a:rPr>
              <a:t>완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b="1" dirty="0">
                <a:solidFill>
                  <a:schemeClr val="tx1"/>
                </a:solidFill>
              </a:rPr>
              <a:t>화면 터치 펜 찾아보기</a:t>
            </a:r>
            <a:r>
              <a:rPr lang="en-US" altLang="ko-KR" b="1" dirty="0">
                <a:solidFill>
                  <a:schemeClr val="tx1"/>
                </a:solidFill>
              </a:rPr>
              <a:t> – </a:t>
            </a:r>
            <a:r>
              <a:rPr lang="ko-KR" altLang="en-US" b="1">
                <a:solidFill>
                  <a:schemeClr val="tx1"/>
                </a:solidFill>
              </a:rPr>
              <a:t>다이소 디스크 펜 </a:t>
            </a:r>
            <a:r>
              <a:rPr lang="en-US" altLang="ko-KR" b="1" dirty="0">
                <a:solidFill>
                  <a:schemeClr val="tx1"/>
                </a:solidFill>
              </a:rPr>
              <a:t>1000</a:t>
            </a:r>
            <a:r>
              <a:rPr lang="ko-KR" altLang="en-US" b="1">
                <a:solidFill>
                  <a:schemeClr val="tx1"/>
                </a:solidFill>
              </a:rPr>
              <a:t>원짜리 </a:t>
            </a:r>
            <a:r>
              <a:rPr lang="en-US" altLang="ko-KR" b="1" dirty="0">
                <a:solidFill>
                  <a:schemeClr val="tx1"/>
                </a:solidFill>
              </a:rPr>
              <a:t>(</a:t>
            </a:r>
            <a:r>
              <a:rPr lang="ko-KR" altLang="en-US" b="1">
                <a:solidFill>
                  <a:schemeClr val="tx1"/>
                </a:solidFill>
              </a:rPr>
              <a:t>완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Clear</a:t>
            </a:r>
            <a:r>
              <a:rPr lang="ko-KR" altLang="en-US" b="1" smtClean="0">
                <a:solidFill>
                  <a:schemeClr val="tx1"/>
                </a:solidFill>
              </a:rPr>
              <a:t> 기능</a:t>
            </a:r>
            <a:r>
              <a:rPr lang="en-US" altLang="ko-KR" b="1" dirty="0">
                <a:solidFill>
                  <a:schemeClr val="tx1"/>
                </a:solidFill>
              </a:rPr>
              <a:t>(</a:t>
            </a:r>
            <a:r>
              <a:rPr lang="ko-KR" altLang="en-US" b="1">
                <a:solidFill>
                  <a:schemeClr val="tx1"/>
                </a:solidFill>
              </a:rPr>
              <a:t>완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b="1" dirty="0" err="1">
                <a:solidFill>
                  <a:schemeClr val="tx1"/>
                </a:solidFill>
              </a:rPr>
              <a:t>Github</a:t>
            </a:r>
            <a:r>
              <a:rPr lang="ko-KR" altLang="en-US" b="1">
                <a:solidFill>
                  <a:schemeClr val="tx1"/>
                </a:solidFill>
              </a:rPr>
              <a:t> 업로드 방법</a:t>
            </a:r>
            <a:r>
              <a:rPr lang="en-US" altLang="ko-KR" b="1" dirty="0">
                <a:solidFill>
                  <a:schemeClr val="tx1"/>
                </a:solidFill>
              </a:rPr>
              <a:t> </a:t>
            </a:r>
            <a:r>
              <a:rPr lang="ko-KR" altLang="en-US" b="1" smtClean="0">
                <a:solidFill>
                  <a:schemeClr val="tx1"/>
                </a:solidFill>
              </a:rPr>
              <a:t>찾기</a:t>
            </a:r>
            <a:r>
              <a:rPr lang="en-US" altLang="ko-KR" b="1" dirty="0" smtClean="0">
                <a:solidFill>
                  <a:schemeClr val="tx1"/>
                </a:solidFill>
              </a:rPr>
              <a:t>(</a:t>
            </a:r>
            <a:r>
              <a:rPr lang="ko-KR" altLang="en-US" b="1" smtClean="0">
                <a:solidFill>
                  <a:schemeClr val="tx1"/>
                </a:solidFill>
              </a:rPr>
              <a:t>완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BGM </a:t>
            </a:r>
            <a:r>
              <a:rPr lang="ko-KR" altLang="en-US" b="1" smtClean="0">
                <a:solidFill>
                  <a:schemeClr val="tx1"/>
                </a:solidFill>
              </a:rPr>
              <a:t>추가</a:t>
            </a:r>
            <a:r>
              <a:rPr lang="en-US" altLang="ko-KR" b="1" dirty="0" smtClean="0">
                <a:solidFill>
                  <a:schemeClr val="tx1"/>
                </a:solidFill>
              </a:rPr>
              <a:t>(</a:t>
            </a:r>
            <a:r>
              <a:rPr lang="ko-KR" altLang="en-US" b="1" smtClean="0">
                <a:solidFill>
                  <a:schemeClr val="tx1"/>
                </a:solidFill>
              </a:rPr>
              <a:t>완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b="1" dirty="0">
                <a:solidFill>
                  <a:schemeClr val="tx1"/>
                </a:solidFill>
              </a:rPr>
              <a:t>출제자 화면에 제시어 </a:t>
            </a:r>
            <a:r>
              <a:rPr lang="ko-KR" altLang="en-US" b="1" dirty="0" smtClean="0">
                <a:solidFill>
                  <a:schemeClr val="tx1"/>
                </a:solidFill>
              </a:rPr>
              <a:t>출력</a:t>
            </a:r>
            <a:r>
              <a:rPr lang="en-US" altLang="ko-KR" b="1" dirty="0" smtClean="0">
                <a:solidFill>
                  <a:schemeClr val="tx1"/>
                </a:solidFill>
              </a:rPr>
              <a:t>(</a:t>
            </a:r>
            <a:r>
              <a:rPr lang="ko-KR" altLang="en-US" b="1" smtClean="0">
                <a:solidFill>
                  <a:schemeClr val="tx1"/>
                </a:solidFill>
              </a:rPr>
              <a:t>완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  <a:endParaRPr lang="en-US" altLang="ko-KR" b="1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제한 시간 설정 </a:t>
            </a:r>
            <a:r>
              <a:rPr lang="en-US" altLang="ko-KR" b="1" dirty="0" smtClean="0">
                <a:solidFill>
                  <a:schemeClr val="tx1"/>
                </a:solidFill>
              </a:rPr>
              <a:t>– </a:t>
            </a:r>
            <a:r>
              <a:rPr lang="ko-KR" altLang="en-US" b="1" smtClean="0">
                <a:solidFill>
                  <a:schemeClr val="tx1"/>
                </a:solidFill>
              </a:rPr>
              <a:t>현재 </a:t>
            </a:r>
            <a:r>
              <a:rPr lang="en-US" altLang="ko-KR" b="1" dirty="0" smtClean="0">
                <a:solidFill>
                  <a:schemeClr val="tx1"/>
                </a:solidFill>
              </a:rPr>
              <a:t>1</a:t>
            </a:r>
            <a:r>
              <a:rPr lang="ko-KR" altLang="en-US" b="1" smtClean="0">
                <a:solidFill>
                  <a:schemeClr val="tx1"/>
                </a:solidFill>
              </a:rPr>
              <a:t>분</a:t>
            </a:r>
            <a:r>
              <a:rPr lang="en-US" altLang="ko-KR" b="1" dirty="0" smtClean="0">
                <a:solidFill>
                  <a:schemeClr val="tx1"/>
                </a:solidFill>
              </a:rPr>
              <a:t>(</a:t>
            </a:r>
            <a:r>
              <a:rPr lang="ko-KR" altLang="en-US" b="1" smtClean="0">
                <a:solidFill>
                  <a:schemeClr val="tx1"/>
                </a:solidFill>
              </a:rPr>
              <a:t>완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</a:p>
        </p:txBody>
      </p:sp>
      <p:grpSp>
        <p:nvGrpSpPr>
          <p:cNvPr id="20" name="그룹 19"/>
          <p:cNvGrpSpPr/>
          <p:nvPr/>
        </p:nvGrpSpPr>
        <p:grpSpPr>
          <a:xfrm>
            <a:off x="1965916" y="5764804"/>
            <a:ext cx="4655366" cy="3357592"/>
            <a:chOff x="11739591" y="2631786"/>
            <a:chExt cx="4655366" cy="3357592"/>
          </a:xfrm>
        </p:grpSpPr>
        <p:sp>
          <p:nvSpPr>
            <p:cNvPr id="11" name="직사각형 10"/>
            <p:cNvSpPr/>
            <p:nvPr/>
          </p:nvSpPr>
          <p:spPr>
            <a:xfrm>
              <a:off x="12635344" y="3056708"/>
              <a:ext cx="3759613" cy="292608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  <p:cxnSp>
          <p:nvCxnSpPr>
            <p:cNvPr id="12" name="직선 연결선 11"/>
            <p:cNvCxnSpPr/>
            <p:nvPr/>
          </p:nvCxnSpPr>
          <p:spPr>
            <a:xfrm>
              <a:off x="14435529" y="4513217"/>
              <a:ext cx="0" cy="147616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>
              <a:stCxn id="11" idx="3"/>
              <a:endCxn id="11" idx="1"/>
            </p:cNvCxnSpPr>
            <p:nvPr/>
          </p:nvCxnSpPr>
          <p:spPr>
            <a:xfrm flipH="1">
              <a:off x="12635344" y="4519748"/>
              <a:ext cx="3759613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11849395" y="2631786"/>
              <a:ext cx="14189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/>
                <a:t>화면 </a:t>
              </a:r>
              <a:r>
                <a:rPr lang="en-US" altLang="ko-KR" b="1" dirty="0" smtClean="0"/>
                <a:t>UI </a:t>
              </a:r>
              <a:r>
                <a:rPr lang="ko-KR" altLang="en-US" b="1" smtClean="0"/>
                <a:t>구성</a:t>
              </a:r>
              <a:endParaRPr lang="ko-KR" altLang="en-US" b="1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2729613" y="3151052"/>
              <a:ext cx="11945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 smtClean="0"/>
                <a:t>출제자</a:t>
              </a:r>
              <a:r>
                <a:rPr lang="en-US" altLang="ko-KR" sz="1400" b="1" dirty="0"/>
                <a:t>(</a:t>
              </a:r>
              <a:r>
                <a:rPr lang="ko-KR" altLang="en-US" sz="1400" b="1" smtClean="0"/>
                <a:t>점수</a:t>
              </a:r>
              <a:r>
                <a:rPr lang="en-US" altLang="ko-KR" sz="1400" b="1" dirty="0" smtClean="0"/>
                <a:t>)</a:t>
              </a:r>
              <a:endParaRPr lang="ko-KR" altLang="en-US" sz="1400" b="1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2729613" y="4588179"/>
              <a:ext cx="13660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 smtClean="0"/>
                <a:t>참가자 </a:t>
              </a:r>
              <a:r>
                <a:rPr lang="en-US" altLang="ko-KR" sz="1400" b="1" dirty="0" smtClean="0"/>
                <a:t>1</a:t>
              </a:r>
              <a:r>
                <a:rPr lang="en-US" altLang="ko-KR" sz="1400" b="1" dirty="0"/>
                <a:t> (</a:t>
              </a:r>
              <a:r>
                <a:rPr lang="ko-KR" altLang="en-US" sz="1400" b="1"/>
                <a:t>점수</a:t>
              </a:r>
              <a:r>
                <a:rPr lang="en-US" altLang="ko-KR" sz="1400" b="1" dirty="0"/>
                <a:t>)</a:t>
              </a:r>
              <a:endParaRPr lang="ko-KR" altLang="en-US" sz="1400" b="1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4529799" y="4569839"/>
              <a:ext cx="13660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 smtClean="0"/>
                <a:t>참가자 </a:t>
              </a:r>
              <a:r>
                <a:rPr lang="en-US" altLang="ko-KR" sz="1400" b="1" dirty="0" smtClean="0"/>
                <a:t>2 </a:t>
              </a:r>
              <a:r>
                <a:rPr lang="en-US" altLang="ko-KR" sz="1400" b="1" dirty="0"/>
                <a:t>(</a:t>
              </a:r>
              <a:r>
                <a:rPr lang="ko-KR" altLang="en-US" sz="1400" b="1"/>
                <a:t>점수</a:t>
              </a:r>
              <a:r>
                <a:rPr lang="en-US" altLang="ko-KR" sz="1400" b="1" dirty="0"/>
                <a:t>)</a:t>
              </a:r>
              <a:endParaRPr lang="ko-KR" altLang="en-US" sz="1400" b="1" dirty="0"/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1758716" y="3056709"/>
              <a:ext cx="876627" cy="292608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1739591" y="3151052"/>
              <a:ext cx="9428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 smtClean="0"/>
                <a:t>남은 시간</a:t>
              </a:r>
              <a:endParaRPr lang="ko-KR" altLang="en-US" sz="1400" b="1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1849396" y="4056313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 smtClean="0"/>
                <a:t>라운드</a:t>
              </a:r>
              <a:endParaRPr lang="ko-KR" altLang="en-US" sz="1400" b="1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1849395" y="5023380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 smtClean="0"/>
                <a:t>캐릭터</a:t>
              </a:r>
              <a:endParaRPr lang="ko-KR" altLang="en-US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699399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8857633" y="1561514"/>
            <a:ext cx="7743960" cy="86536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구현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>
                <a:solidFill>
                  <a:schemeClr val="tx1"/>
                </a:solidFill>
              </a:rPr>
              <a:t>참가자 </a:t>
            </a:r>
            <a:r>
              <a:rPr lang="en-US" altLang="ko-KR" b="1" dirty="0">
                <a:solidFill>
                  <a:schemeClr val="tx1"/>
                </a:solidFill>
              </a:rPr>
              <a:t>1</a:t>
            </a:r>
            <a:r>
              <a:rPr lang="ko-KR" altLang="en-US" b="1">
                <a:solidFill>
                  <a:schemeClr val="tx1"/>
                </a:solidFill>
              </a:rPr>
              <a:t>이 제출한 상태에서 참가자 </a:t>
            </a:r>
            <a:r>
              <a:rPr lang="en-US" altLang="ko-KR" b="1" dirty="0">
                <a:solidFill>
                  <a:schemeClr val="tx1"/>
                </a:solidFill>
              </a:rPr>
              <a:t>2</a:t>
            </a:r>
            <a:r>
              <a:rPr lang="ko-KR" altLang="en-US" b="1">
                <a:solidFill>
                  <a:schemeClr val="tx1"/>
                </a:solidFill>
              </a:rPr>
              <a:t>가 제출하고 </a:t>
            </a:r>
            <a:r>
              <a:rPr lang="en-US" altLang="ko-KR" b="1" dirty="0">
                <a:solidFill>
                  <a:schemeClr val="tx1"/>
                </a:solidFill>
              </a:rPr>
              <a:t>NG </a:t>
            </a:r>
            <a:r>
              <a:rPr lang="ko-KR" altLang="en-US" b="1">
                <a:solidFill>
                  <a:schemeClr val="tx1"/>
                </a:solidFill>
              </a:rPr>
              <a:t>터치하면 참가자 </a:t>
            </a:r>
            <a:r>
              <a:rPr lang="en-US" altLang="ko-KR" b="1" dirty="0">
                <a:solidFill>
                  <a:schemeClr val="tx1"/>
                </a:solidFill>
              </a:rPr>
              <a:t>2</a:t>
            </a:r>
            <a:r>
              <a:rPr lang="ko-KR" altLang="en-US" b="1">
                <a:solidFill>
                  <a:schemeClr val="tx1"/>
                </a:solidFill>
              </a:rPr>
              <a:t>가 </a:t>
            </a:r>
            <a:r>
              <a:rPr lang="ko-KR" altLang="en-US" b="1" smtClean="0">
                <a:solidFill>
                  <a:schemeClr val="tx1"/>
                </a:solidFill>
              </a:rPr>
              <a:t>끊김</a:t>
            </a:r>
            <a:r>
              <a:rPr lang="en-US" altLang="ko-KR" b="1" dirty="0">
                <a:solidFill>
                  <a:schemeClr val="tx1"/>
                </a:solidFill>
              </a:rPr>
              <a:t/>
            </a:r>
            <a:br>
              <a:rPr lang="en-US" altLang="ko-KR" b="1" dirty="0">
                <a:solidFill>
                  <a:schemeClr val="tx1"/>
                </a:solidFill>
              </a:rPr>
            </a:br>
            <a:r>
              <a:rPr lang="ko-KR" altLang="en-US" b="1" smtClean="0">
                <a:solidFill>
                  <a:schemeClr val="tx1"/>
                </a:solidFill>
              </a:rPr>
              <a:t>참가자 </a:t>
            </a:r>
            <a:r>
              <a:rPr lang="en-US" altLang="ko-KR" b="1" dirty="0" smtClean="0">
                <a:solidFill>
                  <a:schemeClr val="tx1"/>
                </a:solidFill>
              </a:rPr>
              <a:t>1</a:t>
            </a:r>
            <a:r>
              <a:rPr lang="ko-KR" altLang="en-US" b="1" smtClean="0">
                <a:solidFill>
                  <a:schemeClr val="tx1"/>
                </a:solidFill>
              </a:rPr>
              <a:t>이 제출한 상태에서 참가자 </a:t>
            </a:r>
            <a:r>
              <a:rPr lang="en-US" altLang="ko-KR" b="1" dirty="0" smtClean="0">
                <a:solidFill>
                  <a:schemeClr val="tx1"/>
                </a:solidFill>
              </a:rPr>
              <a:t>2</a:t>
            </a:r>
            <a:r>
              <a:rPr lang="ko-KR" altLang="en-US" b="1" smtClean="0">
                <a:solidFill>
                  <a:schemeClr val="tx1"/>
                </a:solidFill>
              </a:rPr>
              <a:t>가 제출 못하도록 원복</a:t>
            </a:r>
            <a:r>
              <a:rPr lang="en-US" altLang="ko-KR" b="1" dirty="0" smtClean="0">
                <a:solidFill>
                  <a:schemeClr val="tx1"/>
                </a:solidFill>
              </a:rPr>
              <a:t>(</a:t>
            </a:r>
            <a:r>
              <a:rPr lang="ko-KR" altLang="en-US" b="1" smtClean="0">
                <a:solidFill>
                  <a:schemeClr val="tx1"/>
                </a:solidFill>
              </a:rPr>
              <a:t>완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6.12.81 </a:t>
            </a:r>
            <a:r>
              <a:rPr lang="ko-KR" altLang="en-US" b="1" smtClean="0">
                <a:solidFill>
                  <a:schemeClr val="tx1"/>
                </a:solidFill>
              </a:rPr>
              <a:t>리눅스 </a:t>
            </a:r>
            <a:r>
              <a:rPr lang="ko-KR" altLang="en-US" b="1" dirty="0" err="1" smtClean="0">
                <a:solidFill>
                  <a:schemeClr val="tx1"/>
                </a:solidFill>
              </a:rPr>
              <a:t>커널</a:t>
            </a:r>
            <a:r>
              <a:rPr lang="ko-KR" altLang="en-US" b="1" dirty="0" smtClean="0">
                <a:solidFill>
                  <a:schemeClr val="tx1"/>
                </a:solidFill>
              </a:rPr>
              <a:t> 이미지 </a:t>
            </a:r>
            <a:r>
              <a:rPr lang="ko-KR" altLang="en-US" b="1" smtClean="0">
                <a:solidFill>
                  <a:schemeClr val="tx1"/>
                </a:solidFill>
              </a:rPr>
              <a:t>보드에 업로드 </a:t>
            </a:r>
            <a:r>
              <a:rPr lang="en-US" altLang="ko-KR" b="1" dirty="0" smtClean="0">
                <a:solidFill>
                  <a:schemeClr val="tx1"/>
                </a:solidFill>
              </a:rPr>
              <a:t>(</a:t>
            </a:r>
            <a:r>
              <a:rPr lang="ko-KR" altLang="en-US" b="1" smtClean="0">
                <a:solidFill>
                  <a:schemeClr val="tx1"/>
                </a:solidFill>
              </a:rPr>
              <a:t>완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참가자</a:t>
            </a:r>
            <a:r>
              <a:rPr lang="en-US" altLang="ko-KR" b="1" dirty="0" smtClean="0">
                <a:solidFill>
                  <a:schemeClr val="tx1"/>
                </a:solidFill>
              </a:rPr>
              <a:t>/</a:t>
            </a:r>
            <a:r>
              <a:rPr lang="ko-KR" altLang="en-US" b="1" smtClean="0">
                <a:solidFill>
                  <a:schemeClr val="tx1"/>
                </a:solidFill>
              </a:rPr>
              <a:t>출제자 화면에 </a:t>
            </a:r>
            <a:r>
              <a:rPr lang="ko-KR" altLang="en-US" b="1" dirty="0" smtClean="0">
                <a:solidFill>
                  <a:schemeClr val="tx1"/>
                </a:solidFill>
              </a:rPr>
              <a:t>지우개 기능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음악 </a:t>
            </a:r>
            <a:r>
              <a:rPr lang="ko-KR" altLang="en-US" b="1" dirty="0" err="1" smtClean="0">
                <a:solidFill>
                  <a:schemeClr val="tx1"/>
                </a:solidFill>
              </a:rPr>
              <a:t>싱크</a:t>
            </a:r>
            <a:r>
              <a:rPr lang="ko-KR" altLang="en-US" b="1" dirty="0" smtClean="0">
                <a:solidFill>
                  <a:schemeClr val="tx1"/>
                </a:solidFill>
              </a:rPr>
              <a:t> 맞추기</a:t>
            </a:r>
            <a:r>
              <a:rPr lang="en-US" altLang="ko-KR" b="1" dirty="0" smtClean="0">
                <a:solidFill>
                  <a:schemeClr val="tx1"/>
                </a:solidFill>
              </a:rPr>
              <a:t>(</a:t>
            </a:r>
            <a:r>
              <a:rPr lang="ko-KR" altLang="en-US" b="1" smtClean="0">
                <a:solidFill>
                  <a:schemeClr val="tx1"/>
                </a:solidFill>
              </a:rPr>
              <a:t>완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일정 </a:t>
            </a:r>
            <a:r>
              <a:rPr lang="ko-KR" altLang="en-US" b="1" dirty="0">
                <a:solidFill>
                  <a:schemeClr val="tx1"/>
                </a:solidFill>
              </a:rPr>
              <a:t>시간 못 맞추면 힌트로 카테고리 </a:t>
            </a:r>
            <a:r>
              <a:rPr lang="ko-KR" altLang="en-US" b="1" dirty="0" smtClean="0">
                <a:solidFill>
                  <a:schemeClr val="tx1"/>
                </a:solidFill>
              </a:rPr>
              <a:t>출력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UI </a:t>
            </a:r>
            <a:r>
              <a:rPr lang="ko-KR" altLang="en-US" b="1" smtClean="0">
                <a:solidFill>
                  <a:schemeClr val="tx1"/>
                </a:solidFill>
              </a:rPr>
              <a:t>화면 추가</a:t>
            </a:r>
            <a:r>
              <a:rPr lang="en-US" altLang="ko-KR" b="1" dirty="0" smtClean="0">
                <a:solidFill>
                  <a:schemeClr val="tx1"/>
                </a:solidFill>
              </a:rPr>
              <a:t>(</a:t>
            </a:r>
            <a:r>
              <a:rPr lang="ko-KR" altLang="en-US" b="1" smtClean="0">
                <a:solidFill>
                  <a:schemeClr val="tx1"/>
                </a:solidFill>
              </a:rPr>
              <a:t>게임 시작 화면</a:t>
            </a:r>
            <a:r>
              <a:rPr lang="en-US" altLang="ko-KR" b="1" dirty="0" smtClean="0">
                <a:solidFill>
                  <a:schemeClr val="tx1"/>
                </a:solidFill>
              </a:rPr>
              <a:t>, </a:t>
            </a:r>
            <a:r>
              <a:rPr lang="ko-KR" altLang="en-US" b="1" smtClean="0">
                <a:solidFill>
                  <a:schemeClr val="tx1"/>
                </a:solidFill>
              </a:rPr>
              <a:t>케릭터 추가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  <a:r>
              <a:rPr lang="ko-KR" altLang="en-US" b="1" smtClean="0">
                <a:solidFill>
                  <a:schemeClr val="tx1"/>
                </a:solidFill>
              </a:rPr>
              <a:t> </a:t>
            </a:r>
            <a:r>
              <a:rPr lang="en-US" altLang="ko-KR" b="1" dirty="0" smtClean="0">
                <a:solidFill>
                  <a:schemeClr val="tx1"/>
                </a:solidFill>
              </a:rPr>
              <a:t>(</a:t>
            </a:r>
            <a:r>
              <a:rPr lang="ko-KR" altLang="en-US" b="1" smtClean="0">
                <a:solidFill>
                  <a:schemeClr val="tx1"/>
                </a:solidFill>
              </a:rPr>
              <a:t>완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err="1" smtClean="0">
                <a:solidFill>
                  <a:schemeClr val="tx1"/>
                </a:solidFill>
              </a:rPr>
              <a:t>점수제</a:t>
            </a:r>
            <a:r>
              <a:rPr lang="ko-KR" altLang="en-US" b="1" dirty="0" smtClean="0">
                <a:solidFill>
                  <a:schemeClr val="tx1"/>
                </a:solidFill>
              </a:rPr>
              <a:t> 룰 </a:t>
            </a:r>
            <a:r>
              <a:rPr lang="en-US" altLang="ko-KR" b="1" dirty="0" smtClean="0">
                <a:solidFill>
                  <a:schemeClr val="tx1"/>
                </a:solidFill>
              </a:rPr>
              <a:t>(5</a:t>
            </a:r>
            <a:r>
              <a:rPr lang="ko-KR" altLang="en-US" b="1" smtClean="0">
                <a:solidFill>
                  <a:schemeClr val="tx1"/>
                </a:solidFill>
              </a:rPr>
              <a:t>라운드</a:t>
            </a:r>
            <a:r>
              <a:rPr lang="en-US" altLang="ko-KR" b="1" dirty="0" smtClean="0">
                <a:solidFill>
                  <a:schemeClr val="tx1"/>
                </a:solidFill>
              </a:rPr>
              <a:t>, 60</a:t>
            </a:r>
            <a:r>
              <a:rPr lang="ko-KR" altLang="en-US" b="1" smtClean="0">
                <a:solidFill>
                  <a:schemeClr val="tx1"/>
                </a:solidFill>
              </a:rPr>
              <a:t>초 </a:t>
            </a:r>
            <a:r>
              <a:rPr lang="en-US" altLang="ko-KR" b="1" dirty="0" smtClean="0">
                <a:solidFill>
                  <a:schemeClr val="tx1"/>
                </a:solidFill>
              </a:rPr>
              <a:t>-&gt; 0</a:t>
            </a:r>
            <a:r>
              <a:rPr lang="ko-KR" altLang="en-US" b="1" smtClean="0">
                <a:solidFill>
                  <a:schemeClr val="tx1"/>
                </a:solidFill>
              </a:rPr>
              <a:t>초</a:t>
            </a:r>
            <a:r>
              <a:rPr lang="en-US" altLang="ko-KR" b="1" dirty="0" smtClean="0">
                <a:solidFill>
                  <a:schemeClr val="tx1"/>
                </a:solidFill>
              </a:rPr>
              <a:t>) (</a:t>
            </a:r>
            <a:r>
              <a:rPr lang="ko-KR" altLang="en-US" b="1" smtClean="0">
                <a:solidFill>
                  <a:schemeClr val="tx1"/>
                </a:solidFill>
              </a:rPr>
              <a:t>완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  <a:endParaRPr lang="en-US" altLang="ko-KR" b="1" dirty="0">
              <a:solidFill>
                <a:schemeClr val="tx1"/>
              </a:solidFill>
            </a:endParaRPr>
          </a:p>
          <a:p>
            <a:pPr marL="1257300" lvl="2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최초 출제자는 선착순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1257300" lvl="2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60 ~ 30</a:t>
            </a:r>
            <a:r>
              <a:rPr lang="ko-KR" altLang="en-US" b="1" smtClean="0">
                <a:solidFill>
                  <a:schemeClr val="tx1"/>
                </a:solidFill>
              </a:rPr>
              <a:t>초 </a:t>
            </a:r>
            <a:r>
              <a:rPr lang="en-US" altLang="ko-KR" b="1" dirty="0" smtClean="0">
                <a:solidFill>
                  <a:schemeClr val="tx1"/>
                </a:solidFill>
              </a:rPr>
              <a:t>– </a:t>
            </a:r>
            <a:r>
              <a:rPr lang="ko-KR" altLang="en-US" b="1" smtClean="0">
                <a:solidFill>
                  <a:schemeClr val="tx1"/>
                </a:solidFill>
              </a:rPr>
              <a:t>출제자의 문제를 맞추면</a:t>
            </a:r>
            <a:r>
              <a:rPr lang="en-US" altLang="ko-KR" b="1" dirty="0" smtClean="0">
                <a:solidFill>
                  <a:schemeClr val="tx1"/>
                </a:solidFill>
              </a:rPr>
              <a:t>,</a:t>
            </a:r>
            <a:r>
              <a:rPr lang="ko-KR" altLang="en-US" b="1" smtClean="0">
                <a:solidFill>
                  <a:schemeClr val="tx1"/>
                </a:solidFill>
              </a:rPr>
              <a:t> 출제자가 </a:t>
            </a:r>
            <a:r>
              <a:rPr lang="en-US" altLang="ko-KR" b="1" dirty="0" smtClean="0">
                <a:solidFill>
                  <a:schemeClr val="tx1"/>
                </a:solidFill>
              </a:rPr>
              <a:t>2</a:t>
            </a:r>
            <a:r>
              <a:rPr lang="ko-KR" altLang="en-US" b="1" smtClean="0">
                <a:solidFill>
                  <a:schemeClr val="tx1"/>
                </a:solidFill>
              </a:rPr>
              <a:t>점 획득</a:t>
            </a:r>
            <a:r>
              <a:rPr lang="en-US" altLang="ko-KR" b="1" dirty="0" smtClean="0">
                <a:solidFill>
                  <a:schemeClr val="tx1"/>
                </a:solidFill>
              </a:rPr>
              <a:t>, </a:t>
            </a:r>
            <a:r>
              <a:rPr lang="ko-KR" altLang="en-US" b="1" smtClean="0">
                <a:solidFill>
                  <a:schemeClr val="tx1"/>
                </a:solidFill>
              </a:rPr>
              <a:t>참가자는 </a:t>
            </a:r>
            <a:r>
              <a:rPr lang="en-US" altLang="ko-KR" b="1" dirty="0" smtClean="0">
                <a:solidFill>
                  <a:schemeClr val="tx1"/>
                </a:solidFill>
              </a:rPr>
              <a:t>3</a:t>
            </a:r>
            <a:r>
              <a:rPr lang="ko-KR" altLang="en-US" b="1" smtClean="0">
                <a:solidFill>
                  <a:schemeClr val="tx1"/>
                </a:solidFill>
              </a:rPr>
              <a:t>점 획득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1257300" lvl="2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30</a:t>
            </a:r>
            <a:r>
              <a:rPr lang="ko-KR" altLang="en-US" b="1">
                <a:solidFill>
                  <a:schemeClr val="tx1"/>
                </a:solidFill>
              </a:rPr>
              <a:t> </a:t>
            </a:r>
            <a:r>
              <a:rPr lang="en-US" altLang="ko-KR" b="1" dirty="0" smtClean="0">
                <a:solidFill>
                  <a:schemeClr val="tx1"/>
                </a:solidFill>
              </a:rPr>
              <a:t>~ 0</a:t>
            </a:r>
            <a:r>
              <a:rPr lang="ko-KR" altLang="en-US" b="1" smtClean="0">
                <a:solidFill>
                  <a:schemeClr val="tx1"/>
                </a:solidFill>
              </a:rPr>
              <a:t>초 </a:t>
            </a:r>
            <a:r>
              <a:rPr lang="en-US" altLang="ko-KR" b="1" dirty="0" smtClean="0">
                <a:solidFill>
                  <a:schemeClr val="tx1"/>
                </a:solidFill>
              </a:rPr>
              <a:t>– </a:t>
            </a:r>
            <a:r>
              <a:rPr lang="ko-KR" altLang="en-US" b="1" smtClean="0">
                <a:solidFill>
                  <a:schemeClr val="tx1"/>
                </a:solidFill>
              </a:rPr>
              <a:t>힌트 출력</a:t>
            </a:r>
            <a:r>
              <a:rPr lang="en-US" altLang="ko-KR" b="1" dirty="0" smtClean="0">
                <a:solidFill>
                  <a:schemeClr val="tx1"/>
                </a:solidFill>
              </a:rPr>
              <a:t>(</a:t>
            </a:r>
            <a:r>
              <a:rPr lang="ko-KR" altLang="en-US" b="1" smtClean="0">
                <a:solidFill>
                  <a:schemeClr val="tx1"/>
                </a:solidFill>
              </a:rPr>
              <a:t>카테고리</a:t>
            </a:r>
            <a:r>
              <a:rPr lang="en-US" altLang="ko-KR" b="1" dirty="0" smtClean="0">
                <a:solidFill>
                  <a:schemeClr val="tx1"/>
                </a:solidFill>
              </a:rPr>
              <a:t>). </a:t>
            </a:r>
            <a:r>
              <a:rPr lang="ko-KR" altLang="en-US" b="1" smtClean="0">
                <a:solidFill>
                  <a:schemeClr val="tx1"/>
                </a:solidFill>
              </a:rPr>
              <a:t>출제자의 </a:t>
            </a:r>
            <a:r>
              <a:rPr lang="ko-KR" altLang="en-US" b="1">
                <a:solidFill>
                  <a:schemeClr val="tx1"/>
                </a:solidFill>
              </a:rPr>
              <a:t>문제를 맞추면</a:t>
            </a:r>
            <a:r>
              <a:rPr lang="en-US" altLang="ko-KR" b="1" dirty="0">
                <a:solidFill>
                  <a:schemeClr val="tx1"/>
                </a:solidFill>
              </a:rPr>
              <a:t>,</a:t>
            </a:r>
            <a:r>
              <a:rPr lang="ko-KR" altLang="en-US" b="1">
                <a:solidFill>
                  <a:schemeClr val="tx1"/>
                </a:solidFill>
              </a:rPr>
              <a:t> 출제자가 </a:t>
            </a:r>
            <a:r>
              <a:rPr lang="en-US" altLang="ko-KR" b="1" dirty="0" smtClean="0">
                <a:solidFill>
                  <a:schemeClr val="tx1"/>
                </a:solidFill>
              </a:rPr>
              <a:t>1</a:t>
            </a:r>
            <a:r>
              <a:rPr lang="ko-KR" altLang="en-US" b="1" smtClean="0">
                <a:solidFill>
                  <a:schemeClr val="tx1"/>
                </a:solidFill>
              </a:rPr>
              <a:t>점 </a:t>
            </a:r>
            <a:r>
              <a:rPr lang="ko-KR" altLang="en-US" b="1">
                <a:solidFill>
                  <a:schemeClr val="tx1"/>
                </a:solidFill>
              </a:rPr>
              <a:t>획득</a:t>
            </a:r>
            <a:r>
              <a:rPr lang="en-US" altLang="ko-KR" b="1" dirty="0">
                <a:solidFill>
                  <a:schemeClr val="tx1"/>
                </a:solidFill>
              </a:rPr>
              <a:t>, </a:t>
            </a:r>
            <a:r>
              <a:rPr lang="ko-KR" altLang="en-US" b="1">
                <a:solidFill>
                  <a:schemeClr val="tx1"/>
                </a:solidFill>
              </a:rPr>
              <a:t>참가자는 </a:t>
            </a:r>
            <a:r>
              <a:rPr lang="en-US" altLang="ko-KR" b="1" dirty="0" smtClean="0">
                <a:solidFill>
                  <a:schemeClr val="tx1"/>
                </a:solidFill>
              </a:rPr>
              <a:t>2</a:t>
            </a:r>
            <a:r>
              <a:rPr lang="ko-KR" altLang="en-US" b="1" smtClean="0">
                <a:solidFill>
                  <a:schemeClr val="tx1"/>
                </a:solidFill>
              </a:rPr>
              <a:t>점 획득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1257300" lvl="2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0</a:t>
            </a:r>
            <a:r>
              <a:rPr lang="ko-KR" altLang="en-US" b="1" smtClean="0">
                <a:solidFill>
                  <a:schemeClr val="tx1"/>
                </a:solidFill>
              </a:rPr>
              <a:t>초 이후 </a:t>
            </a:r>
            <a:r>
              <a:rPr lang="en-US" altLang="ko-KR" b="1" dirty="0" smtClean="0">
                <a:solidFill>
                  <a:schemeClr val="tx1"/>
                </a:solidFill>
              </a:rPr>
              <a:t>– </a:t>
            </a:r>
            <a:r>
              <a:rPr lang="ko-KR" altLang="en-US" b="1" smtClean="0">
                <a:solidFill>
                  <a:schemeClr val="tx1"/>
                </a:solidFill>
              </a:rPr>
              <a:t>바로 종료 후</a:t>
            </a:r>
            <a:r>
              <a:rPr lang="en-US" altLang="ko-KR" b="1" dirty="0" smtClean="0">
                <a:solidFill>
                  <a:schemeClr val="tx1"/>
                </a:solidFill>
              </a:rPr>
              <a:t>, </a:t>
            </a:r>
            <a:r>
              <a:rPr lang="ko-KR" altLang="en-US" b="1" smtClean="0">
                <a:solidFill>
                  <a:schemeClr val="tx1"/>
                </a:solidFill>
              </a:rPr>
              <a:t>정답 공개</a:t>
            </a:r>
            <a:r>
              <a:rPr lang="en-US" altLang="ko-KR" b="1" dirty="0" smtClean="0">
                <a:solidFill>
                  <a:schemeClr val="tx1"/>
                </a:solidFill>
              </a:rPr>
              <a:t>. </a:t>
            </a:r>
            <a:r>
              <a:rPr lang="ko-KR" altLang="en-US" b="1" smtClean="0">
                <a:solidFill>
                  <a:schemeClr val="tx1"/>
                </a:solidFill>
              </a:rPr>
              <a:t>출제자 </a:t>
            </a:r>
            <a:r>
              <a:rPr lang="en-US" altLang="ko-KR" b="1" dirty="0" smtClean="0">
                <a:solidFill>
                  <a:schemeClr val="tx1"/>
                </a:solidFill>
              </a:rPr>
              <a:t>1</a:t>
            </a:r>
            <a:r>
              <a:rPr lang="ko-KR" altLang="en-US" b="1" smtClean="0">
                <a:solidFill>
                  <a:schemeClr val="tx1"/>
                </a:solidFill>
              </a:rPr>
              <a:t>점 감점</a:t>
            </a:r>
            <a:r>
              <a:rPr lang="en-US" altLang="ko-KR" b="1" dirty="0" smtClean="0">
                <a:solidFill>
                  <a:schemeClr val="tx1"/>
                </a:solidFill>
              </a:rPr>
              <a:t>, </a:t>
            </a:r>
            <a:r>
              <a:rPr lang="ko-KR" altLang="en-US" b="1" smtClean="0">
                <a:solidFill>
                  <a:schemeClr val="tx1"/>
                </a:solidFill>
              </a:rPr>
              <a:t>다음 출제자는 기존 출제자 유지 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기타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>
                <a:solidFill>
                  <a:schemeClr val="tx1"/>
                </a:solidFill>
              </a:rPr>
              <a:t>팀 소개 영상 </a:t>
            </a:r>
            <a:r>
              <a:rPr lang="en-US" altLang="ko-KR" b="1" dirty="0">
                <a:solidFill>
                  <a:schemeClr val="tx1"/>
                </a:solidFill>
              </a:rPr>
              <a:t>– </a:t>
            </a:r>
            <a:r>
              <a:rPr lang="ko-KR" altLang="en-US" b="1">
                <a:solidFill>
                  <a:schemeClr val="tx1"/>
                </a:solidFill>
              </a:rPr>
              <a:t>월요일 오후 </a:t>
            </a:r>
            <a:r>
              <a:rPr lang="ko-KR" altLang="en-US" b="1" smtClean="0">
                <a:solidFill>
                  <a:schemeClr val="tx1"/>
                </a:solidFill>
              </a:rPr>
              <a:t>한시까지 제출 </a:t>
            </a:r>
            <a:r>
              <a:rPr lang="en-US" altLang="ko-KR" b="1" dirty="0" smtClean="0">
                <a:solidFill>
                  <a:schemeClr val="tx1"/>
                </a:solidFill>
              </a:rPr>
              <a:t>(</a:t>
            </a:r>
            <a:r>
              <a:rPr lang="ko-KR" altLang="en-US" b="1" smtClean="0">
                <a:solidFill>
                  <a:schemeClr val="tx1"/>
                </a:solidFill>
              </a:rPr>
              <a:t>완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전시회 시연 고려 </a:t>
            </a:r>
            <a:r>
              <a:rPr lang="en-US" altLang="ko-KR" b="1" dirty="0" smtClean="0">
                <a:solidFill>
                  <a:schemeClr val="tx1"/>
                </a:solidFill>
              </a:rPr>
              <a:t>– PC </a:t>
            </a:r>
            <a:r>
              <a:rPr lang="ko-KR" altLang="en-US" b="1" smtClean="0">
                <a:solidFill>
                  <a:schemeClr val="tx1"/>
                </a:solidFill>
              </a:rPr>
              <a:t>모니터에 띄울 수 있는지 </a:t>
            </a:r>
            <a:r>
              <a:rPr lang="en-US" altLang="ko-KR" b="1" dirty="0" smtClean="0">
                <a:solidFill>
                  <a:schemeClr val="tx1"/>
                </a:solidFill>
              </a:rPr>
              <a:t>(</a:t>
            </a:r>
            <a:r>
              <a:rPr lang="ko-KR" altLang="en-US" b="1" smtClean="0">
                <a:solidFill>
                  <a:schemeClr val="tx1"/>
                </a:solidFill>
              </a:rPr>
              <a:t>완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  <a:endParaRPr lang="en-US" altLang="ko-KR" sz="2800" b="1" dirty="0" smtClean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0. </a:t>
            </a:r>
            <a:r>
              <a:rPr lang="ko-KR" altLang="en-US" sz="54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기획</a:t>
            </a:r>
            <a:r>
              <a:rPr lang="en-US" altLang="ko-KR" sz="54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(260420)</a:t>
            </a:r>
            <a:endParaRPr lang="ko-KR" altLang="en-US" sz="5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01541" y="1561514"/>
            <a:ext cx="7743960" cy="86536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4/20 </a:t>
            </a:r>
            <a:r>
              <a:rPr lang="ko-KR" altLang="en-US" b="1" smtClean="0">
                <a:solidFill>
                  <a:schemeClr val="tx1"/>
                </a:solidFill>
              </a:rPr>
              <a:t>월 오후 한시반 팀별 영상 제작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팀 이름</a:t>
            </a:r>
            <a:r>
              <a:rPr lang="en-US" altLang="ko-KR" b="1" dirty="0" smtClean="0">
                <a:solidFill>
                  <a:schemeClr val="tx1"/>
                </a:solidFill>
              </a:rPr>
              <a:t>, </a:t>
            </a:r>
            <a:r>
              <a:rPr lang="ko-KR" altLang="en-US" b="1" smtClean="0">
                <a:solidFill>
                  <a:schemeClr val="tx1"/>
                </a:solidFill>
              </a:rPr>
              <a:t>팀원 소개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프로젝트 주제</a:t>
            </a:r>
            <a:r>
              <a:rPr lang="en-US" altLang="ko-KR" b="1" dirty="0" smtClean="0">
                <a:solidFill>
                  <a:schemeClr val="tx1"/>
                </a:solidFill>
              </a:rPr>
              <a:t>, </a:t>
            </a:r>
            <a:r>
              <a:rPr lang="ko-KR" altLang="en-US" b="1" smtClean="0">
                <a:solidFill>
                  <a:schemeClr val="tx1"/>
                </a:solidFill>
              </a:rPr>
              <a:t>목표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팀워크 모습</a:t>
            </a:r>
            <a:r>
              <a:rPr lang="en-US" altLang="ko-KR" b="1" dirty="0" smtClean="0">
                <a:solidFill>
                  <a:schemeClr val="tx1"/>
                </a:solidFill>
              </a:rPr>
              <a:t>?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err="1" smtClean="0">
                <a:solidFill>
                  <a:schemeClr val="tx1"/>
                </a:solidFill>
              </a:rPr>
              <a:t>재밌는</a:t>
            </a:r>
            <a:r>
              <a:rPr lang="ko-KR" altLang="en-US" b="1" dirty="0" smtClean="0">
                <a:solidFill>
                  <a:schemeClr val="tx1"/>
                </a:solidFill>
              </a:rPr>
              <a:t> 요소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4/21 </a:t>
            </a:r>
            <a:r>
              <a:rPr lang="ko-KR" altLang="en-US" b="1" smtClean="0">
                <a:solidFill>
                  <a:schemeClr val="tx1"/>
                </a:solidFill>
              </a:rPr>
              <a:t>화 오후 한시반 </a:t>
            </a:r>
            <a:r>
              <a:rPr lang="en-US" altLang="ko-KR" b="1" dirty="0" smtClean="0">
                <a:solidFill>
                  <a:schemeClr val="tx1"/>
                </a:solidFill>
              </a:rPr>
              <a:t>2</a:t>
            </a:r>
            <a:r>
              <a:rPr lang="ko-KR" altLang="en-US" b="1" smtClean="0">
                <a:solidFill>
                  <a:schemeClr val="tx1"/>
                </a:solidFill>
              </a:rPr>
              <a:t>차 데모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4/22 </a:t>
            </a:r>
            <a:r>
              <a:rPr lang="ko-KR" altLang="en-US" b="1" smtClean="0">
                <a:solidFill>
                  <a:schemeClr val="tx1"/>
                </a:solidFill>
              </a:rPr>
              <a:t>수 오후 한시반 </a:t>
            </a:r>
            <a:r>
              <a:rPr lang="en-US" altLang="ko-KR" b="1" dirty="0" smtClean="0">
                <a:solidFill>
                  <a:schemeClr val="tx1"/>
                </a:solidFill>
              </a:rPr>
              <a:t>3</a:t>
            </a:r>
            <a:r>
              <a:rPr lang="ko-KR" altLang="en-US" b="1" smtClean="0">
                <a:solidFill>
                  <a:schemeClr val="tx1"/>
                </a:solidFill>
              </a:rPr>
              <a:t>차 데모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4/23 </a:t>
            </a:r>
            <a:r>
              <a:rPr lang="ko-KR" altLang="en-US" b="1" smtClean="0">
                <a:solidFill>
                  <a:schemeClr val="tx1"/>
                </a:solidFill>
              </a:rPr>
              <a:t>목 오후 한시반 최종 발표</a:t>
            </a:r>
            <a:r>
              <a:rPr lang="en-US" altLang="ko-KR" b="1" dirty="0" smtClean="0">
                <a:solidFill>
                  <a:schemeClr val="tx1"/>
                </a:solidFill>
              </a:rPr>
              <a:t>, </a:t>
            </a:r>
            <a:r>
              <a:rPr lang="ko-KR" altLang="en-US" b="1" smtClean="0">
                <a:solidFill>
                  <a:schemeClr val="tx1"/>
                </a:solidFill>
              </a:rPr>
              <a:t>세시반 반별 전시회</a:t>
            </a:r>
            <a:endParaRPr lang="en-US" altLang="ko-KR" b="1" dirty="0" smtClean="0">
              <a:solidFill>
                <a:schemeClr val="tx1"/>
              </a:solidFill>
            </a:endParaRPr>
          </a:p>
        </p:txBody>
      </p:sp>
      <p:grpSp>
        <p:nvGrpSpPr>
          <p:cNvPr id="20" name="그룹 19"/>
          <p:cNvGrpSpPr/>
          <p:nvPr/>
        </p:nvGrpSpPr>
        <p:grpSpPr>
          <a:xfrm>
            <a:off x="1965916" y="5764804"/>
            <a:ext cx="4655366" cy="3357592"/>
            <a:chOff x="11739591" y="2631786"/>
            <a:chExt cx="4655366" cy="3357592"/>
          </a:xfrm>
        </p:grpSpPr>
        <p:sp>
          <p:nvSpPr>
            <p:cNvPr id="11" name="직사각형 10"/>
            <p:cNvSpPr/>
            <p:nvPr/>
          </p:nvSpPr>
          <p:spPr>
            <a:xfrm>
              <a:off x="12635344" y="3056708"/>
              <a:ext cx="3759613" cy="292608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  <p:cxnSp>
          <p:nvCxnSpPr>
            <p:cNvPr id="12" name="직선 연결선 11"/>
            <p:cNvCxnSpPr/>
            <p:nvPr/>
          </p:nvCxnSpPr>
          <p:spPr>
            <a:xfrm>
              <a:off x="14435529" y="4513217"/>
              <a:ext cx="0" cy="147616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>
              <a:stCxn id="11" idx="3"/>
              <a:endCxn id="11" idx="1"/>
            </p:cNvCxnSpPr>
            <p:nvPr/>
          </p:nvCxnSpPr>
          <p:spPr>
            <a:xfrm flipH="1">
              <a:off x="12635344" y="4519748"/>
              <a:ext cx="3759613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11849395" y="2631786"/>
              <a:ext cx="14189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/>
                <a:t>화면 </a:t>
              </a:r>
              <a:r>
                <a:rPr lang="en-US" altLang="ko-KR" b="1" dirty="0" smtClean="0"/>
                <a:t>UI </a:t>
              </a:r>
              <a:r>
                <a:rPr lang="ko-KR" altLang="en-US" b="1" smtClean="0"/>
                <a:t>구성</a:t>
              </a:r>
              <a:endParaRPr lang="ko-KR" altLang="en-US" b="1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2729613" y="3151052"/>
              <a:ext cx="11945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 smtClean="0"/>
                <a:t>출제자</a:t>
              </a:r>
              <a:r>
                <a:rPr lang="en-US" altLang="ko-KR" sz="1400" b="1" dirty="0"/>
                <a:t>(</a:t>
              </a:r>
              <a:r>
                <a:rPr lang="ko-KR" altLang="en-US" sz="1400" b="1" smtClean="0"/>
                <a:t>점수</a:t>
              </a:r>
              <a:r>
                <a:rPr lang="en-US" altLang="ko-KR" sz="1400" b="1" dirty="0" smtClean="0"/>
                <a:t>)</a:t>
              </a:r>
              <a:endParaRPr lang="ko-KR" altLang="en-US" sz="1400" b="1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2729613" y="4588179"/>
              <a:ext cx="13660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 smtClean="0"/>
                <a:t>참가자 </a:t>
              </a:r>
              <a:r>
                <a:rPr lang="en-US" altLang="ko-KR" sz="1400" b="1" dirty="0" smtClean="0"/>
                <a:t>1</a:t>
              </a:r>
              <a:r>
                <a:rPr lang="en-US" altLang="ko-KR" sz="1400" b="1" dirty="0"/>
                <a:t> (</a:t>
              </a:r>
              <a:r>
                <a:rPr lang="ko-KR" altLang="en-US" sz="1400" b="1"/>
                <a:t>점수</a:t>
              </a:r>
              <a:r>
                <a:rPr lang="en-US" altLang="ko-KR" sz="1400" b="1" dirty="0"/>
                <a:t>)</a:t>
              </a:r>
              <a:endParaRPr lang="ko-KR" altLang="en-US" sz="1400" b="1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4529799" y="4569839"/>
              <a:ext cx="13660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 smtClean="0"/>
                <a:t>참가자 </a:t>
              </a:r>
              <a:r>
                <a:rPr lang="en-US" altLang="ko-KR" sz="1400" b="1" dirty="0" smtClean="0"/>
                <a:t>2 </a:t>
              </a:r>
              <a:r>
                <a:rPr lang="en-US" altLang="ko-KR" sz="1400" b="1" dirty="0"/>
                <a:t>(</a:t>
              </a:r>
              <a:r>
                <a:rPr lang="ko-KR" altLang="en-US" sz="1400" b="1"/>
                <a:t>점수</a:t>
              </a:r>
              <a:r>
                <a:rPr lang="en-US" altLang="ko-KR" sz="1400" b="1" dirty="0"/>
                <a:t>)</a:t>
              </a:r>
              <a:endParaRPr lang="ko-KR" altLang="en-US" sz="1400" b="1" dirty="0"/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1758716" y="3056709"/>
              <a:ext cx="876627" cy="292608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1739591" y="3151052"/>
              <a:ext cx="9428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 smtClean="0"/>
                <a:t>남은 시간</a:t>
              </a:r>
              <a:endParaRPr lang="ko-KR" altLang="en-US" sz="1400" b="1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1849396" y="4056313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 smtClean="0"/>
                <a:t>라운드</a:t>
              </a:r>
              <a:endParaRPr lang="ko-KR" altLang="en-US" sz="1400" b="1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1849395" y="5023380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 smtClean="0"/>
                <a:t>캐릭터</a:t>
              </a:r>
              <a:endParaRPr lang="ko-KR" altLang="en-US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753764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8857633" y="1561514"/>
            <a:ext cx="7743960" cy="86536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구현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참가자</a:t>
            </a:r>
            <a:r>
              <a:rPr lang="en-US" altLang="ko-KR" b="1" dirty="0" smtClean="0">
                <a:solidFill>
                  <a:schemeClr val="tx1"/>
                </a:solidFill>
              </a:rPr>
              <a:t>/</a:t>
            </a:r>
            <a:r>
              <a:rPr lang="ko-KR" altLang="en-US" b="1" smtClean="0">
                <a:solidFill>
                  <a:schemeClr val="tx1"/>
                </a:solidFill>
              </a:rPr>
              <a:t>출제자 화면에 </a:t>
            </a:r>
            <a:r>
              <a:rPr lang="ko-KR" altLang="en-US" b="1" dirty="0" smtClean="0">
                <a:solidFill>
                  <a:schemeClr val="tx1"/>
                </a:solidFill>
              </a:rPr>
              <a:t>지우개 기능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일정 </a:t>
            </a:r>
            <a:r>
              <a:rPr lang="ko-KR" altLang="en-US" b="1" dirty="0">
                <a:solidFill>
                  <a:schemeClr val="tx1"/>
                </a:solidFill>
              </a:rPr>
              <a:t>시간 못 맞추면 힌트로 카테고리 </a:t>
            </a:r>
            <a:r>
              <a:rPr lang="ko-KR" altLang="en-US" b="1" dirty="0" smtClean="0">
                <a:solidFill>
                  <a:schemeClr val="tx1"/>
                </a:solidFill>
              </a:rPr>
              <a:t>출력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err="1" smtClean="0">
                <a:solidFill>
                  <a:schemeClr val="tx1"/>
                </a:solidFill>
              </a:rPr>
              <a:t>점수제</a:t>
            </a:r>
            <a:r>
              <a:rPr lang="ko-KR" altLang="en-US" b="1" dirty="0" smtClean="0">
                <a:solidFill>
                  <a:schemeClr val="tx1"/>
                </a:solidFill>
              </a:rPr>
              <a:t> 룰 </a:t>
            </a:r>
            <a:r>
              <a:rPr lang="en-US" altLang="ko-KR" b="1" dirty="0" smtClean="0">
                <a:solidFill>
                  <a:schemeClr val="tx1"/>
                </a:solidFill>
              </a:rPr>
              <a:t>(5</a:t>
            </a:r>
            <a:r>
              <a:rPr lang="ko-KR" altLang="en-US" b="1" smtClean="0">
                <a:solidFill>
                  <a:schemeClr val="tx1"/>
                </a:solidFill>
              </a:rPr>
              <a:t>라운드</a:t>
            </a:r>
            <a:r>
              <a:rPr lang="en-US" altLang="ko-KR" b="1" dirty="0" smtClean="0">
                <a:solidFill>
                  <a:schemeClr val="tx1"/>
                </a:solidFill>
              </a:rPr>
              <a:t>, 60</a:t>
            </a:r>
            <a:r>
              <a:rPr lang="ko-KR" altLang="en-US" b="1" smtClean="0">
                <a:solidFill>
                  <a:schemeClr val="tx1"/>
                </a:solidFill>
              </a:rPr>
              <a:t>초 </a:t>
            </a:r>
            <a:r>
              <a:rPr lang="en-US" altLang="ko-KR" b="1" dirty="0" smtClean="0">
                <a:solidFill>
                  <a:schemeClr val="tx1"/>
                </a:solidFill>
              </a:rPr>
              <a:t>-&gt; 0</a:t>
            </a:r>
            <a:r>
              <a:rPr lang="ko-KR" altLang="en-US" b="1" smtClean="0">
                <a:solidFill>
                  <a:schemeClr val="tx1"/>
                </a:solidFill>
              </a:rPr>
              <a:t>초</a:t>
            </a:r>
            <a:r>
              <a:rPr lang="en-US" altLang="ko-KR" b="1" dirty="0" smtClean="0">
                <a:solidFill>
                  <a:schemeClr val="tx1"/>
                </a:solidFill>
              </a:rPr>
              <a:t>) (</a:t>
            </a:r>
            <a:r>
              <a:rPr lang="ko-KR" altLang="en-US" b="1" smtClean="0">
                <a:solidFill>
                  <a:schemeClr val="tx1"/>
                </a:solidFill>
              </a:rPr>
              <a:t>완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  <a:endParaRPr lang="en-US" altLang="ko-KR" b="1" dirty="0">
              <a:solidFill>
                <a:schemeClr val="tx1"/>
              </a:solidFill>
            </a:endParaRPr>
          </a:p>
          <a:p>
            <a:pPr marL="1257300" lvl="2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최초 출제자는 선착순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1257300" lvl="2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60 ~ 30</a:t>
            </a:r>
            <a:r>
              <a:rPr lang="ko-KR" altLang="en-US" b="1" smtClean="0">
                <a:solidFill>
                  <a:schemeClr val="tx1"/>
                </a:solidFill>
              </a:rPr>
              <a:t>초 </a:t>
            </a:r>
            <a:r>
              <a:rPr lang="en-US" altLang="ko-KR" b="1" dirty="0" smtClean="0">
                <a:solidFill>
                  <a:schemeClr val="tx1"/>
                </a:solidFill>
              </a:rPr>
              <a:t>– </a:t>
            </a:r>
            <a:r>
              <a:rPr lang="ko-KR" altLang="en-US" b="1" smtClean="0">
                <a:solidFill>
                  <a:schemeClr val="tx1"/>
                </a:solidFill>
              </a:rPr>
              <a:t>출제자의 문제를 맞추면</a:t>
            </a:r>
            <a:r>
              <a:rPr lang="en-US" altLang="ko-KR" b="1" dirty="0" smtClean="0">
                <a:solidFill>
                  <a:schemeClr val="tx1"/>
                </a:solidFill>
              </a:rPr>
              <a:t>,</a:t>
            </a:r>
            <a:r>
              <a:rPr lang="ko-KR" altLang="en-US" b="1" smtClean="0">
                <a:solidFill>
                  <a:schemeClr val="tx1"/>
                </a:solidFill>
              </a:rPr>
              <a:t> 출제자가 </a:t>
            </a:r>
            <a:r>
              <a:rPr lang="en-US" altLang="ko-KR" b="1" dirty="0" smtClean="0">
                <a:solidFill>
                  <a:schemeClr val="tx1"/>
                </a:solidFill>
              </a:rPr>
              <a:t>2</a:t>
            </a:r>
            <a:r>
              <a:rPr lang="ko-KR" altLang="en-US" b="1" smtClean="0">
                <a:solidFill>
                  <a:schemeClr val="tx1"/>
                </a:solidFill>
              </a:rPr>
              <a:t>점 획득</a:t>
            </a:r>
            <a:r>
              <a:rPr lang="en-US" altLang="ko-KR" b="1" dirty="0" smtClean="0">
                <a:solidFill>
                  <a:schemeClr val="tx1"/>
                </a:solidFill>
              </a:rPr>
              <a:t>, </a:t>
            </a:r>
            <a:r>
              <a:rPr lang="ko-KR" altLang="en-US" b="1" smtClean="0">
                <a:solidFill>
                  <a:schemeClr val="tx1"/>
                </a:solidFill>
              </a:rPr>
              <a:t>참가자는 </a:t>
            </a:r>
            <a:r>
              <a:rPr lang="en-US" altLang="ko-KR" b="1" dirty="0" smtClean="0">
                <a:solidFill>
                  <a:schemeClr val="tx1"/>
                </a:solidFill>
              </a:rPr>
              <a:t>3</a:t>
            </a:r>
            <a:r>
              <a:rPr lang="ko-KR" altLang="en-US" b="1" smtClean="0">
                <a:solidFill>
                  <a:schemeClr val="tx1"/>
                </a:solidFill>
              </a:rPr>
              <a:t>점 획득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1257300" lvl="2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30</a:t>
            </a:r>
            <a:r>
              <a:rPr lang="ko-KR" altLang="en-US" b="1">
                <a:solidFill>
                  <a:schemeClr val="tx1"/>
                </a:solidFill>
              </a:rPr>
              <a:t> </a:t>
            </a:r>
            <a:r>
              <a:rPr lang="en-US" altLang="ko-KR" b="1" dirty="0" smtClean="0">
                <a:solidFill>
                  <a:schemeClr val="tx1"/>
                </a:solidFill>
              </a:rPr>
              <a:t>~ 0</a:t>
            </a:r>
            <a:r>
              <a:rPr lang="ko-KR" altLang="en-US" b="1" smtClean="0">
                <a:solidFill>
                  <a:schemeClr val="tx1"/>
                </a:solidFill>
              </a:rPr>
              <a:t>초 </a:t>
            </a:r>
            <a:r>
              <a:rPr lang="en-US" altLang="ko-KR" b="1" dirty="0" smtClean="0">
                <a:solidFill>
                  <a:schemeClr val="tx1"/>
                </a:solidFill>
              </a:rPr>
              <a:t>– </a:t>
            </a:r>
            <a:r>
              <a:rPr lang="ko-KR" altLang="en-US" b="1" smtClean="0">
                <a:solidFill>
                  <a:schemeClr val="tx1"/>
                </a:solidFill>
              </a:rPr>
              <a:t>힌트 출력</a:t>
            </a:r>
            <a:r>
              <a:rPr lang="en-US" altLang="ko-KR" b="1" dirty="0" smtClean="0">
                <a:solidFill>
                  <a:schemeClr val="tx1"/>
                </a:solidFill>
              </a:rPr>
              <a:t>(</a:t>
            </a:r>
            <a:r>
              <a:rPr lang="ko-KR" altLang="en-US" b="1" smtClean="0">
                <a:solidFill>
                  <a:schemeClr val="tx1"/>
                </a:solidFill>
              </a:rPr>
              <a:t>카테고리</a:t>
            </a:r>
            <a:r>
              <a:rPr lang="en-US" altLang="ko-KR" b="1" dirty="0" smtClean="0">
                <a:solidFill>
                  <a:schemeClr val="tx1"/>
                </a:solidFill>
              </a:rPr>
              <a:t>). </a:t>
            </a:r>
            <a:r>
              <a:rPr lang="ko-KR" altLang="en-US" b="1" smtClean="0">
                <a:solidFill>
                  <a:schemeClr val="tx1"/>
                </a:solidFill>
              </a:rPr>
              <a:t>출제자의 </a:t>
            </a:r>
            <a:r>
              <a:rPr lang="ko-KR" altLang="en-US" b="1">
                <a:solidFill>
                  <a:schemeClr val="tx1"/>
                </a:solidFill>
              </a:rPr>
              <a:t>문제를 맞추면</a:t>
            </a:r>
            <a:r>
              <a:rPr lang="en-US" altLang="ko-KR" b="1" dirty="0">
                <a:solidFill>
                  <a:schemeClr val="tx1"/>
                </a:solidFill>
              </a:rPr>
              <a:t>,</a:t>
            </a:r>
            <a:r>
              <a:rPr lang="ko-KR" altLang="en-US" b="1">
                <a:solidFill>
                  <a:schemeClr val="tx1"/>
                </a:solidFill>
              </a:rPr>
              <a:t> 출제자가 </a:t>
            </a:r>
            <a:r>
              <a:rPr lang="en-US" altLang="ko-KR" b="1" dirty="0" smtClean="0">
                <a:solidFill>
                  <a:schemeClr val="tx1"/>
                </a:solidFill>
              </a:rPr>
              <a:t>1</a:t>
            </a:r>
            <a:r>
              <a:rPr lang="ko-KR" altLang="en-US" b="1" smtClean="0">
                <a:solidFill>
                  <a:schemeClr val="tx1"/>
                </a:solidFill>
              </a:rPr>
              <a:t>점 </a:t>
            </a:r>
            <a:r>
              <a:rPr lang="ko-KR" altLang="en-US" b="1">
                <a:solidFill>
                  <a:schemeClr val="tx1"/>
                </a:solidFill>
              </a:rPr>
              <a:t>획득</a:t>
            </a:r>
            <a:r>
              <a:rPr lang="en-US" altLang="ko-KR" b="1" dirty="0">
                <a:solidFill>
                  <a:schemeClr val="tx1"/>
                </a:solidFill>
              </a:rPr>
              <a:t>, </a:t>
            </a:r>
            <a:r>
              <a:rPr lang="ko-KR" altLang="en-US" b="1">
                <a:solidFill>
                  <a:schemeClr val="tx1"/>
                </a:solidFill>
              </a:rPr>
              <a:t>참가자는 </a:t>
            </a:r>
            <a:r>
              <a:rPr lang="en-US" altLang="ko-KR" b="1" dirty="0" smtClean="0">
                <a:solidFill>
                  <a:schemeClr val="tx1"/>
                </a:solidFill>
              </a:rPr>
              <a:t>2</a:t>
            </a:r>
            <a:r>
              <a:rPr lang="ko-KR" altLang="en-US" b="1" smtClean="0">
                <a:solidFill>
                  <a:schemeClr val="tx1"/>
                </a:solidFill>
              </a:rPr>
              <a:t>점 획득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1257300" lvl="2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0</a:t>
            </a:r>
            <a:r>
              <a:rPr lang="ko-KR" altLang="en-US" b="1" smtClean="0">
                <a:solidFill>
                  <a:schemeClr val="tx1"/>
                </a:solidFill>
              </a:rPr>
              <a:t>초 이후 </a:t>
            </a:r>
            <a:r>
              <a:rPr lang="en-US" altLang="ko-KR" b="1" dirty="0" smtClean="0">
                <a:solidFill>
                  <a:schemeClr val="tx1"/>
                </a:solidFill>
              </a:rPr>
              <a:t>– </a:t>
            </a:r>
            <a:r>
              <a:rPr lang="ko-KR" altLang="en-US" b="1" smtClean="0">
                <a:solidFill>
                  <a:schemeClr val="tx1"/>
                </a:solidFill>
              </a:rPr>
              <a:t>바로 종료 후</a:t>
            </a:r>
            <a:r>
              <a:rPr lang="en-US" altLang="ko-KR" b="1" dirty="0" smtClean="0">
                <a:solidFill>
                  <a:schemeClr val="tx1"/>
                </a:solidFill>
              </a:rPr>
              <a:t>, </a:t>
            </a:r>
            <a:r>
              <a:rPr lang="ko-KR" altLang="en-US" b="1" smtClean="0">
                <a:solidFill>
                  <a:schemeClr val="tx1"/>
                </a:solidFill>
              </a:rPr>
              <a:t>정답 공개</a:t>
            </a:r>
            <a:r>
              <a:rPr lang="en-US" altLang="ko-KR" b="1" dirty="0" smtClean="0">
                <a:solidFill>
                  <a:schemeClr val="tx1"/>
                </a:solidFill>
              </a:rPr>
              <a:t>. </a:t>
            </a:r>
            <a:r>
              <a:rPr lang="ko-KR" altLang="en-US" b="1" smtClean="0">
                <a:solidFill>
                  <a:schemeClr val="tx1"/>
                </a:solidFill>
              </a:rPr>
              <a:t>출제자 </a:t>
            </a:r>
            <a:r>
              <a:rPr lang="en-US" altLang="ko-KR" b="1" dirty="0" smtClean="0">
                <a:solidFill>
                  <a:schemeClr val="tx1"/>
                </a:solidFill>
              </a:rPr>
              <a:t>1</a:t>
            </a:r>
            <a:r>
              <a:rPr lang="ko-KR" altLang="en-US" b="1" smtClean="0">
                <a:solidFill>
                  <a:schemeClr val="tx1"/>
                </a:solidFill>
              </a:rPr>
              <a:t>점 감점</a:t>
            </a:r>
            <a:r>
              <a:rPr lang="en-US" altLang="ko-KR" b="1" dirty="0" smtClean="0">
                <a:solidFill>
                  <a:schemeClr val="tx1"/>
                </a:solidFill>
              </a:rPr>
              <a:t>, </a:t>
            </a:r>
            <a:r>
              <a:rPr lang="ko-KR" altLang="en-US" b="1" smtClean="0">
                <a:solidFill>
                  <a:schemeClr val="tx1"/>
                </a:solidFill>
              </a:rPr>
              <a:t>다음 출제자는 기존 출제자 유지 </a:t>
            </a:r>
            <a:endParaRPr lang="en-US" altLang="ko-KR" b="1" dirty="0" smtClean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0. </a:t>
            </a:r>
            <a:r>
              <a:rPr lang="ko-KR" altLang="en-US" sz="54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기획</a:t>
            </a:r>
            <a:r>
              <a:rPr lang="en-US" altLang="ko-KR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(260421)</a:t>
            </a:r>
            <a:endParaRPr lang="ko-KR" altLang="en-US" sz="5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01541" y="1561514"/>
            <a:ext cx="7743960" cy="86536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4/21 </a:t>
            </a:r>
            <a:r>
              <a:rPr lang="ko-KR" altLang="en-US" b="1" smtClean="0">
                <a:solidFill>
                  <a:schemeClr val="tx1"/>
                </a:solidFill>
              </a:rPr>
              <a:t>화 오후 한시반 </a:t>
            </a:r>
            <a:r>
              <a:rPr lang="en-US" altLang="ko-KR" b="1" dirty="0" smtClean="0">
                <a:solidFill>
                  <a:schemeClr val="tx1"/>
                </a:solidFill>
              </a:rPr>
              <a:t>2</a:t>
            </a:r>
            <a:r>
              <a:rPr lang="ko-KR" altLang="en-US" b="1" smtClean="0">
                <a:solidFill>
                  <a:schemeClr val="tx1"/>
                </a:solidFill>
              </a:rPr>
              <a:t>차 데모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4/22 </a:t>
            </a:r>
            <a:r>
              <a:rPr lang="ko-KR" altLang="en-US" b="1" smtClean="0">
                <a:solidFill>
                  <a:schemeClr val="tx1"/>
                </a:solidFill>
              </a:rPr>
              <a:t>수 오후 한시반 </a:t>
            </a:r>
            <a:r>
              <a:rPr lang="en-US" altLang="ko-KR" b="1" dirty="0" smtClean="0">
                <a:solidFill>
                  <a:schemeClr val="tx1"/>
                </a:solidFill>
              </a:rPr>
              <a:t>3</a:t>
            </a:r>
            <a:r>
              <a:rPr lang="ko-KR" altLang="en-US" b="1" smtClean="0">
                <a:solidFill>
                  <a:schemeClr val="tx1"/>
                </a:solidFill>
              </a:rPr>
              <a:t>차 데모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포스터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시연 영상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결과보고서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결과 파일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4/23 </a:t>
            </a:r>
            <a:r>
              <a:rPr lang="ko-KR" altLang="en-US" b="1" smtClean="0">
                <a:solidFill>
                  <a:schemeClr val="tx1"/>
                </a:solidFill>
              </a:rPr>
              <a:t>목 오후 한시반 최종 발표</a:t>
            </a:r>
            <a:r>
              <a:rPr lang="en-US" altLang="ko-KR" b="1" dirty="0" smtClean="0">
                <a:solidFill>
                  <a:schemeClr val="tx1"/>
                </a:solidFill>
              </a:rPr>
              <a:t>, </a:t>
            </a:r>
            <a:r>
              <a:rPr lang="ko-KR" altLang="en-US" b="1" smtClean="0">
                <a:solidFill>
                  <a:schemeClr val="tx1"/>
                </a:solidFill>
              </a:rPr>
              <a:t>세시반 반별 전시회</a:t>
            </a:r>
            <a:endParaRPr lang="en-US" altLang="ko-KR" b="1" dirty="0" smtClean="0">
              <a:solidFill>
                <a:schemeClr val="tx1"/>
              </a:solidFill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1860792" y="6381932"/>
            <a:ext cx="4686663" cy="3357592"/>
            <a:chOff x="1791517" y="3831739"/>
            <a:chExt cx="4686663" cy="3357592"/>
          </a:xfrm>
        </p:grpSpPr>
        <p:sp>
          <p:nvSpPr>
            <p:cNvPr id="7" name="TextBox 6"/>
            <p:cNvSpPr txBox="1"/>
            <p:nvPr/>
          </p:nvSpPr>
          <p:spPr>
            <a:xfrm>
              <a:off x="1932617" y="3831739"/>
              <a:ext cx="14189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/>
                <a:t>화면 </a:t>
              </a:r>
              <a:r>
                <a:rPr lang="en-US" altLang="ko-KR" b="1" dirty="0" smtClean="0"/>
                <a:t>UI </a:t>
              </a:r>
              <a:r>
                <a:rPr lang="ko-KR" altLang="en-US" b="1" smtClean="0"/>
                <a:t>구성</a:t>
              </a:r>
              <a:endParaRPr lang="ko-KR" altLang="en-US" b="1"/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1791517" y="4256661"/>
              <a:ext cx="4686663" cy="2932670"/>
              <a:chOff x="2701219" y="4256661"/>
              <a:chExt cx="3776960" cy="2932670"/>
            </a:xfrm>
          </p:grpSpPr>
          <p:sp>
            <p:nvSpPr>
              <p:cNvPr id="11" name="직사각형 10"/>
              <p:cNvSpPr/>
              <p:nvPr/>
            </p:nvSpPr>
            <p:spPr>
              <a:xfrm>
                <a:off x="2718566" y="4256661"/>
                <a:ext cx="3759613" cy="292608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/>
              </a:p>
            </p:txBody>
          </p:sp>
          <p:cxnSp>
            <p:nvCxnSpPr>
              <p:cNvPr id="12" name="직선 연결선 11"/>
              <p:cNvCxnSpPr/>
              <p:nvPr/>
            </p:nvCxnSpPr>
            <p:spPr>
              <a:xfrm>
                <a:off x="4432618" y="5998726"/>
                <a:ext cx="0" cy="119060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직선 연결선 12"/>
              <p:cNvCxnSpPr>
                <a:stCxn id="11" idx="3"/>
                <a:endCxn id="11" idx="1"/>
              </p:cNvCxnSpPr>
              <p:nvPr/>
            </p:nvCxnSpPr>
            <p:spPr>
              <a:xfrm flipH="1">
                <a:off x="2718566" y="5719701"/>
                <a:ext cx="3759613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TextBox 7"/>
              <p:cNvSpPr txBox="1"/>
              <p:nvPr/>
            </p:nvSpPr>
            <p:spPr>
              <a:xfrm>
                <a:off x="3588167" y="4342784"/>
                <a:ext cx="119455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400" b="1" dirty="0" smtClean="0"/>
                  <a:t>출제자</a:t>
                </a:r>
                <a:r>
                  <a:rPr lang="en-US" altLang="ko-KR" sz="1400" b="1" dirty="0"/>
                  <a:t>(</a:t>
                </a:r>
                <a:r>
                  <a:rPr lang="ko-KR" altLang="en-US" sz="1400" b="1" smtClean="0"/>
                  <a:t>점수</a:t>
                </a:r>
                <a:r>
                  <a:rPr lang="en-US" altLang="ko-KR" sz="1400" b="1" dirty="0" smtClean="0"/>
                  <a:t>)</a:t>
                </a:r>
                <a:endParaRPr lang="ko-KR" altLang="en-US" sz="1400" b="1"/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2982539" y="5998726"/>
                <a:ext cx="136608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400" b="1" dirty="0" smtClean="0"/>
                  <a:t>참가자 </a:t>
                </a:r>
                <a:r>
                  <a:rPr lang="en-US" altLang="ko-KR" sz="1400" b="1" dirty="0" smtClean="0"/>
                  <a:t>1</a:t>
                </a:r>
                <a:r>
                  <a:rPr lang="en-US" altLang="ko-KR" sz="1400" b="1" dirty="0"/>
                  <a:t> (</a:t>
                </a:r>
                <a:r>
                  <a:rPr lang="ko-KR" altLang="en-US" sz="1400" b="1"/>
                  <a:t>점수</a:t>
                </a:r>
                <a:r>
                  <a:rPr lang="en-US" altLang="ko-KR" sz="1400" b="1" dirty="0"/>
                  <a:t>)</a:t>
                </a:r>
                <a:endParaRPr lang="ko-KR" altLang="en-US" sz="1400" b="1" dirty="0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4782725" y="5980386"/>
                <a:ext cx="136608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400" b="1" dirty="0" smtClean="0"/>
                  <a:t>참가자 </a:t>
                </a:r>
                <a:r>
                  <a:rPr lang="en-US" altLang="ko-KR" sz="1400" b="1" dirty="0" smtClean="0"/>
                  <a:t>2 </a:t>
                </a:r>
                <a:r>
                  <a:rPr lang="en-US" altLang="ko-KR" sz="1400" b="1" dirty="0"/>
                  <a:t>(</a:t>
                </a:r>
                <a:r>
                  <a:rPr lang="ko-KR" altLang="en-US" sz="1400" b="1"/>
                  <a:t>점수</a:t>
                </a:r>
                <a:r>
                  <a:rPr lang="en-US" altLang="ko-KR" sz="1400" b="1" dirty="0"/>
                  <a:t>)</a:t>
                </a:r>
                <a:endParaRPr lang="ko-KR" altLang="en-US" sz="1400" b="1" dirty="0"/>
              </a:p>
            </p:txBody>
          </p:sp>
          <p:sp>
            <p:nvSpPr>
              <p:cNvPr id="16" name="직사각형 15"/>
              <p:cNvSpPr/>
              <p:nvPr/>
            </p:nvSpPr>
            <p:spPr>
              <a:xfrm>
                <a:off x="2719009" y="4256662"/>
                <a:ext cx="774889" cy="1469571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/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2701219" y="5714460"/>
                <a:ext cx="85568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b="1" dirty="0" smtClean="0"/>
                  <a:t>남은 시간</a:t>
                </a:r>
                <a:endParaRPr lang="ko-KR" altLang="en-US" sz="1400" b="1" dirty="0"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2809861" y="4430924"/>
                <a:ext cx="72327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400" b="1" dirty="0" smtClean="0"/>
                  <a:t>라운드</a:t>
                </a:r>
                <a:endParaRPr lang="ko-KR" altLang="en-US" sz="1400" b="1" dirty="0"/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2809861" y="5022931"/>
                <a:ext cx="72327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400" b="1" dirty="0" smtClean="0"/>
                  <a:t>캐릭터</a:t>
                </a:r>
                <a:endParaRPr lang="ko-KR" altLang="en-US" sz="1400" b="1" dirty="0"/>
              </a:p>
            </p:txBody>
          </p:sp>
        </p:grpSp>
        <p:cxnSp>
          <p:nvCxnSpPr>
            <p:cNvPr id="22" name="직선 연결선 21"/>
            <p:cNvCxnSpPr/>
            <p:nvPr/>
          </p:nvCxnSpPr>
          <p:spPr>
            <a:xfrm flipH="1">
              <a:off x="1803678" y="5980386"/>
              <a:ext cx="466513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0126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8857633" y="1561514"/>
            <a:ext cx="7743960" cy="86536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b="1" dirty="0">
                <a:solidFill>
                  <a:schemeClr val="tx1"/>
                </a:solidFill>
              </a:rPr>
              <a:t>화면 크기 </a:t>
            </a:r>
            <a:r>
              <a:rPr lang="ko-KR" altLang="en-US" b="1" dirty="0" smtClean="0">
                <a:solidFill>
                  <a:schemeClr val="tx1"/>
                </a:solidFill>
              </a:rPr>
              <a:t>조정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찌그러짐 </a:t>
            </a:r>
            <a:r>
              <a:rPr lang="ko-KR" altLang="en-US" b="1" dirty="0">
                <a:solidFill>
                  <a:schemeClr val="tx1"/>
                </a:solidFill>
              </a:rPr>
              <a:t>제거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b="1" dirty="0">
                <a:solidFill>
                  <a:schemeClr val="tx1"/>
                </a:solidFill>
              </a:rPr>
              <a:t>버그 </a:t>
            </a:r>
            <a:r>
              <a:rPr lang="ko-KR" altLang="en-US" b="1" dirty="0" smtClean="0">
                <a:solidFill>
                  <a:schemeClr val="tx1"/>
                </a:solidFill>
              </a:rPr>
              <a:t>발견</a:t>
            </a:r>
            <a:r>
              <a:rPr lang="en-US" altLang="ko-KR" b="1" dirty="0" smtClean="0">
                <a:solidFill>
                  <a:schemeClr val="tx1"/>
                </a:solidFill>
              </a:rPr>
              <a:t>1 (</a:t>
            </a:r>
            <a:r>
              <a:rPr lang="ko-KR" altLang="en-US" b="1" smtClean="0">
                <a:solidFill>
                  <a:schemeClr val="tx1"/>
                </a:solidFill>
              </a:rPr>
              <a:t>미해결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  <a:endParaRPr lang="ko-KR" altLang="en-US" b="1" dirty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>
                <a:solidFill>
                  <a:schemeClr val="tx1"/>
                </a:solidFill>
              </a:rPr>
              <a:t>참가자</a:t>
            </a:r>
            <a:r>
              <a:rPr lang="en-US" altLang="ko-KR" b="1" dirty="0">
                <a:solidFill>
                  <a:schemeClr val="tx1"/>
                </a:solidFill>
              </a:rPr>
              <a:t>1 </a:t>
            </a:r>
            <a:r>
              <a:rPr lang="ko-KR" altLang="en-US" b="1">
                <a:solidFill>
                  <a:schemeClr val="tx1"/>
                </a:solidFill>
              </a:rPr>
              <a:t>이 정답을 제출한 상태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>
                <a:solidFill>
                  <a:schemeClr val="tx1"/>
                </a:solidFill>
              </a:rPr>
              <a:t>참가자</a:t>
            </a:r>
            <a:r>
              <a:rPr lang="en-US" altLang="ko-KR" b="1" dirty="0">
                <a:solidFill>
                  <a:schemeClr val="tx1"/>
                </a:solidFill>
              </a:rPr>
              <a:t>2 </a:t>
            </a:r>
            <a:r>
              <a:rPr lang="ko-KR" altLang="en-US" b="1">
                <a:solidFill>
                  <a:schemeClr val="tx1"/>
                </a:solidFill>
              </a:rPr>
              <a:t>가 </a:t>
            </a:r>
            <a:r>
              <a:rPr lang="en-US" altLang="ko-KR" b="1" dirty="0">
                <a:solidFill>
                  <a:schemeClr val="tx1"/>
                </a:solidFill>
              </a:rPr>
              <a:t>submit</a:t>
            </a:r>
            <a:r>
              <a:rPr lang="ko-KR" altLang="en-US" b="1">
                <a:solidFill>
                  <a:schemeClr val="tx1"/>
                </a:solidFill>
              </a:rPr>
              <a:t>을 난타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>
                <a:solidFill>
                  <a:schemeClr val="tx1"/>
                </a:solidFill>
              </a:rPr>
              <a:t>참가자</a:t>
            </a:r>
            <a:r>
              <a:rPr lang="en-US" altLang="ko-KR" b="1" dirty="0">
                <a:solidFill>
                  <a:schemeClr val="tx1"/>
                </a:solidFill>
              </a:rPr>
              <a:t>1 </a:t>
            </a:r>
            <a:r>
              <a:rPr lang="ko-KR" altLang="en-US" b="1">
                <a:solidFill>
                  <a:schemeClr val="tx1"/>
                </a:solidFill>
              </a:rPr>
              <a:t>은 오답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>
                <a:solidFill>
                  <a:schemeClr val="tx1"/>
                </a:solidFill>
              </a:rPr>
              <a:t>참가자</a:t>
            </a:r>
            <a:r>
              <a:rPr lang="en-US" altLang="ko-KR" b="1" dirty="0">
                <a:solidFill>
                  <a:schemeClr val="tx1"/>
                </a:solidFill>
              </a:rPr>
              <a:t>2</a:t>
            </a:r>
            <a:r>
              <a:rPr lang="ko-KR" altLang="en-US" b="1">
                <a:solidFill>
                  <a:schemeClr val="tx1"/>
                </a:solidFill>
              </a:rPr>
              <a:t>의 답이 제출될 때 초반 부분만 작성된 채로 짤린 정답이 </a:t>
            </a:r>
            <a:r>
              <a:rPr lang="ko-KR" altLang="en-US" b="1" smtClean="0">
                <a:solidFill>
                  <a:schemeClr val="tx1"/>
                </a:solidFill>
              </a:rPr>
              <a:t>전송됨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버그</a:t>
            </a:r>
            <a:r>
              <a:rPr lang="en-US" altLang="ko-KR" b="1" dirty="0" smtClean="0">
                <a:solidFill>
                  <a:schemeClr val="tx1"/>
                </a:solidFill>
              </a:rPr>
              <a:t> </a:t>
            </a:r>
            <a:r>
              <a:rPr lang="ko-KR" altLang="en-US" b="1" smtClean="0">
                <a:solidFill>
                  <a:schemeClr val="tx1"/>
                </a:solidFill>
              </a:rPr>
              <a:t>발견</a:t>
            </a:r>
            <a:r>
              <a:rPr lang="en-US" altLang="ko-KR" b="1" dirty="0" smtClean="0">
                <a:solidFill>
                  <a:schemeClr val="tx1"/>
                </a:solidFill>
              </a:rPr>
              <a:t>2(</a:t>
            </a:r>
            <a:r>
              <a:rPr lang="ko-KR" altLang="en-US" b="1" smtClean="0">
                <a:solidFill>
                  <a:schemeClr val="tx1"/>
                </a:solidFill>
              </a:rPr>
              <a:t>완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참가자가</a:t>
            </a:r>
            <a:r>
              <a:rPr lang="en-US" altLang="ko-KR" b="1" dirty="0" smtClean="0">
                <a:solidFill>
                  <a:schemeClr val="tx1"/>
                </a:solidFill>
              </a:rPr>
              <a:t> </a:t>
            </a:r>
            <a:r>
              <a:rPr lang="ko-KR" altLang="en-US" b="1" smtClean="0">
                <a:solidFill>
                  <a:schemeClr val="tx1"/>
                </a:solidFill>
              </a:rPr>
              <a:t>정답을</a:t>
            </a:r>
            <a:r>
              <a:rPr lang="en-US" altLang="ko-KR" b="1" dirty="0" smtClean="0">
                <a:solidFill>
                  <a:schemeClr val="tx1"/>
                </a:solidFill>
              </a:rPr>
              <a:t> </a:t>
            </a:r>
            <a:r>
              <a:rPr lang="ko-KR" altLang="en-US" b="1" smtClean="0">
                <a:solidFill>
                  <a:schemeClr val="tx1"/>
                </a:solidFill>
              </a:rPr>
              <a:t>제출한</a:t>
            </a:r>
            <a:r>
              <a:rPr lang="en-US" altLang="ko-KR" b="1" dirty="0" smtClean="0">
                <a:solidFill>
                  <a:schemeClr val="tx1"/>
                </a:solidFill>
              </a:rPr>
              <a:t> </a:t>
            </a:r>
            <a:r>
              <a:rPr lang="ko-KR" altLang="en-US" b="1" smtClean="0">
                <a:solidFill>
                  <a:schemeClr val="tx1"/>
                </a:solidFill>
              </a:rPr>
              <a:t>상태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출제자가 </a:t>
            </a:r>
            <a:r>
              <a:rPr lang="ko-KR" altLang="en-US" b="1" dirty="0" err="1" smtClean="0">
                <a:solidFill>
                  <a:schemeClr val="tx1"/>
                </a:solidFill>
              </a:rPr>
              <a:t>체점을</a:t>
            </a:r>
            <a:r>
              <a:rPr lang="ko-KR" altLang="en-US" b="1" dirty="0" smtClean="0">
                <a:solidFill>
                  <a:schemeClr val="tx1"/>
                </a:solidFill>
              </a:rPr>
              <a:t> 하기 전에 화면을 </a:t>
            </a:r>
            <a:r>
              <a:rPr lang="en-US" altLang="ko-KR" b="1" dirty="0" smtClean="0">
                <a:solidFill>
                  <a:schemeClr val="tx1"/>
                </a:solidFill>
              </a:rPr>
              <a:t>clear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참가자의 화면에서는 출제자의 그림이 </a:t>
            </a:r>
            <a:r>
              <a:rPr lang="en-US" altLang="ko-KR" b="1" dirty="0" smtClean="0">
                <a:solidFill>
                  <a:schemeClr val="tx1"/>
                </a:solidFill>
              </a:rPr>
              <a:t>clear </a:t>
            </a:r>
            <a:r>
              <a:rPr lang="ko-KR" altLang="en-US" b="1" smtClean="0">
                <a:solidFill>
                  <a:schemeClr val="tx1"/>
                </a:solidFill>
              </a:rPr>
              <a:t>되지 않음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다른 참가자 화면에서는 출제자의 그림이 </a:t>
            </a:r>
            <a:r>
              <a:rPr lang="en-US" altLang="ko-KR" b="1" dirty="0" smtClean="0">
                <a:solidFill>
                  <a:schemeClr val="tx1"/>
                </a:solidFill>
              </a:rPr>
              <a:t>clear </a:t>
            </a:r>
            <a:r>
              <a:rPr lang="ko-KR" altLang="en-US" b="1" smtClean="0">
                <a:solidFill>
                  <a:schemeClr val="tx1"/>
                </a:solidFill>
              </a:rPr>
              <a:t>됨</a:t>
            </a:r>
            <a:endParaRPr lang="ko-KR" altLang="en-US" b="1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b="1" dirty="0">
                <a:solidFill>
                  <a:schemeClr val="tx1"/>
                </a:solidFill>
              </a:rPr>
              <a:t>배경 음악 </a:t>
            </a:r>
            <a:r>
              <a:rPr lang="ko-KR" altLang="en-US" b="1" dirty="0" err="1" smtClean="0">
                <a:solidFill>
                  <a:schemeClr val="tx1"/>
                </a:solidFill>
              </a:rPr>
              <a:t>싱크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시연</a:t>
            </a:r>
            <a:r>
              <a:rPr lang="en-US" altLang="ko-KR" b="1" dirty="0" smtClean="0">
                <a:solidFill>
                  <a:schemeClr val="tx1"/>
                </a:solidFill>
              </a:rPr>
              <a:t> </a:t>
            </a:r>
            <a:r>
              <a:rPr lang="ko-KR" altLang="en-US" b="1" smtClean="0">
                <a:solidFill>
                  <a:schemeClr val="tx1"/>
                </a:solidFill>
              </a:rPr>
              <a:t>영상 구성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0. </a:t>
            </a:r>
            <a:r>
              <a:rPr lang="ko-KR" altLang="en-US" sz="54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기획</a:t>
            </a:r>
            <a:r>
              <a:rPr lang="en-US" altLang="ko-KR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(260422)</a:t>
            </a:r>
            <a:endParaRPr lang="ko-KR" altLang="en-US" sz="5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01541" y="1561514"/>
            <a:ext cx="7743960" cy="86536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4/22 </a:t>
            </a:r>
            <a:r>
              <a:rPr lang="ko-KR" altLang="en-US" b="1" smtClean="0">
                <a:solidFill>
                  <a:schemeClr val="tx1"/>
                </a:solidFill>
              </a:rPr>
              <a:t>수 오후 한시반 </a:t>
            </a:r>
            <a:r>
              <a:rPr lang="en-US" altLang="ko-KR" b="1" dirty="0" smtClean="0">
                <a:solidFill>
                  <a:schemeClr val="tx1"/>
                </a:solidFill>
              </a:rPr>
              <a:t>3</a:t>
            </a:r>
            <a:r>
              <a:rPr lang="ko-KR" altLang="en-US" b="1" smtClean="0">
                <a:solidFill>
                  <a:schemeClr val="tx1"/>
                </a:solidFill>
              </a:rPr>
              <a:t>차 데모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포스터 </a:t>
            </a:r>
            <a:r>
              <a:rPr lang="en-US" altLang="ko-KR" b="1" dirty="0" smtClean="0">
                <a:solidFill>
                  <a:schemeClr val="tx1"/>
                </a:solidFill>
              </a:rPr>
              <a:t>4/22 </a:t>
            </a:r>
            <a:r>
              <a:rPr lang="ko-KR" altLang="en-US" b="1" smtClean="0">
                <a:solidFill>
                  <a:schemeClr val="tx1"/>
                </a:solidFill>
              </a:rPr>
              <a:t>제출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시연 영상 </a:t>
            </a:r>
            <a:r>
              <a:rPr lang="en-US" altLang="ko-KR" b="1" dirty="0" smtClean="0">
                <a:solidFill>
                  <a:schemeClr val="tx1"/>
                </a:solidFill>
              </a:rPr>
              <a:t>4/23 </a:t>
            </a:r>
            <a:r>
              <a:rPr lang="ko-KR" altLang="en-US" b="1" smtClean="0">
                <a:solidFill>
                  <a:schemeClr val="tx1"/>
                </a:solidFill>
              </a:rPr>
              <a:t>제출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>
                <a:solidFill>
                  <a:schemeClr val="tx1"/>
                </a:solidFill>
              </a:rPr>
              <a:t>결과보고서 </a:t>
            </a:r>
            <a:r>
              <a:rPr lang="en-US" altLang="ko-KR" b="1" dirty="0">
                <a:solidFill>
                  <a:schemeClr val="tx1"/>
                </a:solidFill>
              </a:rPr>
              <a:t>4/23 </a:t>
            </a:r>
            <a:r>
              <a:rPr lang="ko-KR" altLang="en-US" b="1">
                <a:solidFill>
                  <a:schemeClr val="tx1"/>
                </a:solidFill>
              </a:rPr>
              <a:t>제출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결과 파일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4/23 </a:t>
            </a:r>
            <a:r>
              <a:rPr lang="ko-KR" altLang="en-US" b="1" smtClean="0">
                <a:solidFill>
                  <a:schemeClr val="tx1"/>
                </a:solidFill>
              </a:rPr>
              <a:t>목 오후 한시반 최종 발표</a:t>
            </a:r>
            <a:r>
              <a:rPr lang="en-US" altLang="ko-KR" b="1" dirty="0" smtClean="0">
                <a:solidFill>
                  <a:schemeClr val="tx1"/>
                </a:solidFill>
              </a:rPr>
              <a:t>, </a:t>
            </a:r>
            <a:r>
              <a:rPr lang="ko-KR" altLang="en-US" b="1" smtClean="0">
                <a:solidFill>
                  <a:schemeClr val="tx1"/>
                </a:solidFill>
              </a:rPr>
              <a:t>세시반 반별 전시회</a:t>
            </a:r>
            <a:endParaRPr lang="en-US" altLang="ko-KR" b="1" dirty="0" smtClean="0">
              <a:solidFill>
                <a:schemeClr val="tx1"/>
              </a:solidFill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1851428" y="4918834"/>
            <a:ext cx="4686663" cy="3357592"/>
            <a:chOff x="1791517" y="3831739"/>
            <a:chExt cx="4686663" cy="3357592"/>
          </a:xfrm>
        </p:grpSpPr>
        <p:sp>
          <p:nvSpPr>
            <p:cNvPr id="7" name="TextBox 6"/>
            <p:cNvSpPr txBox="1"/>
            <p:nvPr/>
          </p:nvSpPr>
          <p:spPr>
            <a:xfrm>
              <a:off x="1932617" y="3831739"/>
              <a:ext cx="14189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/>
                <a:t>화면 </a:t>
              </a:r>
              <a:r>
                <a:rPr lang="en-US" altLang="ko-KR" b="1" dirty="0" smtClean="0"/>
                <a:t>UI </a:t>
              </a:r>
              <a:r>
                <a:rPr lang="ko-KR" altLang="en-US" b="1" smtClean="0"/>
                <a:t>구성</a:t>
              </a:r>
              <a:endParaRPr lang="ko-KR" altLang="en-US" b="1"/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1791517" y="4256661"/>
              <a:ext cx="4686663" cy="2932670"/>
              <a:chOff x="2701219" y="4256661"/>
              <a:chExt cx="3776960" cy="2932670"/>
            </a:xfrm>
          </p:grpSpPr>
          <p:sp>
            <p:nvSpPr>
              <p:cNvPr id="11" name="직사각형 10"/>
              <p:cNvSpPr/>
              <p:nvPr/>
            </p:nvSpPr>
            <p:spPr>
              <a:xfrm>
                <a:off x="2718566" y="4256661"/>
                <a:ext cx="3759613" cy="292608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/>
              </a:p>
            </p:txBody>
          </p:sp>
          <p:cxnSp>
            <p:nvCxnSpPr>
              <p:cNvPr id="12" name="직선 연결선 11"/>
              <p:cNvCxnSpPr/>
              <p:nvPr/>
            </p:nvCxnSpPr>
            <p:spPr>
              <a:xfrm>
                <a:off x="4432618" y="5998726"/>
                <a:ext cx="0" cy="119060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직선 연결선 12"/>
              <p:cNvCxnSpPr>
                <a:stCxn id="11" idx="3"/>
                <a:endCxn id="11" idx="1"/>
              </p:cNvCxnSpPr>
              <p:nvPr/>
            </p:nvCxnSpPr>
            <p:spPr>
              <a:xfrm flipH="1">
                <a:off x="2718566" y="5719701"/>
                <a:ext cx="3759613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TextBox 7"/>
              <p:cNvSpPr txBox="1"/>
              <p:nvPr/>
            </p:nvSpPr>
            <p:spPr>
              <a:xfrm>
                <a:off x="3588167" y="4342784"/>
                <a:ext cx="119455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400" b="1" dirty="0" smtClean="0"/>
                  <a:t>출제자</a:t>
                </a:r>
                <a:r>
                  <a:rPr lang="en-US" altLang="ko-KR" sz="1400" b="1" dirty="0"/>
                  <a:t>(</a:t>
                </a:r>
                <a:r>
                  <a:rPr lang="ko-KR" altLang="en-US" sz="1400" b="1" smtClean="0"/>
                  <a:t>점수</a:t>
                </a:r>
                <a:r>
                  <a:rPr lang="en-US" altLang="ko-KR" sz="1400" b="1" dirty="0" smtClean="0"/>
                  <a:t>)</a:t>
                </a:r>
                <a:endParaRPr lang="ko-KR" altLang="en-US" sz="1400" b="1"/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2982539" y="5998726"/>
                <a:ext cx="136608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400" b="1" dirty="0" smtClean="0"/>
                  <a:t>참가자 </a:t>
                </a:r>
                <a:r>
                  <a:rPr lang="en-US" altLang="ko-KR" sz="1400" b="1" dirty="0" smtClean="0"/>
                  <a:t>1</a:t>
                </a:r>
                <a:r>
                  <a:rPr lang="en-US" altLang="ko-KR" sz="1400" b="1" dirty="0"/>
                  <a:t> (</a:t>
                </a:r>
                <a:r>
                  <a:rPr lang="ko-KR" altLang="en-US" sz="1400" b="1"/>
                  <a:t>점수</a:t>
                </a:r>
                <a:r>
                  <a:rPr lang="en-US" altLang="ko-KR" sz="1400" b="1" dirty="0"/>
                  <a:t>)</a:t>
                </a:r>
                <a:endParaRPr lang="ko-KR" altLang="en-US" sz="1400" b="1" dirty="0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4782725" y="5980386"/>
                <a:ext cx="136608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400" b="1" dirty="0" smtClean="0"/>
                  <a:t>참가자 </a:t>
                </a:r>
                <a:r>
                  <a:rPr lang="en-US" altLang="ko-KR" sz="1400" b="1" dirty="0" smtClean="0"/>
                  <a:t>2 </a:t>
                </a:r>
                <a:r>
                  <a:rPr lang="en-US" altLang="ko-KR" sz="1400" b="1" dirty="0"/>
                  <a:t>(</a:t>
                </a:r>
                <a:r>
                  <a:rPr lang="ko-KR" altLang="en-US" sz="1400" b="1"/>
                  <a:t>점수</a:t>
                </a:r>
                <a:r>
                  <a:rPr lang="en-US" altLang="ko-KR" sz="1400" b="1" dirty="0"/>
                  <a:t>)</a:t>
                </a:r>
                <a:endParaRPr lang="ko-KR" altLang="en-US" sz="1400" b="1" dirty="0"/>
              </a:p>
            </p:txBody>
          </p:sp>
          <p:sp>
            <p:nvSpPr>
              <p:cNvPr id="16" name="직사각형 15"/>
              <p:cNvSpPr/>
              <p:nvPr/>
            </p:nvSpPr>
            <p:spPr>
              <a:xfrm>
                <a:off x="2719009" y="4256662"/>
                <a:ext cx="774889" cy="1469571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/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2701219" y="5714460"/>
                <a:ext cx="85568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b="1" dirty="0" smtClean="0"/>
                  <a:t>남은 시간</a:t>
                </a:r>
                <a:endParaRPr lang="ko-KR" altLang="en-US" sz="1400" b="1" dirty="0"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2809861" y="4430924"/>
                <a:ext cx="72327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400" b="1" dirty="0" smtClean="0"/>
                  <a:t>라운드</a:t>
                </a:r>
                <a:endParaRPr lang="ko-KR" altLang="en-US" sz="1400" b="1" dirty="0"/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2809861" y="5022931"/>
                <a:ext cx="72327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400" b="1" dirty="0" smtClean="0"/>
                  <a:t>캐릭터</a:t>
                </a:r>
                <a:endParaRPr lang="ko-KR" altLang="en-US" sz="1400" b="1" dirty="0"/>
              </a:p>
            </p:txBody>
          </p:sp>
        </p:grpSp>
        <p:cxnSp>
          <p:nvCxnSpPr>
            <p:cNvPr id="22" name="직선 연결선 21"/>
            <p:cNvCxnSpPr/>
            <p:nvPr/>
          </p:nvCxnSpPr>
          <p:spPr>
            <a:xfrm flipH="1">
              <a:off x="1803678" y="5980386"/>
              <a:ext cx="466513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21986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8857633" y="1561514"/>
            <a:ext cx="7743960" cy="86536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시작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3</a:t>
            </a:r>
            <a:r>
              <a:rPr lang="ko-KR" altLang="en-US" b="1" smtClean="0">
                <a:solidFill>
                  <a:schemeClr val="tx1"/>
                </a:solidFill>
              </a:rPr>
              <a:t>인 플레이 영상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중간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출제자 참가자 화면 설명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점수 산출 방식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끝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랭킹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0. </a:t>
            </a:r>
            <a:r>
              <a:rPr lang="ko-KR" altLang="en-US" sz="54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기획</a:t>
            </a:r>
            <a:r>
              <a:rPr lang="en-US" altLang="ko-KR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(</a:t>
            </a:r>
            <a:r>
              <a:rPr lang="en-US" altLang="ko-KR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260423)</a:t>
            </a:r>
            <a:endParaRPr lang="ko-KR" altLang="en-US" sz="5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01541" y="1561514"/>
            <a:ext cx="7743960" cy="86536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시연 영상</a:t>
            </a:r>
            <a:endParaRPr lang="en-US" altLang="ko-KR" b="1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보드 세 개를 같이 동작 시키는 것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카메라로 뒤에서 보드 세 개가 나오도록 촬영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출제자 화면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보드 하나 위에서 촬영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카테고리</a:t>
            </a:r>
            <a:r>
              <a:rPr lang="en-US" altLang="ko-KR" b="1" dirty="0" smtClean="0">
                <a:solidFill>
                  <a:schemeClr val="tx1"/>
                </a:solidFill>
              </a:rPr>
              <a:t>&gt;</a:t>
            </a:r>
            <a:r>
              <a:rPr lang="ko-KR" altLang="en-US" b="1" smtClean="0">
                <a:solidFill>
                  <a:schemeClr val="tx1"/>
                </a:solidFill>
              </a:rPr>
              <a:t>제시어 선택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그림 그리기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1257300" lvl="2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색 변경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1257300" lvl="2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지우개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1257300" lvl="2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Clear </a:t>
            </a:r>
          </a:p>
          <a:p>
            <a:pPr marL="1257300" lvl="2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정답 판단</a:t>
            </a:r>
            <a:r>
              <a:rPr lang="en-US" altLang="ko-KR" b="1" dirty="0" smtClean="0">
                <a:solidFill>
                  <a:schemeClr val="tx1"/>
                </a:solidFill>
              </a:rPr>
              <a:t>(</a:t>
            </a:r>
            <a:r>
              <a:rPr lang="ko-KR" altLang="en-US" b="1" smtClean="0">
                <a:solidFill>
                  <a:schemeClr val="tx1"/>
                </a:solidFill>
              </a:rPr>
              <a:t>정답</a:t>
            </a:r>
            <a:r>
              <a:rPr lang="en-US" altLang="ko-KR" b="1" dirty="0" smtClean="0">
                <a:solidFill>
                  <a:schemeClr val="tx1"/>
                </a:solidFill>
              </a:rPr>
              <a:t>, </a:t>
            </a:r>
            <a:r>
              <a:rPr lang="ko-KR" altLang="en-US" b="1" smtClean="0">
                <a:solidFill>
                  <a:schemeClr val="tx1"/>
                </a:solidFill>
              </a:rPr>
              <a:t>오답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참가자 화면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정답 작성 및 제출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정답</a:t>
            </a:r>
            <a:r>
              <a:rPr lang="en-US" altLang="ko-KR" b="1" dirty="0" smtClean="0">
                <a:solidFill>
                  <a:schemeClr val="tx1"/>
                </a:solidFill>
              </a:rPr>
              <a:t>/</a:t>
            </a:r>
            <a:r>
              <a:rPr lang="ko-KR" altLang="en-US" b="1" smtClean="0">
                <a:solidFill>
                  <a:schemeClr val="tx1"/>
                </a:solidFill>
              </a:rPr>
              <a:t>오답 시 결과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모니터 화면 </a:t>
            </a:r>
            <a:r>
              <a:rPr lang="ko-KR" altLang="en-US" b="1" dirty="0" err="1" smtClean="0">
                <a:solidFill>
                  <a:schemeClr val="tx1"/>
                </a:solidFill>
              </a:rPr>
              <a:t>캡처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초기 대기화면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적당히 플레이 화면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랭킹</a:t>
            </a:r>
            <a:endParaRPr lang="en-US" altLang="ko-KR" b="1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927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3014</TotalTime>
  <Words>2668</Words>
  <Application>Microsoft Office PowerPoint</Application>
  <PresentationFormat>사용자 지정</PresentationFormat>
  <Paragraphs>642</Paragraphs>
  <Slides>31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44" baseType="lpstr">
      <vt:lpstr>Inter</vt:lpstr>
      <vt:lpstr>Inter Bold</vt:lpstr>
      <vt:lpstr>LG스마트체 Bold</vt:lpstr>
      <vt:lpstr>LG스마트체 SemiBold</vt:lpstr>
      <vt:lpstr>LG스마트체2.0 Bold</vt:lpstr>
      <vt:lpstr>LG스마트체2.0 Light</vt:lpstr>
      <vt:lpstr>LG스마트체2.0 Regular</vt:lpstr>
      <vt:lpstr>LG스마트체2.0 SemiBold</vt:lpstr>
      <vt:lpstr>맑은 고딕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 Reskilling 오리엔테이션</dc:title>
  <dc:subject>Presentation</dc:subject>
  <dc:creator>mangoboard.net_22081255</dc:creator>
  <cp:lastModifiedBy>엄제원/연구원/Location Unit(jewon.eom@lge.com)</cp:lastModifiedBy>
  <cp:revision>229</cp:revision>
  <dcterms:created xsi:type="dcterms:W3CDTF">2022-12-09T16:47:26Z</dcterms:created>
  <dcterms:modified xsi:type="dcterms:W3CDTF">2026-04-23T02:26:09Z</dcterms:modified>
</cp:coreProperties>
</file>