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ter"/>
      <p:regular r:id="rId17"/>
    </p:embeddedFont>
    <p:embeddedFont>
      <p:font typeface="Inter"/>
      <p:regular r:id="rId18"/>
    </p:embeddedFont>
    <p:embeddedFont>
      <p:font typeface="Inter"/>
      <p:regular r:id="rId19"/>
    </p:embeddedFont>
    <p:embeddedFont>
      <p:font typeface="Inter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slideLayout" Target="../slideLayouts/slideLayout8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ADB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임베디드 Linux 그래픽 &amp; 입출력 시스템 설계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외부 라이브러리 없이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Framebuffer, Input Subsystem, UDP, GPIO, 멀티스레딩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을 직접 구현한 저사양 SBC 환경의 완전한 UI/입출력 스택 설계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2351" y="613529"/>
            <a:ext cx="1117163" cy="340519"/>
          </a:xfrm>
          <a:prstGeom prst="roundRect">
            <a:avLst>
              <a:gd name="adj" fmla="val 18885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827127" y="670917"/>
            <a:ext cx="887611" cy="225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전체 아키텍처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2351" y="1018580"/>
            <a:ext cx="4784646" cy="598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6가지 핵심 구성 요소</a:t>
            </a:r>
            <a:endParaRPr lang="en-US" sz="3750" dirty="0"/>
          </a:p>
        </p:txBody>
      </p:sp>
      <p:sp>
        <p:nvSpPr>
          <p:cNvPr id="5" name="Shape 3"/>
          <p:cNvSpPr/>
          <p:nvPr/>
        </p:nvSpPr>
        <p:spPr>
          <a:xfrm>
            <a:off x="712351" y="1858804"/>
            <a:ext cx="6522006" cy="1811417"/>
          </a:xfrm>
          <a:prstGeom prst="roundRect">
            <a:avLst>
              <a:gd name="adj" fmla="val 44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1304" y="2057757"/>
            <a:ext cx="574119" cy="574119"/>
          </a:xfrm>
          <a:prstGeom prst="roundRect">
            <a:avLst>
              <a:gd name="adj" fmla="val 15925419"/>
            </a:avLst>
          </a:prstGeom>
          <a:solidFill>
            <a:srgbClr val="4950B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9181" y="2215634"/>
            <a:ext cx="258366" cy="2583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1304" y="2793325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Framebuffer 그래픽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911304" y="3189089"/>
            <a:ext cx="6124099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mmap 기반 직접 렌더링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395805" y="1858804"/>
            <a:ext cx="6522125" cy="1811417"/>
          </a:xfrm>
          <a:prstGeom prst="roundRect">
            <a:avLst>
              <a:gd name="adj" fmla="val 44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94759" y="2057757"/>
            <a:ext cx="574119" cy="574119"/>
          </a:xfrm>
          <a:prstGeom prst="roundRect">
            <a:avLst>
              <a:gd name="adj" fmla="val 15925419"/>
            </a:avLst>
          </a:prstGeom>
          <a:solidFill>
            <a:srgbClr val="4950B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52636" y="2215634"/>
            <a:ext cx="258366" cy="25836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94759" y="2793325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터치 입력</a:t>
            </a:r>
            <a:endParaRPr lang="en-US" sz="1850" dirty="0"/>
          </a:p>
        </p:txBody>
      </p:sp>
      <p:sp>
        <p:nvSpPr>
          <p:cNvPr id="14" name="Text 10"/>
          <p:cNvSpPr/>
          <p:nvPr/>
        </p:nvSpPr>
        <p:spPr>
          <a:xfrm>
            <a:off x="7594759" y="3189089"/>
            <a:ext cx="6124218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Subsystem 멀티터치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712351" y="3831669"/>
            <a:ext cx="6522006" cy="1811417"/>
          </a:xfrm>
          <a:prstGeom prst="roundRect">
            <a:avLst>
              <a:gd name="adj" fmla="val 44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11304" y="4030623"/>
            <a:ext cx="574119" cy="574119"/>
          </a:xfrm>
          <a:prstGeom prst="roundRect">
            <a:avLst>
              <a:gd name="adj" fmla="val 15925419"/>
            </a:avLst>
          </a:prstGeom>
          <a:solidFill>
            <a:srgbClr val="4950B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9181" y="4188500"/>
            <a:ext cx="258366" cy="25836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1304" y="4766191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UDP 통신</a:t>
            </a:r>
            <a:endParaRPr lang="en-US" sz="1850" dirty="0"/>
          </a:p>
        </p:txBody>
      </p:sp>
      <p:sp>
        <p:nvSpPr>
          <p:cNvPr id="19" name="Text 14"/>
          <p:cNvSpPr/>
          <p:nvPr/>
        </p:nvSpPr>
        <p:spPr>
          <a:xfrm>
            <a:off x="911304" y="5161955"/>
            <a:ext cx="6124099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실시간 브로드캐스트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7395805" y="3831669"/>
            <a:ext cx="6522125" cy="1811417"/>
          </a:xfrm>
          <a:prstGeom prst="roundRect">
            <a:avLst>
              <a:gd name="adj" fmla="val 44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594759" y="4030623"/>
            <a:ext cx="574119" cy="574119"/>
          </a:xfrm>
          <a:prstGeom prst="roundRect">
            <a:avLst>
              <a:gd name="adj" fmla="val 15925419"/>
            </a:avLst>
          </a:prstGeom>
          <a:solidFill>
            <a:srgbClr val="4950BC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52636" y="4188500"/>
            <a:ext cx="258366" cy="25836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94759" y="4766191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GPIO 인터럽트</a:t>
            </a:r>
            <a:endParaRPr lang="en-US" sz="1850" dirty="0"/>
          </a:p>
        </p:txBody>
      </p:sp>
      <p:sp>
        <p:nvSpPr>
          <p:cNvPr id="24" name="Text 18"/>
          <p:cNvSpPr/>
          <p:nvPr/>
        </p:nvSpPr>
        <p:spPr>
          <a:xfrm>
            <a:off x="7594759" y="5161955"/>
            <a:ext cx="6124218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커널 레벨 물리 입력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712351" y="5804535"/>
            <a:ext cx="6522006" cy="1811417"/>
          </a:xfrm>
          <a:prstGeom prst="roundRect">
            <a:avLst>
              <a:gd name="adj" fmla="val 44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911304" y="6003488"/>
            <a:ext cx="574119" cy="574119"/>
          </a:xfrm>
          <a:prstGeom prst="roundRect">
            <a:avLst>
              <a:gd name="adj" fmla="val 15925419"/>
            </a:avLst>
          </a:prstGeom>
          <a:solidFill>
            <a:srgbClr val="4950BC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69181" y="6161365"/>
            <a:ext cx="258366" cy="25836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11304" y="6739057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멀티스레딩</a:t>
            </a:r>
            <a:endParaRPr lang="en-US" sz="1850" dirty="0"/>
          </a:p>
        </p:txBody>
      </p:sp>
      <p:sp>
        <p:nvSpPr>
          <p:cNvPr id="29" name="Text 22"/>
          <p:cNvSpPr/>
          <p:nvPr/>
        </p:nvSpPr>
        <p:spPr>
          <a:xfrm>
            <a:off x="911304" y="7134820"/>
            <a:ext cx="6124099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비동기 이벤트 처리</a:t>
            </a:r>
            <a:endParaRPr lang="en-US" sz="1500" dirty="0"/>
          </a:p>
        </p:txBody>
      </p:sp>
      <p:sp>
        <p:nvSpPr>
          <p:cNvPr id="30" name="Shape 23"/>
          <p:cNvSpPr/>
          <p:nvPr/>
        </p:nvSpPr>
        <p:spPr>
          <a:xfrm>
            <a:off x="7395805" y="5804535"/>
            <a:ext cx="6522125" cy="1811417"/>
          </a:xfrm>
          <a:prstGeom prst="roundRect">
            <a:avLst>
              <a:gd name="adj" fmla="val 44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7594759" y="6003488"/>
            <a:ext cx="574119" cy="574119"/>
          </a:xfrm>
          <a:prstGeom prst="roundRect">
            <a:avLst>
              <a:gd name="adj" fmla="val 15925419"/>
            </a:avLst>
          </a:prstGeom>
          <a:solidFill>
            <a:srgbClr val="4950BC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52636" y="6161365"/>
            <a:ext cx="258366" cy="25836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594759" y="6739057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임베디드 최적화</a:t>
            </a:r>
            <a:endParaRPr lang="en-US" sz="1850" dirty="0"/>
          </a:p>
        </p:txBody>
      </p:sp>
      <p:sp>
        <p:nvSpPr>
          <p:cNvPr id="34" name="Text 26"/>
          <p:cNvSpPr/>
          <p:nvPr/>
        </p:nvSpPr>
        <p:spPr>
          <a:xfrm>
            <a:off x="7594759" y="7134820"/>
            <a:ext cx="6124218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aarch64 경량 구조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66430"/>
            <a:ext cx="1130379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7498" y="1042035"/>
            <a:ext cx="84296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그래픽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498640"/>
            <a:ext cx="86553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Framebuffer 기반 직접 그래픽 구현</a:t>
            </a:r>
            <a:endParaRPr lang="en-US" sz="4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802731"/>
            <a:ext cx="4205168" cy="4205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59981" y="31425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핵심 구현 방식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559981" y="3723680"/>
            <a:ext cx="8284131" cy="1697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/dev/fb0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디바이스 파일을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mmap()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으로 메모리에 직접 매핑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 라이브러리 없이 픽셀 단위로 화면 제어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소프트웨어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더블 버퍼링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으로 깜빡임 없는 렌더링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외부 라이브러리 없이 폰트 렌더링 및 PPM 이미지 파싱 직접 구현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559981" y="5675948"/>
            <a:ext cx="8284131" cy="963811"/>
          </a:xfrm>
          <a:prstGeom prst="roundRect">
            <a:avLst>
              <a:gd name="adj" fmla="val 9884"/>
            </a:avLst>
          </a:prstGeom>
          <a:solidFill>
            <a:srgbClr val="B6D6F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6795" y="6020038"/>
            <a:ext cx="283488" cy="22681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97097" y="5959435"/>
            <a:ext cx="732020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외부 그래픽 라이브러리 없이 임베디드 환경에서 UI를 직접 구현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23737" y="520065"/>
            <a:ext cx="1063943" cy="315516"/>
          </a:xfrm>
          <a:prstGeom prst="roundRect">
            <a:avLst>
              <a:gd name="adj" fmla="val 18494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35537" y="579715"/>
            <a:ext cx="840343" cy="196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터치 입력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323737" y="888682"/>
            <a:ext cx="7545943" cy="54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Linux Input Subsystem 기반 터치 처리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23737" y="3510796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이벤트 파싱 흐름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23737" y="3914894"/>
            <a:ext cx="5779532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/dev/input/event*</a:t>
            </a:r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에서 멀티터치 이벤트 직접 파싱</a:t>
            </a:r>
            <a:endParaRPr lang="en-US" sz="1350" dirty="0"/>
          </a:p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ABS_MT_POSITION_X/Y</a:t>
            </a:r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기반 좌표 추출</a:t>
            </a:r>
            <a:endParaRPr lang="en-US" sz="1350" dirty="0"/>
          </a:p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값 → 화면 좌표 변환 (보정 알고리즘 적용)</a:t>
            </a:r>
            <a:endParaRPr lang="en-US" sz="1350" dirty="0"/>
          </a:p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이벤트 큐로 전달하여 처리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323737" y="5184815"/>
            <a:ext cx="5779532" cy="627936"/>
          </a:xfrm>
          <a:prstGeom prst="roundRect">
            <a:avLst>
              <a:gd name="adj" fmla="val 11616"/>
            </a:avLst>
          </a:prstGeom>
          <a:solidFill>
            <a:srgbClr val="B6D6F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7330" y="5432703"/>
            <a:ext cx="217051" cy="1735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87974" y="5361027"/>
            <a:ext cx="5041702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하드웨어 입력을 직접 해석하여 UI와 연결</a:t>
            </a:r>
            <a:endParaRPr lang="en-US" sz="13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4513" y="1780342"/>
            <a:ext cx="5779532" cy="5779532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4513" y="1780342"/>
            <a:ext cx="5779532" cy="57795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866656"/>
            <a:ext cx="1335405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7498" y="942261"/>
            <a:ext cx="104798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네트워크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398865"/>
            <a:ext cx="74603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UDP 기반 실시간 통신 &amp; 동기화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793790" y="2447806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3310" y="2447806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7" name="Text 5"/>
          <p:cNvSpPr/>
          <p:nvPr/>
        </p:nvSpPr>
        <p:spPr>
          <a:xfrm>
            <a:off x="1142524" y="27051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저지연 브로드캐스트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2524" y="3195518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UDP 브로드캐스트로 멀티캐스트 통신 구현. TCP 오버헤드 없이 실시간 데이터 전송.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2447806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98067" y="2447806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11" name="Text 9"/>
          <p:cNvSpPr/>
          <p:nvPr/>
        </p:nvSpPr>
        <p:spPr>
          <a:xfrm>
            <a:off x="7777282" y="27051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논블로킹 I/O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777282" y="3195518"/>
            <a:ext cx="5802035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select()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기반 멀티플렉싱으로 블로킹 없이 다중 소켓 처리.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4405432"/>
            <a:ext cx="6407944" cy="1738432"/>
          </a:xfrm>
          <a:prstGeom prst="roundRect">
            <a:avLst>
              <a:gd name="adj" fmla="val 8416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3310" y="4405432"/>
            <a:ext cx="121920" cy="1738432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15" name="Text 13"/>
          <p:cNvSpPr/>
          <p:nvPr/>
        </p:nvSpPr>
        <p:spPr>
          <a:xfrm>
            <a:off x="1142524" y="46627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패킷 유실 대응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42524" y="5153144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중요 메시지는 반복 전송으로 신뢰성 확보. 순서 번호 기반 중복 제거.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428548" y="4405432"/>
            <a:ext cx="6408063" cy="1738432"/>
          </a:xfrm>
          <a:prstGeom prst="roundRect">
            <a:avLst>
              <a:gd name="adj" fmla="val 8416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98067" y="4405432"/>
            <a:ext cx="121920" cy="1738432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19" name="Text 17"/>
          <p:cNvSpPr/>
          <p:nvPr/>
        </p:nvSpPr>
        <p:spPr>
          <a:xfrm>
            <a:off x="7777282" y="46627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동기화 배리어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777282" y="5153144"/>
            <a:ext cx="5802035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DRAWING_START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패킷으로 모든 클라이언트 렌더링 시점 동기화.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93790" y="6399014"/>
            <a:ext cx="13042821" cy="963811"/>
          </a:xfrm>
          <a:prstGeom prst="roundRect">
            <a:avLst>
              <a:gd name="adj" fmla="val 9884"/>
            </a:avLst>
          </a:prstGeom>
          <a:solidFill>
            <a:srgbClr val="B6FCB8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6743105"/>
            <a:ext cx="283488" cy="22681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530906" y="6682502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TCP 없이도 실시간 게임 동기화 구현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66430"/>
            <a:ext cx="1111687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7498" y="1042035"/>
            <a:ext cx="82427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GPIO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498640"/>
            <a:ext cx="831973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GPIO 인터럽트 기반 물리 입력 처리</a:t>
            </a:r>
            <a:endParaRPr lang="en-US" sz="4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802731"/>
            <a:ext cx="4205168" cy="4205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59981" y="31349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인터럽트 처리 구조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559981" y="3716060"/>
            <a:ext cx="8284131" cy="1712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/dev/gpiochip0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+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GPIO_GET_LINEEVENT_IOCTL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로 커널 이벤트 등록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하강 에지(Falling Edge) 인터럽트 기반 버튼 이벤트 감지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poll()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로 이벤트 대기, 별도 스레드에서 처리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std::atomic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으로 스레드 간 안전한 상태 공유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559981" y="5683568"/>
            <a:ext cx="8284131" cy="963811"/>
          </a:xfrm>
          <a:prstGeom prst="roundRect">
            <a:avLst>
              <a:gd name="adj" fmla="val 9884"/>
            </a:avLst>
          </a:prstGeom>
          <a:solidFill>
            <a:srgbClr val="B6D6F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6795" y="6027658"/>
            <a:ext cx="283488" cy="22681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97097" y="5967055"/>
            <a:ext cx="732020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커널 레벨 이벤트를 사용자 공간에서 안정적으로 처리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79677" y="460653"/>
            <a:ext cx="768906" cy="262295"/>
          </a:xfrm>
          <a:prstGeom prst="roundRect">
            <a:avLst>
              <a:gd name="adj" fmla="val 19068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76594" y="512921"/>
            <a:ext cx="575072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동시성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179677" y="762000"/>
            <a:ext cx="5827752" cy="46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멀티스레딩 + 이벤트 기반 비동기 구조</a:t>
            </a:r>
            <a:endParaRPr lang="en-US" sz="2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9205" y="1373624"/>
            <a:ext cx="10211872" cy="50726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44178" y="2803635"/>
            <a:ext cx="2310952" cy="288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동기화 계층</a:t>
            </a:r>
            <a:endParaRPr lang="en-US" sz="1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49197" y="2675890"/>
            <a:ext cx="513545" cy="51354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744178" y="4714182"/>
            <a:ext cx="2310952" cy="288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UI 스레드</a:t>
            </a:r>
            <a:endParaRPr lang="en-US" sz="18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49197" y="4586438"/>
            <a:ext cx="513545" cy="5135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575092" y="4714182"/>
            <a:ext cx="2310952" cy="288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네트워크 스레드</a:t>
            </a:r>
            <a:endParaRPr lang="en-US" sz="18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18269" y="4709688"/>
            <a:ext cx="513545" cy="513545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19232" y="2799302"/>
            <a:ext cx="513544" cy="51354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2576055" y="2798660"/>
            <a:ext cx="2310952" cy="288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입력 스레드</a:t>
            </a:r>
            <a:endParaRPr lang="en-US" sz="1800" dirty="0"/>
          </a:p>
        </p:txBody>
      </p:sp>
      <p:sp>
        <p:nvSpPr>
          <p:cNvPr id="14" name="Text 7"/>
          <p:cNvSpPr/>
          <p:nvPr/>
        </p:nvSpPr>
        <p:spPr>
          <a:xfrm>
            <a:off x="2179677" y="6556177"/>
            <a:ext cx="10271046" cy="197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입력, 네트워크, UI를 각각 독립 스레드로 분리하여 블로킹 없이 병행 처리합니다.</a:t>
            </a:r>
            <a:endParaRPr lang="en-US" sz="1150" dirty="0"/>
          </a:p>
        </p:txBody>
      </p:sp>
      <p:sp>
        <p:nvSpPr>
          <p:cNvPr id="15" name="Text 8"/>
          <p:cNvSpPr/>
          <p:nvPr/>
        </p:nvSpPr>
        <p:spPr>
          <a:xfrm>
            <a:off x="2179677" y="6960870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스레드 조합 전략</a:t>
            </a:r>
            <a:endParaRPr lang="en-US" sz="1450" dirty="0"/>
          </a:p>
        </p:txBody>
      </p:sp>
      <p:sp>
        <p:nvSpPr>
          <p:cNvPr id="16" name="Text 9"/>
          <p:cNvSpPr/>
          <p:nvPr/>
        </p:nvSpPr>
        <p:spPr>
          <a:xfrm>
            <a:off x="2179677" y="7291030"/>
            <a:ext cx="4953953" cy="443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pthread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+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std::thread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혼합 사용</a:t>
            </a:r>
            <a:endParaRPr lang="en-US" sz="1150" dirty="0"/>
          </a:p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+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poll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+ 스레드 조합으로 리소스 효율화</a:t>
            </a:r>
            <a:endParaRPr lang="en-US" sz="1150" dirty="0"/>
          </a:p>
        </p:txBody>
      </p:sp>
      <p:sp>
        <p:nvSpPr>
          <p:cNvPr id="17" name="Text 10"/>
          <p:cNvSpPr/>
          <p:nvPr/>
        </p:nvSpPr>
        <p:spPr>
          <a:xfrm>
            <a:off x="7504390" y="6960870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동기화 기법</a:t>
            </a:r>
            <a:endParaRPr lang="en-US" sz="1450" dirty="0"/>
          </a:p>
        </p:txBody>
      </p:sp>
      <p:sp>
        <p:nvSpPr>
          <p:cNvPr id="18" name="Text 11"/>
          <p:cNvSpPr/>
          <p:nvPr/>
        </p:nvSpPr>
        <p:spPr>
          <a:xfrm>
            <a:off x="7504390" y="7291030"/>
            <a:ext cx="4953953" cy="436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std::atomic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으로 경량 상태 공유</a:t>
            </a:r>
            <a:endParaRPr lang="en-US" sz="1150" dirty="0"/>
          </a:p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뮤텍스 최소화, 이벤트 큐로 데이터 전달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ADB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348" y="170021"/>
            <a:ext cx="5259705" cy="788955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3790" y="1707118"/>
            <a:ext cx="1169075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37498" y="1782723"/>
            <a:ext cx="88165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· 최적화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93790" y="2239328"/>
            <a:ext cx="614064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임베디드 환경 최적화 설계</a:t>
            </a:r>
            <a:endParaRPr lang="en-US" sz="4450" dirty="0"/>
          </a:p>
        </p:txBody>
      </p:sp>
      <p:sp>
        <p:nvSpPr>
          <p:cNvPr id="7" name="Shape 4"/>
          <p:cNvSpPr/>
          <p:nvPr/>
        </p:nvSpPr>
        <p:spPr>
          <a:xfrm>
            <a:off x="793790" y="3288268"/>
            <a:ext cx="3664744" cy="168509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8224" y="35227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크로스 컴파일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8224" y="4013121"/>
            <a:ext cx="31958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aarch64 타겟으로 호스트에서 빌드, 최소 런타임 의존성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4685348" y="3288268"/>
            <a:ext cx="3664863" cy="168509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19782" y="35227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외부 라이브러리 최소화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919782" y="4013121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폰트, 이미지, 네트워크 모두 직접 구현 — 정적 링크로 배포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93790" y="5200174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28224" y="54346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시스템 콜 직접 제어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28224" y="5925026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추상화 계층 제거, 커널 인터페이스 직접 호출로 오버헤드 최소화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46509" y="383024"/>
            <a:ext cx="1046083" cy="240506"/>
          </a:xfrm>
          <a:prstGeom prst="roundRect">
            <a:avLst>
              <a:gd name="adj" fmla="val 19311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636996" y="432078"/>
            <a:ext cx="865108" cy="142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· 통합 아키텍처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546509" y="657106"/>
            <a:ext cx="3455551" cy="431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시스템 통합 아키텍처</a:t>
            </a:r>
            <a:endParaRPr lang="en-US" sz="2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6509" y="1215271"/>
            <a:ext cx="9537383" cy="5323165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509" y="1215271"/>
            <a:ext cx="9537383" cy="532316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46509" y="6717268"/>
            <a:ext cx="1727716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설계 원칙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46509" y="7017306"/>
            <a:ext cx="4600099" cy="592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모든 계층이 외부 라이브러리 없이 직접 구현</a:t>
            </a:r>
            <a:endParaRPr lang="en-US" sz="1050" dirty="0"/>
          </a:p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각 계층이 독립 스레드로 동작하며 이벤트 큐로 연결</a:t>
            </a:r>
            <a:endParaRPr lang="en-US" sz="1050" dirty="0"/>
          </a:p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저사양 SBC 환경에서 메모리·CPU 오버헤드 최소화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491413" y="6717268"/>
            <a:ext cx="1727716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주요 기술 스택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7491413" y="7017306"/>
            <a:ext cx="4600099" cy="799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/dev/fb0, mmap, select, poll</a:t>
            </a:r>
            <a:endParaRPr lang="en-US" sz="1050" dirty="0"/>
          </a:p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/dev/input/event*, /dev/gpiochip0</a:t>
            </a:r>
            <a:endParaRPr lang="en-US" sz="1050" dirty="0"/>
          </a:p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pthread, std::thread, std::atomic</a:t>
            </a:r>
            <a:endParaRPr lang="en-US" sz="1050" dirty="0"/>
          </a:p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UDP 브로드캐스트 + 동기화 배리어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ADB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104751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핵심 정리</a:t>
            </a:r>
            <a:endParaRPr lang="en-US" sz="4450" dirty="0"/>
          </a:p>
        </p:txBody>
      </p:sp>
      <p:sp>
        <p:nvSpPr>
          <p:cNvPr id="5" name="Shape 2"/>
          <p:cNvSpPr/>
          <p:nvPr/>
        </p:nvSpPr>
        <p:spPr>
          <a:xfrm>
            <a:off x="793790" y="209645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78860" y="213895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1530906" y="2174319"/>
            <a:ext cx="332982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라이브러리 없는 그래픽 스택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530906" y="2664738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Framebuffer + mmap + 더블버퍼링으로 완전 자체 구현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93790" y="348126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8860" y="352377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8"/>
          <p:cNvSpPr/>
          <p:nvPr/>
        </p:nvSpPr>
        <p:spPr>
          <a:xfrm>
            <a:off x="1530906" y="35591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하드웨어 입력 직접 해석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530906" y="4049554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Subsystem + GPIO 인터럽트로 UI와 직접 연결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93790" y="486608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8860" y="490859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650" dirty="0"/>
          </a:p>
        </p:txBody>
      </p:sp>
      <p:sp>
        <p:nvSpPr>
          <p:cNvPr id="15" name="Text 12"/>
          <p:cNvSpPr/>
          <p:nvPr/>
        </p:nvSpPr>
        <p:spPr>
          <a:xfrm>
            <a:off x="1530906" y="4943951"/>
            <a:ext cx="28603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TCP 없는 실시간 동기화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530906" y="5434370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UDP 브로드캐스트 + 배리어로 저지연 멀티플레이어 구현</a:t>
            </a:r>
            <a:endParaRPr lang="en-US" sz="1750" dirty="0"/>
          </a:p>
        </p:txBody>
      </p:sp>
      <p:sp>
        <p:nvSpPr>
          <p:cNvPr id="17" name="Shape 14"/>
          <p:cNvSpPr/>
          <p:nvPr/>
        </p:nvSpPr>
        <p:spPr>
          <a:xfrm>
            <a:off x="793790" y="625090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78860" y="629340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650" dirty="0"/>
          </a:p>
        </p:txBody>
      </p:sp>
      <p:sp>
        <p:nvSpPr>
          <p:cNvPr id="19" name="Text 16"/>
          <p:cNvSpPr/>
          <p:nvPr/>
        </p:nvSpPr>
        <p:spPr>
          <a:xfrm>
            <a:off x="1530906" y="63287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저사양 최적화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1530906" y="6819186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aarch64 크로스컴파일 + 정적링크 + 시스템콜 직접 제어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2026-04-21T08:04:10Z</dcterms:created>
  <dcterms:modified xsi:type="dcterms:W3CDTF">2026-04-21T08:04:10Z</dcterms:modified>
</cp:coreProperties>
</file>