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2"/>
  </p:notesMasterIdLst>
  <p:sldIdLst>
    <p:sldId id="257" r:id="rId2"/>
    <p:sldId id="258" r:id="rId3"/>
    <p:sldId id="269" r:id="rId4"/>
    <p:sldId id="271" r:id="rId5"/>
    <p:sldId id="280" r:id="rId6"/>
    <p:sldId id="293" r:id="rId7"/>
    <p:sldId id="292" r:id="rId8"/>
    <p:sldId id="272" r:id="rId9"/>
    <p:sldId id="294" r:id="rId10"/>
    <p:sldId id="287" r:id="rId11"/>
    <p:sldId id="301" r:id="rId12"/>
    <p:sldId id="286" r:id="rId13"/>
    <p:sldId id="288" r:id="rId14"/>
    <p:sldId id="302" r:id="rId15"/>
    <p:sldId id="303" r:id="rId16"/>
    <p:sldId id="291" r:id="rId17"/>
    <p:sldId id="274" r:id="rId18"/>
    <p:sldId id="299" r:id="rId19"/>
    <p:sldId id="276" r:id="rId20"/>
    <p:sldId id="298" r:id="rId21"/>
  </p:sldIdLst>
  <p:sldSz cx="17556163" cy="9875838"/>
  <p:notesSz cx="9875838" cy="17556163"/>
  <p:embeddedFontLst>
    <p:embeddedFont>
      <p:font typeface="Calibri" panose="020F0502020204030204" pitchFamily="34" charset="0"/>
      <p:regular r:id="rId23"/>
      <p:bold r:id="rId24"/>
      <p:italic r:id="rId25"/>
      <p:boldItalic r:id="rId26"/>
    </p:embeddedFont>
    <p:embeddedFont>
      <p:font typeface="LG스마트체2.0 Light" panose="020B0600000101010101" pitchFamily="50" charset="-127"/>
      <p:regular r:id="rId27"/>
    </p:embeddedFont>
    <p:embeddedFont>
      <p:font typeface="LG스마트체2.0 SemiBold" panose="020B0600000101010101" pitchFamily="50" charset="-127"/>
      <p:bold r:id="rId28"/>
    </p:embeddedFont>
    <p:embeddedFont>
      <p:font typeface="LG스마트체 SemiBold" panose="020B0600000101010101" pitchFamily="50" charset="-127"/>
      <p:bold r:id="rId29"/>
    </p:embeddedFont>
    <p:embeddedFont>
      <p:font typeface="LG스마트체2.0 Regular" panose="020B0600000101010101" pitchFamily="50" charset="-127"/>
      <p:regular r:id="rId30"/>
    </p:embeddedFont>
    <p:embeddedFont>
      <p:font typeface="LG스마트체2.0 Bold" panose="020B0600000101010101" pitchFamily="50" charset="-127"/>
      <p:bold r:id="rId31"/>
    </p:embeddedFont>
    <p:embeddedFont>
      <p:font typeface="LG스마트체 Bold" panose="020B0600000101010101" pitchFamily="50" charset="-127"/>
      <p:bold r:id="rId32"/>
    </p:embeddedFont>
    <p:embeddedFont>
      <p:font typeface="맑은 고딕" panose="020B0503020000020004" pitchFamily="50" charset="-127"/>
      <p:regular r:id="rId33"/>
      <p:bold r:id="rId3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CED"/>
    <a:srgbClr val="FBDDDD"/>
    <a:srgbClr val="A50034"/>
    <a:srgbClr val="C52223"/>
    <a:srgbClr val="784A47"/>
    <a:srgbClr val="C92424"/>
    <a:srgbClr val="E44D24"/>
    <a:srgbClr val="F01D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2833802-FEF1-4C79-8D5D-14CF1EAF98D9}" styleName="밝은 스타일 2 - 강조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855" autoAdjust="0"/>
    <p:restoredTop sz="96395" autoAdjust="0"/>
  </p:normalViewPr>
  <p:slideViewPr>
    <p:cSldViewPr snapToGrid="0" snapToObjects="1">
      <p:cViewPr>
        <p:scale>
          <a:sx n="75" d="100"/>
          <a:sy n="75" d="100"/>
        </p:scale>
        <p:origin x="750" y="246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쿵야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엄제원</a:t>
            </a:r>
            <a:r>
              <a:rPr lang="ko-KR" altLang="en-US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이경환 윤지원</a:t>
            </a:r>
            <a:endParaRPr lang="ko-KR" altLang="en-US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274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7507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141440"/>
            <a:ext cx="11160121" cy="72019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</a:t>
            </a:r>
            <a:r>
              <a:rPr lang="ko-KR" altLang="en-US" sz="4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소개</a:t>
            </a:r>
            <a:endParaRPr lang="en-US" altLang="ko-KR" sz="4400" b="1" dirty="0" smtClean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FontTx/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게임 </a:t>
            </a:r>
            <a:r>
              <a:rPr lang="ko-KR" altLang="en-US" sz="4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규칙</a:t>
            </a:r>
            <a:endParaRPr lang="en-US" altLang="ko-KR" sz="4400" b="1" dirty="0" smtClean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FontTx/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영상 </a:t>
            </a:r>
            <a:r>
              <a:rPr lang="ko-KR" altLang="en-US" sz="4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시연</a:t>
            </a:r>
            <a:endParaRPr lang="en-US" altLang="ko-KR" sz="4400" b="1" dirty="0" smtClean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FontTx/>
              <a:buAutoNum type="arabicPeriod"/>
            </a:pPr>
            <a:r>
              <a:rPr lang="ko-KR" altLang="en-US" sz="4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 smtClean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FontTx/>
              <a:buAutoNum type="arabicPeriod"/>
            </a:pPr>
            <a:r>
              <a:rPr lang="ko-KR" altLang="en-US" sz="4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</a:t>
            </a:r>
            <a:endParaRPr lang="en-US" altLang="ko-KR" sz="4400" b="1" dirty="0" smtClean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FontTx/>
              <a:buAutoNum type="arabicPeriod"/>
            </a:pPr>
            <a:r>
              <a:rPr lang="ko-KR" altLang="en-US" sz="4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 smtClean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FontTx/>
              <a:buAutoNum type="arabicPeriod"/>
            </a:pPr>
            <a:r>
              <a:rPr lang="ko-KR" altLang="en-US" sz="4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  <a:endParaRPr lang="en-US" altLang="ko-KR" sz="4400" b="1" dirty="0" smtClean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소개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8" name="텍스트 개체 틀 1"/>
          <p:cNvSpPr txBox="1">
            <a:spLocks/>
          </p:cNvSpPr>
          <p:nvPr/>
        </p:nvSpPr>
        <p:spPr>
          <a:xfrm>
            <a:off x="546101" y="5280066"/>
            <a:ext cx="6745348" cy="218505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 smtClean="0"/>
          </a:p>
        </p:txBody>
      </p:sp>
      <p:sp>
        <p:nvSpPr>
          <p:cNvPr id="9" name="텍스트 개체 틀 1"/>
          <p:cNvSpPr txBox="1">
            <a:spLocks/>
          </p:cNvSpPr>
          <p:nvPr/>
        </p:nvSpPr>
        <p:spPr>
          <a:xfrm>
            <a:off x="546101" y="7269183"/>
            <a:ext cx="6745348" cy="218505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 smtClean="0"/>
          </a:p>
        </p:txBody>
      </p:sp>
      <p:sp>
        <p:nvSpPr>
          <p:cNvPr id="15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캐치 </a:t>
            </a:r>
            <a:r>
              <a:rPr lang="ko-KR" altLang="en-US" dirty="0"/>
              <a:t>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/>
              <a:t>인 실시간 멀티플레이 지원</a:t>
            </a:r>
            <a:endParaRPr lang="en-US" altLang="ko-KR" dirty="0"/>
          </a:p>
          <a:p>
            <a:pPr lvl="1"/>
            <a:r>
              <a:rPr lang="ko-KR" altLang="en-US" dirty="0"/>
              <a:t>허브 기반 </a:t>
            </a:r>
            <a:r>
              <a:rPr lang="en-US" altLang="ko-KR" dirty="0"/>
              <a:t>UDP </a:t>
            </a:r>
            <a:r>
              <a:rPr lang="ko-KR" altLang="en-US"/>
              <a:t>통신을 통해 세명의 플레이어가 실시간으로 게임을 즐기도록 지원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플레이어 간 경쟁을 위한 랭킹 시스템</a:t>
            </a:r>
            <a:endParaRPr lang="en-US" altLang="ko-KR" dirty="0"/>
          </a:p>
          <a:p>
            <a:pPr lvl="1"/>
            <a:r>
              <a:rPr lang="ko-KR" altLang="en-US" dirty="0"/>
              <a:t>문제 출제와 정답을 맞추며 점수 획득이 가능하며 </a:t>
            </a:r>
            <a:r>
              <a:rPr lang="en-US" altLang="ko-KR" dirty="0"/>
              <a:t>5</a:t>
            </a:r>
            <a:r>
              <a:rPr lang="ko-KR" altLang="en-US"/>
              <a:t>라운드 합산을 통해 랭킹 출력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터치펜을</a:t>
            </a:r>
            <a:r>
              <a:rPr lang="ko-KR" altLang="en-US" dirty="0"/>
              <a:t> 활용한 정교한 그림 그리기</a:t>
            </a:r>
            <a:endParaRPr lang="en-US" altLang="ko-KR" dirty="0"/>
          </a:p>
          <a:p>
            <a:pPr lvl="1"/>
            <a:r>
              <a:rPr lang="ko-KR" altLang="en-US" dirty="0"/>
              <a:t>색상 변경</a:t>
            </a:r>
            <a:r>
              <a:rPr lang="en-US" altLang="ko-KR" dirty="0"/>
              <a:t>, </a:t>
            </a:r>
            <a:r>
              <a:rPr lang="ko-KR" altLang="en-US"/>
              <a:t>지우개</a:t>
            </a:r>
            <a:r>
              <a:rPr lang="en-US" altLang="ko-KR" dirty="0"/>
              <a:t>, </a:t>
            </a:r>
            <a:r>
              <a:rPr lang="ko-KR" altLang="en-US"/>
              <a:t>초기화 기능을 통해 출제자가 편리하게 문제를 출제하도록 지원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733" y="1840988"/>
            <a:ext cx="5639289" cy="375546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733" y="5852593"/>
            <a:ext cx="5614903" cy="322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90814" y="8132208"/>
            <a:ext cx="12563929" cy="1524000"/>
          </a:xfrm>
        </p:spPr>
        <p:txBody>
          <a:bodyPr/>
          <a:lstStyle/>
          <a:p>
            <a:r>
              <a:rPr lang="ko-KR" altLang="en-US" sz="2400" b="1" dirty="0"/>
              <a:t>출제자 </a:t>
            </a:r>
            <a:r>
              <a:rPr lang="en-US" altLang="ko-KR" sz="2400" b="1" dirty="0"/>
              <a:t>1</a:t>
            </a:r>
            <a:r>
              <a:rPr lang="ko-KR" altLang="en-US" sz="2400" b="1"/>
              <a:t>명과 참가자 </a:t>
            </a:r>
            <a:r>
              <a:rPr lang="en-US" altLang="ko-KR" sz="2400" b="1" dirty="0"/>
              <a:t>2</a:t>
            </a:r>
            <a:r>
              <a:rPr lang="ko-KR" altLang="en-US" sz="2400" b="1"/>
              <a:t>명이 겨루는 </a:t>
            </a:r>
            <a:r>
              <a:rPr lang="en-US" altLang="ko-KR" sz="2400" b="1" dirty="0" smtClean="0">
                <a:solidFill>
                  <a:srgbClr val="FF0000"/>
                </a:solidFill>
              </a:rPr>
              <a:t>5</a:t>
            </a:r>
            <a:r>
              <a:rPr lang="ko-KR" altLang="en-US" sz="2400" b="1">
                <a:solidFill>
                  <a:srgbClr val="FF0000"/>
                </a:solidFill>
              </a:rPr>
              <a:t>라운드 누적 점수제 </a:t>
            </a:r>
            <a:r>
              <a:rPr lang="ko-KR" altLang="en-US" sz="2400" b="1"/>
              <a:t>실시간 추측 </a:t>
            </a:r>
            <a:r>
              <a:rPr lang="ko-KR" altLang="en-US" sz="2400" b="1" smtClean="0"/>
              <a:t>게임</a:t>
            </a:r>
            <a:endParaRPr lang="en-US" altLang="ko-KR" sz="2400" b="1" dirty="0" smtClean="0"/>
          </a:p>
          <a:p>
            <a:r>
              <a:rPr lang="ko-KR" altLang="en-US" sz="2400" b="1" dirty="0" smtClean="0"/>
              <a:t>출제자가 </a:t>
            </a:r>
            <a:r>
              <a:rPr lang="ko-KR" altLang="en-US" sz="2400" b="1" dirty="0"/>
              <a:t>그림을 그리면 참가자들은 선착순으로 정답을 </a:t>
            </a:r>
            <a:r>
              <a:rPr lang="ko-KR" altLang="en-US" sz="2400" b="1" dirty="0" smtClean="0"/>
              <a:t>제출</a:t>
            </a:r>
            <a:endParaRPr lang="en-US" altLang="ko-KR" sz="24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캐치마인드 게임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규칙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>
            <a:off x="8117022" y="2320260"/>
            <a:ext cx="8799378" cy="5282388"/>
            <a:chOff x="8384223" y="4143852"/>
            <a:chExt cx="4101346" cy="4347329"/>
          </a:xfrm>
        </p:grpSpPr>
        <p:sp>
          <p:nvSpPr>
            <p:cNvPr id="14" name="Shape 3"/>
            <p:cNvSpPr/>
            <p:nvPr/>
          </p:nvSpPr>
          <p:spPr>
            <a:xfrm>
              <a:off x="8407083" y="4143852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5" name="Shape 4"/>
            <p:cNvSpPr/>
            <p:nvPr/>
          </p:nvSpPr>
          <p:spPr>
            <a:xfrm>
              <a:off x="8384223" y="4143852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16" name="Text 5"/>
            <p:cNvSpPr/>
            <p:nvPr/>
          </p:nvSpPr>
          <p:spPr>
            <a:xfrm>
              <a:off x="8679259" y="4347449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출제자 선정</a:t>
              </a:r>
            </a:p>
          </p:txBody>
        </p:sp>
        <p:sp>
          <p:nvSpPr>
            <p:cNvPr id="17" name="Text 6"/>
            <p:cNvSpPr/>
            <p:nvPr/>
          </p:nvSpPr>
          <p:spPr>
            <a:xfrm>
              <a:off x="8679259" y="4773812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첫 라운드는 선착순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이후는 라운드 결과에 따라 출제자가 변경</a:t>
              </a:r>
              <a:endParaRPr 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endParaRPr>
            </a:p>
          </p:txBody>
        </p:sp>
        <p:sp>
          <p:nvSpPr>
            <p:cNvPr id="18" name="Shape 7"/>
            <p:cNvSpPr/>
            <p:nvPr/>
          </p:nvSpPr>
          <p:spPr>
            <a:xfrm>
              <a:off x="8407083" y="5640944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9" name="Shape 8"/>
            <p:cNvSpPr/>
            <p:nvPr/>
          </p:nvSpPr>
          <p:spPr>
            <a:xfrm>
              <a:off x="8384223" y="5640944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0" name="Text 9"/>
            <p:cNvSpPr/>
            <p:nvPr/>
          </p:nvSpPr>
          <p:spPr>
            <a:xfrm>
              <a:off x="8679259" y="5844541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문제 선택</a:t>
              </a:r>
            </a:p>
          </p:txBody>
        </p:sp>
        <p:sp>
          <p:nvSpPr>
            <p:cNvPr id="21" name="Text 10"/>
            <p:cNvSpPr/>
            <p:nvPr/>
          </p:nvSpPr>
          <p:spPr>
            <a:xfrm>
              <a:off x="8679259" y="6270904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출제자가 분야 → 주제어 순서로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선택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각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단계마다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4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개 선택지가 랜덤 제시되며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주제어는 참가자에게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비공개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  <p:sp>
          <p:nvSpPr>
            <p:cNvPr id="22" name="Shape 11"/>
            <p:cNvSpPr/>
            <p:nvPr/>
          </p:nvSpPr>
          <p:spPr>
            <a:xfrm>
              <a:off x="8407083" y="7138036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23" name="Shape 12"/>
            <p:cNvSpPr/>
            <p:nvPr/>
          </p:nvSpPr>
          <p:spPr>
            <a:xfrm>
              <a:off x="8384223" y="7138036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4" name="Text 13"/>
            <p:cNvSpPr/>
            <p:nvPr/>
          </p:nvSpPr>
          <p:spPr>
            <a:xfrm>
              <a:off x="8679259" y="7341633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제한 시간</a:t>
              </a:r>
            </a:p>
          </p:txBody>
        </p:sp>
        <p:sp>
          <p:nvSpPr>
            <p:cNvPr id="25" name="Text 14"/>
            <p:cNvSpPr/>
            <p:nvPr/>
          </p:nvSpPr>
          <p:spPr>
            <a:xfrm>
              <a:off x="8679259" y="7767995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각 라운드는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60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초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제한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한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명이 정답을 맞히면 즉시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종료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</p:grp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210" y="1900997"/>
            <a:ext cx="6072142" cy="6120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점수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&amp;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규칙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3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힌트 시스템</a:t>
            </a:r>
            <a:endParaRPr lang="en-US" altLang="ko-KR" dirty="0" smtClean="0"/>
          </a:p>
          <a:p>
            <a:pPr lvl="1"/>
            <a:r>
              <a:rPr lang="en-US" altLang="ko-KR" dirty="0" smtClean="0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30</a:t>
            </a:r>
            <a:r>
              <a:rPr lang="ko-KR" altLang="en-US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초 경과 시 참가자들에게 </a:t>
            </a:r>
            <a:r>
              <a:rPr lang="ko-KR" altLang="en-US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카테고리</a:t>
            </a:r>
            <a:r>
              <a:rPr lang="en-US" altLang="ko-KR" dirty="0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(</a:t>
            </a:r>
            <a:r>
              <a:rPr lang="ko-KR" altLang="en-US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분야</a:t>
            </a:r>
            <a:r>
              <a:rPr lang="en-US" altLang="ko-KR" dirty="0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)</a:t>
            </a:r>
            <a:r>
              <a:rPr lang="ko-KR" altLang="en-US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가 공개</a:t>
            </a:r>
            <a:endParaRPr lang="en-US" altLang="ko-KR" dirty="0">
              <a:latin typeface="LG스마트체 SemiBold" panose="020B0600000101010101" pitchFamily="50" charset="-127"/>
              <a:ea typeface="LG스마트체 SemiBold" panose="020B0600000101010101" pitchFamily="50" charset="-127"/>
            </a:endParaRPr>
          </a:p>
          <a:p>
            <a:endParaRPr lang="en-US" altLang="ko-KR" dirty="0"/>
          </a:p>
          <a:p>
            <a:r>
              <a:rPr lang="ko-KR" altLang="en-US" dirty="0" smtClean="0"/>
              <a:t>정답 판단</a:t>
            </a:r>
            <a:endParaRPr lang="en-US" altLang="ko-KR" dirty="0" smtClean="0"/>
          </a:p>
          <a:p>
            <a:pPr lvl="1"/>
            <a:r>
              <a:rPr lang="ko-KR" altLang="en-US" dirty="0"/>
              <a:t>출제자가 직접 각 제출의 정답 여부를 판단</a:t>
            </a:r>
          </a:p>
          <a:p>
            <a:pPr lvl="1"/>
            <a:endParaRPr lang="en-US" altLang="ko-KR" dirty="0"/>
          </a:p>
          <a:p>
            <a:r>
              <a:rPr lang="ko-KR" altLang="en-US" dirty="0" smtClean="0"/>
              <a:t>정답 시</a:t>
            </a:r>
            <a:endParaRPr lang="en-US" altLang="ko-KR" dirty="0"/>
          </a:p>
          <a:p>
            <a:pPr lvl="1"/>
            <a:r>
              <a:rPr lang="ko-KR" altLang="en-US" dirty="0" smtClean="0"/>
              <a:t>정답을 맞힌 참가자가 </a:t>
            </a:r>
            <a:r>
              <a:rPr lang="ko-KR" altLang="en-US" dirty="0" smtClean="0">
                <a:solidFill>
                  <a:srgbClr val="FF0000"/>
                </a:solidFill>
              </a:rPr>
              <a:t>다음 라운드 출제자</a:t>
            </a:r>
            <a:r>
              <a:rPr lang="ko-KR" altLang="en-US" dirty="0" smtClean="0"/>
              <a:t>가 됨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smtClean="0"/>
              <a:t>시간 초과 시</a:t>
            </a:r>
            <a:endParaRPr lang="en-US" altLang="ko-KR" dirty="0"/>
          </a:p>
          <a:p>
            <a:pPr lvl="1"/>
            <a:r>
              <a:rPr lang="ko-KR" altLang="en-US" dirty="0"/>
              <a:t>라운드가 실패로 종료되고 정답이 </a:t>
            </a:r>
            <a:r>
              <a:rPr lang="ko-KR" altLang="en-US" dirty="0" smtClean="0"/>
              <a:t>공개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출제자는 </a:t>
            </a:r>
            <a:r>
              <a:rPr lang="en-US" altLang="ko-KR" dirty="0"/>
              <a:t>1</a:t>
            </a:r>
            <a:r>
              <a:rPr lang="ko-KR" altLang="en-US"/>
              <a:t>점 감점되며 다음 라운드에서도 출제자를 </a:t>
            </a:r>
            <a:r>
              <a:rPr lang="ko-KR" altLang="en-US" smtClean="0"/>
              <a:t>유지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smtClean="0"/>
              <a:t>5</a:t>
            </a:r>
            <a:r>
              <a:rPr lang="ko-KR" altLang="en-US" smtClean="0"/>
              <a:t>라운드 완료 시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각 플레이어의 누적 점수가 환산되어 랭킹 출력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9094" y="1676400"/>
            <a:ext cx="6718374" cy="671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830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시연 영상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영상 </a:t>
            </a:r>
            <a:r>
              <a:rPr lang="ko-KR" altLang="en-US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시연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9965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ko-KR" alt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핵심 정리</a:t>
            </a:r>
          </a:p>
        </p:txBody>
      </p:sp>
      <p:sp>
        <p:nvSpPr>
          <p:cNvPr id="46" name="Shape 0"/>
          <p:cNvSpPr/>
          <p:nvPr/>
        </p:nvSpPr>
        <p:spPr>
          <a:xfrm>
            <a:off x="9880599" y="1397000"/>
            <a:ext cx="7675563" cy="8478838"/>
          </a:xfrm>
          <a:prstGeom prst="rect">
            <a:avLst/>
          </a:prstGeom>
          <a:solidFill>
            <a:srgbClr val="DADBF1"/>
          </a:solidFill>
          <a:ln/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0148" y="1691640"/>
            <a:ext cx="5259705" cy="7889558"/>
          </a:xfrm>
          <a:prstGeom prst="rect">
            <a:avLst/>
          </a:prstGeom>
        </p:spPr>
      </p:pic>
      <p:grpSp>
        <p:nvGrpSpPr>
          <p:cNvPr id="6" name="그룹 5"/>
          <p:cNvGrpSpPr/>
          <p:nvPr/>
        </p:nvGrpSpPr>
        <p:grpSpPr>
          <a:xfrm>
            <a:off x="876917" y="3236691"/>
            <a:ext cx="7460314" cy="5993167"/>
            <a:chOff x="876917" y="3236691"/>
            <a:chExt cx="7460314" cy="6624068"/>
          </a:xfrm>
        </p:grpSpPr>
        <p:grpSp>
          <p:nvGrpSpPr>
            <p:cNvPr id="11" name="그룹 10"/>
            <p:cNvGrpSpPr/>
            <p:nvPr/>
          </p:nvGrpSpPr>
          <p:grpSpPr>
            <a:xfrm>
              <a:off x="876917" y="3236691"/>
              <a:ext cx="7460314" cy="984510"/>
              <a:chOff x="4008160" y="3964450"/>
              <a:chExt cx="8799378" cy="1644190"/>
            </a:xfrm>
          </p:grpSpPr>
          <p:sp>
            <p:nvSpPr>
              <p:cNvPr id="13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14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15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en-US" altLang="ko-KR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Double Frame Buffer </a:t>
                </a:r>
                <a:r>
                  <a:rPr lang="ko-KR" altLang="en-US" b="1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기반 그래픽 구현</a:t>
                </a:r>
              </a:p>
            </p:txBody>
          </p:sp>
          <p:sp>
            <p:nvSpPr>
              <p:cNvPr id="16" name="Text 6"/>
              <p:cNvSpPr/>
              <p:nvPr/>
            </p:nvSpPr>
            <p:spPr>
              <a:xfrm>
                <a:off x="4641155" y="4947868"/>
                <a:ext cx="7729566" cy="41338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ko-KR" altLang="en-US" sz="16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그림 그리기 도중 화면의 깜빡임 방지 및 부드러운 모션</a:t>
                </a:r>
                <a:endParaRPr lang="ko-KR" altLang="en-US" sz="16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19" name="그룹 18"/>
            <p:cNvGrpSpPr/>
            <p:nvPr/>
          </p:nvGrpSpPr>
          <p:grpSpPr>
            <a:xfrm>
              <a:off x="876917" y="4363420"/>
              <a:ext cx="7460314" cy="984510"/>
              <a:chOff x="4008160" y="3964450"/>
              <a:chExt cx="8799378" cy="1644190"/>
            </a:xfrm>
          </p:grpSpPr>
          <p:sp>
            <p:nvSpPr>
              <p:cNvPr id="20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21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22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en-US" altLang="ko-KR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UDP </a:t>
                </a:r>
                <a:r>
                  <a:rPr lang="ko-KR" altLang="en-US" b="1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기반 실시간 통신 </a:t>
                </a:r>
                <a:r>
                  <a:rPr lang="en-US" altLang="ko-KR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&amp; </a:t>
                </a:r>
                <a:r>
                  <a:rPr lang="ko-KR" altLang="en-US" b="1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동기화</a:t>
                </a:r>
                <a:endParaRPr lang="ko-KR" altLang="en-US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endParaRPr>
              </a:p>
            </p:txBody>
          </p:sp>
          <p:sp>
            <p:nvSpPr>
              <p:cNvPr id="23" name="Text 6"/>
              <p:cNvSpPr/>
              <p:nvPr/>
            </p:nvSpPr>
            <p:spPr>
              <a:xfrm>
                <a:off x="4641155" y="4947868"/>
                <a:ext cx="7729566" cy="41338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en-US" altLang="ko-KR" sz="16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UDP </a:t>
                </a:r>
                <a:r>
                  <a:rPr lang="ko-KR" altLang="en-US" sz="160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브로드캐스트 </a:t>
                </a:r>
                <a:r>
                  <a:rPr lang="en-US" altLang="ko-KR" sz="16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+ </a:t>
                </a:r>
                <a:r>
                  <a:rPr lang="ko-KR" altLang="en-US" sz="160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동기화로 </a:t>
                </a:r>
                <a:r>
                  <a:rPr lang="ko-KR" altLang="en-US" sz="160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저지연 </a:t>
                </a:r>
                <a:r>
                  <a:rPr lang="ko-KR" altLang="en-US" sz="160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멀티플레이 </a:t>
                </a:r>
                <a:r>
                  <a:rPr lang="ko-KR" altLang="en-US" sz="160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구현</a:t>
                </a:r>
              </a:p>
            </p:txBody>
          </p:sp>
        </p:grpSp>
        <p:grpSp>
          <p:nvGrpSpPr>
            <p:cNvPr id="39" name="그룹 38"/>
            <p:cNvGrpSpPr/>
            <p:nvPr/>
          </p:nvGrpSpPr>
          <p:grpSpPr>
            <a:xfrm>
              <a:off x="876917" y="5496062"/>
              <a:ext cx="7460314" cy="984510"/>
              <a:chOff x="4008160" y="3964450"/>
              <a:chExt cx="8799378" cy="1644190"/>
            </a:xfrm>
          </p:grpSpPr>
          <p:sp>
            <p:nvSpPr>
              <p:cNvPr id="40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41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42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b="1" dirty="0" smtClean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터치 입력 데이터 처리</a:t>
                </a:r>
                <a:endParaRPr lang="ko-KR" altLang="en-US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endParaRPr>
              </a:p>
            </p:txBody>
          </p:sp>
          <p:sp>
            <p:nvSpPr>
              <p:cNvPr id="43" name="Text 6"/>
              <p:cNvSpPr/>
              <p:nvPr/>
            </p:nvSpPr>
            <p:spPr>
              <a:xfrm>
                <a:off x="4641155" y="4947868"/>
                <a:ext cx="7729566" cy="41338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ko-KR" altLang="en-US" sz="16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보드 간 좌표 데이터 </a:t>
                </a:r>
                <a:r>
                  <a:rPr lang="ko-KR" altLang="en-US" sz="1600" dirty="0" err="1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파싱</a:t>
                </a:r>
                <a:r>
                  <a:rPr lang="ko-KR" altLang="en-US" sz="16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 및 전송</a:t>
                </a:r>
                <a:endParaRPr lang="ko-KR" altLang="en-US" sz="16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44" name="그룹 43"/>
            <p:cNvGrpSpPr/>
            <p:nvPr/>
          </p:nvGrpSpPr>
          <p:grpSpPr>
            <a:xfrm>
              <a:off x="876917" y="6622791"/>
              <a:ext cx="7460314" cy="984510"/>
              <a:chOff x="4008160" y="3964450"/>
              <a:chExt cx="8799378" cy="1644190"/>
            </a:xfrm>
          </p:grpSpPr>
          <p:sp>
            <p:nvSpPr>
              <p:cNvPr id="48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49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50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en-US" altLang="ko-KR" b="1" dirty="0" smtClean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GPIO </a:t>
                </a:r>
                <a:r>
                  <a:rPr lang="ko-KR" altLang="en-US" b="1" smtClean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인터럽트 기반 물리 버튼 처리</a:t>
                </a:r>
                <a:endParaRPr lang="ko-KR" altLang="en-US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endParaRPr>
              </a:p>
            </p:txBody>
          </p:sp>
          <p:sp>
            <p:nvSpPr>
              <p:cNvPr id="51" name="Text 6"/>
              <p:cNvSpPr/>
              <p:nvPr/>
            </p:nvSpPr>
            <p:spPr>
              <a:xfrm>
                <a:off x="4641155" y="4947868"/>
                <a:ext cx="7729566" cy="41338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ko-KR" altLang="en-US" sz="16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출제자</a:t>
                </a:r>
                <a:r>
                  <a:rPr lang="en-US" altLang="ko-KR" sz="16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/</a:t>
                </a:r>
                <a:r>
                  <a:rPr lang="ko-KR" altLang="en-US" sz="160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참가자에 따른 별도 버튼 기능 구현</a:t>
                </a:r>
                <a:endParaRPr lang="ko-KR" altLang="en-US" sz="16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28" name="그룹 27"/>
            <p:cNvGrpSpPr/>
            <p:nvPr/>
          </p:nvGrpSpPr>
          <p:grpSpPr>
            <a:xfrm>
              <a:off x="876917" y="7749520"/>
              <a:ext cx="7460314" cy="984510"/>
              <a:chOff x="4008160" y="3964450"/>
              <a:chExt cx="8799378" cy="1644190"/>
            </a:xfrm>
          </p:grpSpPr>
          <p:sp>
            <p:nvSpPr>
              <p:cNvPr id="29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30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31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최신 </a:t>
                </a:r>
                <a:r>
                  <a:rPr lang="en-US" altLang="ko-KR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Linux </a:t>
                </a:r>
                <a:r>
                  <a:rPr lang="ko-KR" altLang="en-US" b="1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커널 포팅 </a:t>
                </a:r>
                <a:r>
                  <a:rPr lang="en-US" altLang="ko-KR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&amp; RFS </a:t>
                </a:r>
                <a:r>
                  <a:rPr lang="ko-KR" altLang="en-US" b="1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커스터마이징 </a:t>
                </a:r>
                <a:endParaRPr lang="ko-KR" altLang="en-US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endParaRPr>
              </a:p>
            </p:txBody>
          </p:sp>
          <p:sp>
            <p:nvSpPr>
              <p:cNvPr id="32" name="Text 6"/>
              <p:cNvSpPr/>
              <p:nvPr/>
            </p:nvSpPr>
            <p:spPr>
              <a:xfrm>
                <a:off x="4641155" y="4947868"/>
                <a:ext cx="7729566" cy="41338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ko-KR" altLang="en-US" sz="16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최신 버전 </a:t>
                </a:r>
                <a:r>
                  <a:rPr lang="ko-KR" altLang="en-US" sz="1600" dirty="0" err="1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리눅스</a:t>
                </a:r>
                <a:r>
                  <a:rPr lang="ko-KR" altLang="en-US" sz="16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 </a:t>
                </a:r>
                <a:r>
                  <a:rPr lang="ko-KR" altLang="en-US" sz="1600" dirty="0" err="1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커널</a:t>
                </a:r>
                <a:r>
                  <a:rPr lang="ko-KR" altLang="en-US" sz="16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 </a:t>
                </a:r>
                <a:r>
                  <a:rPr lang="ko-KR" altLang="en-US" sz="1600" dirty="0" err="1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포팅</a:t>
                </a:r>
                <a:r>
                  <a:rPr lang="ko-KR" altLang="en-US" sz="16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 및 </a:t>
                </a:r>
                <a:r>
                  <a:rPr lang="ko-KR" altLang="en-US" sz="1600" dirty="0" err="1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커스터마이징</a:t>
                </a:r>
                <a:endParaRPr lang="ko-KR" altLang="en-US" sz="16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33" name="그룹 32"/>
            <p:cNvGrpSpPr/>
            <p:nvPr/>
          </p:nvGrpSpPr>
          <p:grpSpPr>
            <a:xfrm>
              <a:off x="876917" y="8876249"/>
              <a:ext cx="7460314" cy="984510"/>
              <a:chOff x="4008160" y="3964450"/>
              <a:chExt cx="8799378" cy="1644190"/>
            </a:xfrm>
          </p:grpSpPr>
          <p:sp>
            <p:nvSpPr>
              <p:cNvPr id="34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35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36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라이브러리 독립 구현</a:t>
                </a:r>
              </a:p>
            </p:txBody>
          </p:sp>
          <p:sp>
            <p:nvSpPr>
              <p:cNvPr id="37" name="Text 6"/>
              <p:cNvSpPr/>
              <p:nvPr/>
            </p:nvSpPr>
            <p:spPr>
              <a:xfrm>
                <a:off x="4641155" y="4947868"/>
                <a:ext cx="7729566" cy="41338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ko-KR" altLang="en-US" sz="1600" dirty="0" err="1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임베디드</a:t>
                </a:r>
                <a:r>
                  <a:rPr lang="ko-KR" altLang="en-US" sz="16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 디바이스 환경을 고려한 라이브러리 독립 구현</a:t>
                </a:r>
                <a:endParaRPr lang="ko-KR" altLang="en-US" sz="16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967887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71287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 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: Double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Frame Buffer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기반 그래픽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구현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4450" dirty="0">
              <a:latin typeface="LG스마트체 Bold" panose="020B0600000101010101" pitchFamily="50" charset="-127"/>
              <a:ea typeface="LG스마트체 Bold" panose="020B0600000101010101" pitchFamily="50" charset="-127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1" t="56022" r="55695" b="21914"/>
          <a:stretch/>
        </p:blipFill>
        <p:spPr>
          <a:xfrm>
            <a:off x="1043509" y="3605030"/>
            <a:ext cx="7111383" cy="2389061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691" t="11092" r="1441" b="82314"/>
          <a:stretch/>
        </p:blipFill>
        <p:spPr>
          <a:xfrm>
            <a:off x="8407708" y="2648861"/>
            <a:ext cx="8521083" cy="689537"/>
          </a:xfrm>
          <a:prstGeom prst="rect">
            <a:avLst/>
          </a:prstGeom>
        </p:spPr>
      </p:pic>
      <p:sp>
        <p:nvSpPr>
          <p:cNvPr id="21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562095" y="6540500"/>
            <a:ext cx="8074213" cy="114752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기존 화면을 지우면서 흰 화면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또는 배경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)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이 먼저 보임 </a:t>
            </a:r>
            <a:r>
              <a:rPr lang="en-US" altLang="ko-KR" sz="2000" dirty="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/>
            </a:r>
            <a:br>
              <a:rPr lang="en-US" altLang="ko-KR" sz="2000" dirty="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</a:br>
            <a:r>
              <a:rPr lang="ko-KR" altLang="en-US" sz="200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→ 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깜빡임 </a:t>
            </a:r>
            <a:r>
              <a:rPr lang="ko-KR" altLang="en-US" sz="200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발생</a:t>
            </a: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복잡한 </a:t>
            </a:r>
            <a:r>
              <a:rPr lang="ko-KR" alt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장면이나 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CPU 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사용량이 높을 때 깜빡임이 더 심해짐</a:t>
            </a: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pic>
        <p:nvPicPr>
          <p:cNvPr id="22" name="그림 2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" t="11334" r="54602" b="82484"/>
          <a:stretch/>
        </p:blipFill>
        <p:spPr>
          <a:xfrm>
            <a:off x="980317" y="2658928"/>
            <a:ext cx="7237766" cy="669405"/>
          </a:xfrm>
          <a:prstGeom prst="rect">
            <a:avLst/>
          </a:prstGeom>
        </p:spPr>
      </p:pic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4" t="55892" r="1614" b="20193"/>
          <a:stretch/>
        </p:blipFill>
        <p:spPr>
          <a:xfrm>
            <a:off x="8407708" y="3542432"/>
            <a:ext cx="8364879" cy="2514258"/>
          </a:xfrm>
          <a:prstGeom prst="rect">
            <a:avLst/>
          </a:prstGeom>
        </p:spPr>
      </p:pic>
      <p:sp>
        <p:nvSpPr>
          <p:cNvPr id="24" name="텍스트 개체 틀 1"/>
          <p:cNvSpPr txBox="1">
            <a:spLocks/>
          </p:cNvSpPr>
          <p:nvPr/>
        </p:nvSpPr>
        <p:spPr>
          <a:xfrm>
            <a:off x="8553040" y="6540500"/>
            <a:ext cx="8074213" cy="1147522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백 버퍼에서 모든 그리기를 완료한 후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, 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프런트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/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백 버퍼를 교체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스왑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)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하여 완성된 화면을 한 번에 </a:t>
            </a:r>
            <a:r>
              <a:rPr lang="ko-KR" altLang="en-US" sz="200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출력</a:t>
            </a: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완성된 장면을 한 번에 출력하여 불필요한 중간 장면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흰 화면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, 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그리기 과정 노출</a:t>
            </a:r>
            <a:r>
              <a:rPr lang="en-US" altLang="ko-KR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)</a:t>
            </a:r>
            <a:r>
              <a:rPr lang="ko-KR" altLang="en-US" sz="200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을 </a:t>
            </a:r>
            <a:r>
              <a:rPr lang="ko-KR" altLang="en-US" sz="200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없애 부드럽게</a:t>
            </a:r>
            <a:r>
              <a:rPr lang="en-US" altLang="ko-KR" sz="2000" dirty="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ko-KR" altLang="en-US" sz="2000" smtClean="0"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화면 전환</a:t>
            </a: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6616700" cy="69596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2400" dirty="0" smtClean="0"/>
              <a:t>참가자 화면 실시간 모니터링</a:t>
            </a:r>
            <a:endParaRPr lang="en-US" altLang="ko-KR" sz="2400" dirty="0" smtClean="0"/>
          </a:p>
          <a:p>
            <a:pPr lvl="1">
              <a:lnSpc>
                <a:spcPct val="150000"/>
              </a:lnSpc>
            </a:pPr>
            <a:r>
              <a:rPr lang="ko-KR" altLang="en-US" sz="2000" dirty="0" smtClean="0"/>
              <a:t>게임 참가자의 보드를 </a:t>
            </a:r>
            <a:r>
              <a:rPr lang="en-US" altLang="ko-KR" sz="2000" dirty="0" err="1" smtClean="0"/>
              <a:t>ubuntu</a:t>
            </a:r>
            <a:r>
              <a:rPr lang="ko-KR" altLang="en-US" sz="2000" smtClean="0"/>
              <a:t> 화면으로 모니터링</a:t>
            </a:r>
            <a:endParaRPr lang="en-US" altLang="ko-KR" sz="2000" dirty="0" smtClean="0"/>
          </a:p>
          <a:p>
            <a:pPr lvl="1">
              <a:lnSpc>
                <a:spcPct val="150000"/>
              </a:lnSpc>
            </a:pPr>
            <a:r>
              <a:rPr lang="ko-KR" altLang="en-US" sz="2000" dirty="0" smtClean="0"/>
              <a:t>주변 사람들이 게임을 관전할 수 있도록 구현</a:t>
            </a:r>
            <a:endParaRPr lang="en-US" altLang="ko-KR" sz="2000" dirty="0" smtClean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개요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순수 </a:t>
            </a:r>
            <a:r>
              <a:rPr lang="en-US" altLang="ko-KR" sz="2000" dirty="0"/>
              <a:t>C (</a:t>
            </a:r>
            <a:r>
              <a:rPr lang="en-US" altLang="ko-KR" sz="2000" dirty="0" err="1"/>
              <a:t>libc</a:t>
            </a:r>
            <a:r>
              <a:rPr lang="en-US" altLang="ko-KR" sz="2000" dirty="0"/>
              <a:t> + </a:t>
            </a:r>
            <a:r>
              <a:rPr lang="en-US" altLang="ko-KR" sz="2000" dirty="0" err="1"/>
              <a:t>pthreads</a:t>
            </a:r>
            <a:r>
              <a:rPr lang="en-US" altLang="ko-KR" sz="2000" dirty="0"/>
              <a:t>), </a:t>
            </a:r>
            <a:r>
              <a:rPr lang="ko-KR" altLang="en-US" sz="2000"/>
              <a:t>외부 라이브러리 없음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TCP </a:t>
            </a:r>
            <a:r>
              <a:rPr lang="ko-KR" altLang="en-US" sz="2000"/>
              <a:t>포트 </a:t>
            </a:r>
            <a:r>
              <a:rPr lang="en-US" altLang="ko-KR" sz="2000" dirty="0"/>
              <a:t>8080, accept() </a:t>
            </a:r>
            <a:r>
              <a:rPr lang="ko-KR" altLang="en-US" sz="2000"/>
              <a:t>마다 </a:t>
            </a:r>
            <a:r>
              <a:rPr lang="en-US" altLang="ko-KR" sz="2000" dirty="0" err="1"/>
              <a:t>pthread_create</a:t>
            </a:r>
            <a:r>
              <a:rPr lang="en-US" altLang="ko-KR" sz="2000" dirty="0"/>
              <a:t>() + </a:t>
            </a:r>
            <a:r>
              <a:rPr lang="en-US" altLang="ko-KR" sz="2000" dirty="0" err="1"/>
              <a:t>pthread_detach</a:t>
            </a:r>
            <a:r>
              <a:rPr lang="en-US" altLang="ko-KR" sz="2000" dirty="0"/>
              <a:t>()</a:t>
            </a:r>
            <a:endParaRPr lang="en-US" altLang="ko-KR" sz="2000" dirty="0" smtClean="0"/>
          </a:p>
          <a:p>
            <a:pPr>
              <a:lnSpc>
                <a:spcPct val="150000"/>
              </a:lnSpc>
            </a:pPr>
            <a:r>
              <a:rPr lang="en-US" altLang="ko-KR" sz="2400" dirty="0" smtClean="0"/>
              <a:t>HTTP </a:t>
            </a:r>
            <a:r>
              <a:rPr lang="ko-KR" altLang="en-US" sz="2400"/>
              <a:t>엔드포인트</a:t>
            </a:r>
          </a:p>
          <a:p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244862" y="238662"/>
            <a:ext cx="170398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: 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Frame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Buffer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기반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모니터링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9563240"/>
              </p:ext>
            </p:extLst>
          </p:nvPr>
        </p:nvGraphicFramePr>
        <p:xfrm>
          <a:off x="656564" y="6339045"/>
          <a:ext cx="6090972" cy="2105508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2030324"/>
                <a:gridCol w="2030324"/>
                <a:gridCol w="2030324"/>
              </a:tblGrid>
              <a:tr h="701836"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경로</a:t>
                      </a:r>
                      <a:endParaRPr lang="ko-KR" altLang="en-US" b="1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응답</a:t>
                      </a:r>
                      <a:endParaRPr lang="ko-KR" altLang="en-US" b="1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설명</a:t>
                      </a:r>
                      <a:endParaRPr lang="ko-KR" altLang="en-US" b="1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</a:tr>
              <a:tr h="701836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GET /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HTML + JavaScript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초 간격 자동 갱신 페이지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1836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GET /frame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image/bmp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현재 프레임버퍼 </a:t>
                      </a:r>
                      <a:r>
                        <a:rPr lang="ko-KR" altLang="en-US" dirty="0" err="1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캡처</a:t>
                      </a:r>
                      <a:r>
                        <a:rPr lang="ko-KR" alt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 이미지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14" name="그룹 13"/>
          <p:cNvGrpSpPr/>
          <p:nvPr/>
        </p:nvGrpSpPr>
        <p:grpSpPr>
          <a:xfrm>
            <a:off x="7383516" y="1928806"/>
            <a:ext cx="9185936" cy="6454787"/>
            <a:chOff x="-20584" y="2181213"/>
            <a:chExt cx="9185936" cy="6454787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79916" y="2181213"/>
              <a:ext cx="6785436" cy="4157832"/>
            </a:xfrm>
            <a:prstGeom prst="rect">
              <a:avLst/>
            </a:prstGeom>
          </p:spPr>
        </p:pic>
        <p:pic>
          <p:nvPicPr>
            <p:cNvPr id="13" name="그림 1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20584" y="4691546"/>
              <a:ext cx="6383065" cy="394445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62338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: UDP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기반 실시간 통신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&amp;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동기화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altLang="ko-KR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UDP </a:t>
            </a:r>
            <a:r>
              <a:rPr lang="ko-KR" altLang="en-US" sz="4450" b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기반 실시간 통신 </a:t>
            </a:r>
            <a:r>
              <a:rPr lang="en-US" altLang="ko-KR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&amp; </a:t>
            </a:r>
            <a:r>
              <a:rPr lang="ko-KR" altLang="en-US" sz="4450" b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동기화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1078044" y="3631941"/>
            <a:ext cx="15092670" cy="3535768"/>
            <a:chOff x="1078044" y="3631941"/>
            <a:chExt cx="15092670" cy="3535768"/>
          </a:xfrm>
        </p:grpSpPr>
        <p:grpSp>
          <p:nvGrpSpPr>
            <p:cNvPr id="11" name="그룹 10"/>
            <p:cNvGrpSpPr/>
            <p:nvPr/>
          </p:nvGrpSpPr>
          <p:grpSpPr>
            <a:xfrm>
              <a:off x="1078044" y="3631941"/>
              <a:ext cx="7460314" cy="1644190"/>
              <a:chOff x="4008160" y="3964450"/>
              <a:chExt cx="8799378" cy="1644190"/>
            </a:xfrm>
          </p:grpSpPr>
          <p:sp>
            <p:nvSpPr>
              <p:cNvPr id="13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14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15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 dirty="0" err="1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저지연</a:t>
                </a:r>
                <a:r>
                  <a:rPr lang="ko-KR" altLang="en-US" sz="2400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 </a:t>
                </a:r>
                <a:r>
                  <a:rPr lang="ko-KR" altLang="en-US" sz="2400" b="1" dirty="0" err="1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브로드캐스트</a:t>
                </a:r>
                <a:endPara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endParaRPr>
              </a:p>
            </p:txBody>
          </p:sp>
          <p:sp>
            <p:nvSpPr>
              <p:cNvPr id="16" name="Text 6"/>
              <p:cNvSpPr/>
              <p:nvPr/>
            </p:nvSpPr>
            <p:spPr>
              <a:xfrm>
                <a:off x="4641155" y="4729907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en-US" altLang="ko-KR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UDP </a:t>
                </a:r>
                <a:r>
                  <a:rPr lang="ko-KR" altLang="en-US" sz="200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브로드캐스트로 멀티캐스트 통신 </a:t>
                </a:r>
                <a:r>
                  <a:rPr lang="ko-KR" altLang="en-US" sz="200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구현</a:t>
                </a:r>
                <a:endParaRPr lang="en-US" altLang="ko-KR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  <a:p>
                <a:r>
                  <a:rPr lang="en-US" altLang="ko-KR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TCP </a:t>
                </a:r>
                <a:r>
                  <a:rPr lang="ko-KR" altLang="en-US" sz="200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오버헤드 없이 실시간 데이터 </a:t>
                </a:r>
                <a:r>
                  <a:rPr lang="ko-KR" altLang="en-US" sz="200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전송</a:t>
                </a:r>
                <a:endPara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26" name="그룹 25"/>
            <p:cNvGrpSpPr/>
            <p:nvPr/>
          </p:nvGrpSpPr>
          <p:grpSpPr>
            <a:xfrm>
              <a:off x="8710400" y="3631941"/>
              <a:ext cx="7460314" cy="1644190"/>
              <a:chOff x="4008160" y="3964450"/>
              <a:chExt cx="8799378" cy="1644190"/>
            </a:xfrm>
          </p:grpSpPr>
          <p:sp>
            <p:nvSpPr>
              <p:cNvPr id="27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28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29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논블로킹 </a:t>
                </a:r>
                <a:r>
                  <a:rPr lang="en-US" altLang="ko-KR" sz="2400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I/O</a:t>
                </a:r>
              </a:p>
            </p:txBody>
          </p:sp>
          <p:sp>
            <p:nvSpPr>
              <p:cNvPr id="30" name="Text 6"/>
              <p:cNvSpPr/>
              <p:nvPr/>
            </p:nvSpPr>
            <p:spPr>
              <a:xfrm>
                <a:off x="4641155" y="4729907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en-US" altLang="ko-KR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select() </a:t>
                </a:r>
                <a:r>
                  <a:rPr lang="ko-KR" altLang="en-US" sz="200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기반 멀티플렉싱으로 블로킹 없이 다중 소켓 </a:t>
                </a:r>
                <a:r>
                  <a:rPr lang="ko-KR" altLang="en-US" sz="200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처리</a:t>
                </a:r>
                <a:endPara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31" name="그룹 30"/>
            <p:cNvGrpSpPr/>
            <p:nvPr/>
          </p:nvGrpSpPr>
          <p:grpSpPr>
            <a:xfrm>
              <a:off x="1078044" y="5523519"/>
              <a:ext cx="7460314" cy="1644190"/>
              <a:chOff x="4008160" y="3964450"/>
              <a:chExt cx="8799378" cy="1644190"/>
            </a:xfrm>
          </p:grpSpPr>
          <p:sp>
            <p:nvSpPr>
              <p:cNvPr id="32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33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34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 dirty="0" err="1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패킷</a:t>
                </a:r>
                <a:r>
                  <a:rPr lang="ko-KR" altLang="en-US" sz="2400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 유실 대응</a:t>
                </a:r>
              </a:p>
            </p:txBody>
          </p:sp>
          <p:sp>
            <p:nvSpPr>
              <p:cNvPr id="35" name="Text 6"/>
              <p:cNvSpPr/>
              <p:nvPr/>
            </p:nvSpPr>
            <p:spPr>
              <a:xfrm>
                <a:off x="4641155" y="4729907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ko-KR" altLang="en-US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중요 메시지는 반복 전송으로 신뢰성 </a:t>
                </a: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확보</a:t>
                </a:r>
                <a:endParaRPr lang="en-US" altLang="ko-KR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  <a:p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순서 </a:t>
                </a:r>
                <a:r>
                  <a:rPr lang="ko-KR" altLang="en-US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번호 기반 중복 </a:t>
                </a: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제거</a:t>
                </a:r>
                <a:endPara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36" name="그룹 35"/>
            <p:cNvGrpSpPr/>
            <p:nvPr/>
          </p:nvGrpSpPr>
          <p:grpSpPr>
            <a:xfrm>
              <a:off x="8710400" y="5523519"/>
              <a:ext cx="7460314" cy="1644190"/>
              <a:chOff x="4008160" y="3964450"/>
              <a:chExt cx="8799378" cy="1644190"/>
            </a:xfrm>
          </p:grpSpPr>
          <p:sp>
            <p:nvSpPr>
              <p:cNvPr id="37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38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39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동기화 배리어</a:t>
                </a:r>
              </a:p>
            </p:txBody>
          </p:sp>
          <p:sp>
            <p:nvSpPr>
              <p:cNvPr id="40" name="Text 6"/>
              <p:cNvSpPr/>
              <p:nvPr/>
            </p:nvSpPr>
            <p:spPr>
              <a:xfrm>
                <a:off x="4641155" y="4729907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en-US" altLang="ko-KR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DRAWING_START </a:t>
                </a:r>
                <a:r>
                  <a:rPr lang="ko-KR" altLang="en-US" sz="200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패킷으로 모든 클라이언트 렌더링 시점 동기화</a:t>
                </a:r>
                <a:endParaRPr lang="en-US" sz="2000" dirty="0">
                  <a:latin typeface="LG스마트체2.0 Regular" panose="020B0600000101010101" pitchFamily="50" charset="-127"/>
                  <a:ea typeface="LG스마트체2.0 Regular" panose="020B0600000101010101" pitchFamily="50" charset="-127"/>
                </a:endParaRPr>
              </a:p>
            </p:txBody>
          </p:sp>
        </p:grpSp>
      </p:grpSp>
      <p:grpSp>
        <p:nvGrpSpPr>
          <p:cNvPr id="41" name="그룹 40"/>
          <p:cNvGrpSpPr/>
          <p:nvPr/>
        </p:nvGrpSpPr>
        <p:grpSpPr>
          <a:xfrm>
            <a:off x="1078044" y="7615876"/>
            <a:ext cx="15092670" cy="963811"/>
            <a:chOff x="6567055" y="6581229"/>
            <a:chExt cx="15092670" cy="963811"/>
          </a:xfrm>
        </p:grpSpPr>
        <p:sp>
          <p:nvSpPr>
            <p:cNvPr id="42" name="Shape 5"/>
            <p:cNvSpPr/>
            <p:nvPr/>
          </p:nvSpPr>
          <p:spPr>
            <a:xfrm>
              <a:off x="6567055" y="6581229"/>
              <a:ext cx="15092670" cy="963811"/>
            </a:xfrm>
            <a:prstGeom prst="roundRect">
              <a:avLst>
                <a:gd name="adj" fmla="val 9884"/>
              </a:avLst>
            </a:prstGeom>
            <a:solidFill>
              <a:srgbClr val="FBDDDD"/>
            </a:solidFill>
            <a:ln/>
          </p:spPr>
        </p:sp>
        <p:sp>
          <p:nvSpPr>
            <p:cNvPr id="44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50"/>
                </a:lnSpc>
              </a:pPr>
              <a:r>
                <a:rPr lang="en-US" altLang="ko-KR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TCP </a:t>
              </a:r>
              <a:r>
                <a:rPr lang="ko-KR" altLang="en-US" sz="175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없이도 실시간 게임 동기화 구현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40317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6172200" cy="75819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2400" dirty="0" smtClean="0"/>
              <a:t>게임 구현에 필요한 프로토콜 설계</a:t>
            </a:r>
            <a:endParaRPr lang="en-US" altLang="ko-KR" sz="2400" dirty="0" smtClean="0"/>
          </a:p>
          <a:p>
            <a:pPr lvl="1">
              <a:lnSpc>
                <a:spcPct val="150000"/>
              </a:lnSpc>
            </a:pPr>
            <a:r>
              <a:rPr lang="en-US" altLang="ko-KR" sz="2000" dirty="0" smtClean="0"/>
              <a:t>3</a:t>
            </a:r>
            <a:r>
              <a:rPr lang="ko-KR" altLang="en-US" sz="2000" smtClean="0"/>
              <a:t>대의 보드가 실시간으로 상태를 공유하기 위해 </a:t>
            </a:r>
            <a:r>
              <a:rPr lang="en-US" altLang="ko-KR" sz="2000" dirty="0" smtClean="0"/>
              <a:t>UDP </a:t>
            </a:r>
            <a:r>
              <a:rPr lang="ko-KR" altLang="en-US" sz="2000" smtClean="0"/>
              <a:t>브로드캐스트 기반의 프로토콜을 직접 설계</a:t>
            </a:r>
            <a:endParaRPr lang="en-US" altLang="ko-KR" sz="2000" dirty="0" smtClean="0"/>
          </a:p>
          <a:p>
            <a:pPr lvl="1">
              <a:lnSpc>
                <a:spcPct val="150000"/>
              </a:lnSpc>
            </a:pPr>
            <a:r>
              <a:rPr lang="ko-KR" altLang="en-US" sz="2000" dirty="0" smtClean="0"/>
              <a:t>메시지 형식은 </a:t>
            </a:r>
            <a:r>
              <a:rPr lang="en-US" altLang="ko-KR" sz="2000" dirty="0" smtClean="0"/>
              <a:t>CM|&lt;</a:t>
            </a:r>
            <a:r>
              <a:rPr lang="en-US" altLang="ko-KR" sz="2000" dirty="0" err="1" smtClean="0"/>
              <a:t>nideId</a:t>
            </a:r>
            <a:r>
              <a:rPr lang="en-US" altLang="ko-KR" sz="2000" dirty="0" smtClean="0"/>
              <a:t>&gt;|&lt;kind&gt;|&lt;value&gt; </a:t>
            </a:r>
            <a:r>
              <a:rPr lang="ko-KR" altLang="en-US" sz="2000" smtClean="0"/>
              <a:t>구조로 정의하고 이를 기반으로 </a:t>
            </a:r>
            <a:r>
              <a:rPr lang="en-US" altLang="ko-KR" sz="2000" dirty="0" smtClean="0"/>
              <a:t>30</a:t>
            </a:r>
            <a:r>
              <a:rPr lang="ko-KR" altLang="en-US" sz="2000" smtClean="0"/>
              <a:t>여 종의 메시지 타입 구현</a:t>
            </a:r>
            <a:endParaRPr lang="en-US" altLang="ko-KR" sz="2000" dirty="0" smtClean="0"/>
          </a:p>
          <a:p>
            <a:pPr lvl="1">
              <a:lnSpc>
                <a:spcPct val="150000"/>
              </a:lnSpc>
            </a:pPr>
            <a:endParaRPr lang="en-US" altLang="ko-KR" sz="2000" dirty="0" smtClean="0"/>
          </a:p>
          <a:p>
            <a:pPr>
              <a:lnSpc>
                <a:spcPct val="150000"/>
              </a:lnSpc>
            </a:pPr>
            <a:r>
              <a:rPr lang="ko-KR" altLang="en-US" sz="2400" dirty="0" smtClean="0"/>
              <a:t>메시지의 중요도에 따라 별도의 </a:t>
            </a:r>
            <a:r>
              <a:rPr lang="ko-KR" altLang="en-US" sz="2400" dirty="0" err="1" smtClean="0"/>
              <a:t>설정값</a:t>
            </a:r>
            <a:r>
              <a:rPr lang="ko-KR" altLang="en-US" sz="2400" dirty="0" smtClean="0"/>
              <a:t> 적용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 smtClean="0"/>
              <a:t>메시지 타입에 따라 재전송 횟수와 간격을 차등 적용</a:t>
            </a:r>
            <a:endParaRPr lang="en-US" altLang="ko-KR" sz="2000" dirty="0" smtClean="0"/>
          </a:p>
          <a:p>
            <a:pPr lvl="1">
              <a:lnSpc>
                <a:spcPct val="150000"/>
              </a:lnSpc>
            </a:pPr>
            <a:r>
              <a:rPr lang="ko-KR" altLang="en-US" sz="2000" dirty="0" smtClean="0"/>
              <a:t>드로잉 좌표처럼 실시간성이 중요한 메시지는 누락을 허용</a:t>
            </a:r>
            <a:endParaRPr lang="en-US" altLang="ko-KR" sz="2000" dirty="0" smtClean="0"/>
          </a:p>
          <a:p>
            <a:pPr lvl="1">
              <a:lnSpc>
                <a:spcPct val="150000"/>
              </a:lnSpc>
            </a:pPr>
            <a:r>
              <a:rPr lang="ko-KR" altLang="en-US" sz="2000" dirty="0" smtClean="0"/>
              <a:t>판정</a:t>
            </a:r>
            <a:r>
              <a:rPr lang="en-US" altLang="ko-KR" sz="2000" dirty="0" smtClean="0"/>
              <a:t>/</a:t>
            </a:r>
            <a:r>
              <a:rPr lang="ko-KR" altLang="en-US" sz="2000" smtClean="0"/>
              <a:t>역할 배정처럼 상태 전이가 걸리는 메시지는 </a:t>
            </a:r>
            <a:r>
              <a:rPr lang="en-US" altLang="ko-KR" sz="2000" dirty="0" smtClean="0"/>
              <a:t>3~5</a:t>
            </a:r>
            <a:r>
              <a:rPr lang="ko-KR" altLang="en-US" sz="2000" smtClean="0"/>
              <a:t>회 재전송</a:t>
            </a:r>
            <a:r>
              <a:rPr lang="en-US" altLang="ko-KR" dirty="0" smtClean="0"/>
              <a:t> </a:t>
            </a:r>
            <a:r>
              <a:rPr lang="ko-KR" altLang="en-US" smtClean="0"/>
              <a:t> 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70507"/>
              </p:ext>
            </p:extLst>
          </p:nvPr>
        </p:nvGraphicFramePr>
        <p:xfrm>
          <a:off x="6737350" y="1676400"/>
          <a:ext cx="10248635" cy="774155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49727"/>
                <a:gridCol w="2049727"/>
                <a:gridCol w="2049727"/>
                <a:gridCol w="2049727"/>
                <a:gridCol w="2049727"/>
              </a:tblGrid>
              <a:tr h="432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dirty="0" smtClean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종류</a:t>
                      </a:r>
                      <a:endParaRPr lang="en-US" sz="1800" b="1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dirty="0" smtClean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값</a:t>
                      </a:r>
                      <a:endParaRPr lang="en-US" sz="1800" b="1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방향</a:t>
                      </a:r>
                      <a:endParaRPr lang="ko-KR" altLang="en-US" sz="1800" b="1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재전송</a:t>
                      </a:r>
                      <a:endParaRPr lang="ko-KR" altLang="en-US" sz="1800" b="1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설명</a:t>
                      </a:r>
                      <a:endParaRPr lang="ko-KR" altLang="en-US" sz="1800" b="1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ROLE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DRAWER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/50</a:t>
                      </a:r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선택 알림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CHALLENGER_JOIN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참가 및 슬롯 협상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DRAWING_START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4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/150</a:t>
                      </a:r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라운드 시작 싱크 신호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GAME_READY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라운드 화면 진입 완료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DRAWING_ACTIVE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첫 스트로크 시작 알림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DRAW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 err="1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nx,ny,color</a:t>
                      </a:r>
                      <a:endParaRPr lang="en-US" sz="1100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드로잉 좌표 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(0~999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정규화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CLEAR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/50</a:t>
                      </a:r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캔버스 초기화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HINT#{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카테고리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}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30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초 힌트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JUDGING_ACTIVE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/50</a:t>
                      </a:r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판정 시작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,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submit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잠금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JUDGING_END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/50</a:t>
                      </a:r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판정 종료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,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잠금 해제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A_CLEAR_P{N}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/30</a:t>
                      </a:r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P{N}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답변 패널 초기화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RETRY_P{N}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/30</a:t>
                      </a:r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P{N}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재도전 요청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6767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CORRECT_P{N}#BOARD{B}#EARLY/LATE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정답 판정 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(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보드번호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,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타이밍 포함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WRONG_ALL#{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정답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}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시간 초과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,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정답 공개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ROUND_END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라운드 종료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GAME_OVER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전체 라운드 종료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ANSWER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{pn}:DRAWN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/30</a:t>
                      </a:r>
                      <a:r>
                        <a:rPr 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답변 제출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6767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A_POINT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{pn},nx,ny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답변 필기 좌표 </a:t>
                      </a:r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(submit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시 일괄 전송</a:t>
                      </a:r>
                      <a:r>
                        <a:rPr lang="en-US" altLang="ko-KR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A_CLEAR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{pn}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자신의 답변 지우기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A_UP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{pn}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필기 </a:t>
                      </a:r>
                      <a:r>
                        <a:rPr lang="ko-KR" altLang="en-US" sz="1100" dirty="0" err="1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스트로크</a:t>
                      </a:r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 끝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FINAL_SCORE_SUBMIT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{nodeId}:{score}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각 보드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400ms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마다 반복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최종 점수 제출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511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FINAL_SCORE_SYNC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PLAYER1:n,PLAYER2:n,...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PLAYER1 → 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5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/20</a:t>
                      </a:r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전체 점수 스냅샷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446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FINAL_READY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각 보드 → 전체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800ms</a:t>
                      </a:r>
                      <a:r>
                        <a:rPr lang="ko-KR" altLang="en-US" sz="110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마다 반복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결과 화면 배리어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44862" y="238662"/>
            <a:ext cx="171287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 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: 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UDP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기반 어플리케이션 프로토콜 설계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46081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940798" y="2960970"/>
            <a:ext cx="7897587" cy="296883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이벤트 </a:t>
            </a:r>
            <a:r>
              <a:rPr lang="ko-KR" altLang="en-US" dirty="0" err="1"/>
              <a:t>파싱</a:t>
            </a:r>
            <a:r>
              <a:rPr lang="ko-KR" altLang="en-US" dirty="0"/>
              <a:t> 흐름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/dev/input/event*</a:t>
            </a:r>
            <a:r>
              <a:rPr lang="ko-KR" altLang="en-US"/>
              <a:t>에서 멀티터치 이벤트 직접 파싱</a:t>
            </a:r>
          </a:p>
          <a:p>
            <a:pPr lvl="1">
              <a:lnSpc>
                <a:spcPct val="150000"/>
              </a:lnSpc>
            </a:pPr>
            <a:r>
              <a:rPr lang="ko-KR" altLang="en-US" dirty="0" err="1" smtClean="0"/>
              <a:t>파싱</a:t>
            </a:r>
            <a:r>
              <a:rPr lang="ko-KR" altLang="en-US" dirty="0" smtClean="0"/>
              <a:t> 데이터 기반 </a:t>
            </a:r>
            <a:r>
              <a:rPr lang="ko-KR" altLang="en-US" dirty="0"/>
              <a:t>좌표 추출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Raw </a:t>
            </a:r>
            <a:r>
              <a:rPr lang="ko-KR" altLang="en-US"/>
              <a:t>값 → 화면 좌표 변환 </a:t>
            </a:r>
            <a:r>
              <a:rPr lang="en-US" altLang="ko-KR" dirty="0"/>
              <a:t>(</a:t>
            </a:r>
            <a:r>
              <a:rPr lang="ko-KR" altLang="en-US"/>
              <a:t>보정 알고리즘 적용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UI </a:t>
            </a:r>
            <a:r>
              <a:rPr lang="ko-KR" altLang="en-US"/>
              <a:t>이벤트 큐로 전달하여 </a:t>
            </a:r>
            <a:r>
              <a:rPr lang="ko-KR" altLang="en-US" smtClean="0"/>
              <a:t>처리</a:t>
            </a:r>
            <a:endParaRPr lang="en-US" altLang="ko-KR" dirty="0" smtClean="0"/>
          </a:p>
          <a:p>
            <a:pPr lvl="1">
              <a:lnSpc>
                <a:spcPct val="150000"/>
              </a:lnSpc>
            </a:pPr>
            <a:r>
              <a:rPr lang="ko-KR" altLang="en-US" dirty="0" smtClean="0"/>
              <a:t>상대</a:t>
            </a:r>
            <a:r>
              <a:rPr lang="en-US" altLang="ko-KR" dirty="0" smtClean="0"/>
              <a:t> </a:t>
            </a:r>
            <a:r>
              <a:rPr lang="ko-KR" altLang="en-US" smtClean="0"/>
              <a:t>보드에</a:t>
            </a:r>
            <a:r>
              <a:rPr lang="en-US" altLang="ko-KR" dirty="0" smtClean="0"/>
              <a:t> </a:t>
            </a:r>
            <a:r>
              <a:rPr lang="ko-KR" altLang="en-US" smtClean="0"/>
              <a:t>출력</a:t>
            </a:r>
            <a:r>
              <a:rPr lang="en-US" altLang="ko-KR" dirty="0" smtClean="0"/>
              <a:t> </a:t>
            </a: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63286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: Linux Input Subsystem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기반 터치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처리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 rotWithShape="1">
          <a:blip r:embed="rId2"/>
          <a:srcRect t="23441" b="27452"/>
          <a:stretch/>
        </p:blipFill>
        <p:spPr>
          <a:xfrm>
            <a:off x="775646" y="2875204"/>
            <a:ext cx="8281267" cy="40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947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475021" y="2700715"/>
            <a:ext cx="10708079" cy="296883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인터럽트 처리 구조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/dev/gpiochip0 + GPIO_GET_LINEEVENT_IOCTL</a:t>
            </a:r>
            <a:r>
              <a:rPr lang="ko-KR" altLang="en-US"/>
              <a:t>로 커널 이벤트 등록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하강 에지</a:t>
            </a:r>
            <a:r>
              <a:rPr lang="en-US" altLang="ko-KR" dirty="0"/>
              <a:t>(Falling Edge) </a:t>
            </a:r>
            <a:r>
              <a:rPr lang="ko-KR" altLang="en-US"/>
              <a:t>인터럽트 기반 버튼 이벤트 감지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poll()</a:t>
            </a:r>
            <a:r>
              <a:rPr lang="ko-KR" altLang="en-US"/>
              <a:t>로 이벤트 대기</a:t>
            </a:r>
            <a:r>
              <a:rPr lang="en-US" altLang="ko-KR" dirty="0"/>
              <a:t>, </a:t>
            </a:r>
            <a:r>
              <a:rPr lang="ko-KR" altLang="en-US"/>
              <a:t>별도 스레드에서 처리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std</a:t>
            </a:r>
            <a:r>
              <a:rPr lang="en-US" altLang="ko-KR" dirty="0"/>
              <a:t>::atomic</a:t>
            </a:r>
            <a:r>
              <a:rPr lang="ko-KR" altLang="en-US"/>
              <a:t>으로 스레드 간 안전한 상태 공유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65699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: GPIO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인터럽트 기반 물리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입력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처리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584" y="3351829"/>
            <a:ext cx="4206605" cy="4206605"/>
          </a:xfrm>
          <a:prstGeom prst="rect">
            <a:avLst/>
          </a:prstGeom>
        </p:spPr>
      </p:pic>
      <p:graphicFrame>
        <p:nvGraphicFramePr>
          <p:cNvPr id="11" name="표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8289682"/>
              </p:ext>
            </p:extLst>
          </p:nvPr>
        </p:nvGraphicFramePr>
        <p:xfrm>
          <a:off x="6925301" y="6351020"/>
          <a:ext cx="6589172" cy="17145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647293"/>
                <a:gridCol w="1647293"/>
                <a:gridCol w="1647293"/>
                <a:gridCol w="1647293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버튼</a:t>
                      </a:r>
                      <a:endParaRPr lang="ko-KR" altLang="en-US" b="1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GPIO line</a:t>
                      </a:r>
                      <a:endParaRPr lang="en-US" b="1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출제자</a:t>
                      </a:r>
                      <a:endParaRPr lang="ko-KR" altLang="en-US" b="1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도전자</a:t>
                      </a:r>
                      <a:endParaRPr lang="ko-KR" altLang="en-US" b="1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SW2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17</a:t>
                      </a:r>
                      <a:endParaRPr lang="en-US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OK (</a:t>
                      </a:r>
                      <a:r>
                        <a:rPr lang="ko-KR" altLang="en-US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정답</a:t>
                      </a:r>
                      <a:r>
                        <a:rPr lang="en-US" altLang="ko-KR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CLEAR (</a:t>
                      </a:r>
                      <a:r>
                        <a:rPr lang="ko-KR" altLang="en-US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지우기</a:t>
                      </a:r>
                      <a:r>
                        <a:rPr lang="en-US" altLang="ko-KR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SW3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18</a:t>
                      </a:r>
                      <a:endParaRPr lang="en-US" dirty="0">
                        <a:effectLst/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NG (</a:t>
                      </a:r>
                      <a:r>
                        <a:rPr lang="ko-KR" altLang="en-US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오답</a:t>
                      </a:r>
                      <a:r>
                        <a:rPr lang="en-US" altLang="ko-KR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SUBMIT </a:t>
                      </a:r>
                      <a:r>
                        <a:rPr lang="en-US" dirty="0" smtClean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/>
                      </a:r>
                      <a:br>
                        <a:rPr lang="en-US" dirty="0" smtClean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</a:br>
                      <a:r>
                        <a:rPr lang="en-US" dirty="0" smtClean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(</a:t>
                      </a:r>
                      <a:r>
                        <a:rPr lang="ko-KR" altLang="en-US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제출</a:t>
                      </a:r>
                      <a:r>
                        <a:rPr lang="en-US" altLang="ko-KR" dirty="0">
                          <a:effectLst/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6964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65699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 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: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최신 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Linux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커널 포팅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&amp; RFS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커스터마이징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grpSp>
        <p:nvGrpSpPr>
          <p:cNvPr id="11" name="그룹 10"/>
          <p:cNvGrpSpPr/>
          <p:nvPr/>
        </p:nvGrpSpPr>
        <p:grpSpPr>
          <a:xfrm>
            <a:off x="481554" y="2503039"/>
            <a:ext cx="8048277" cy="6088510"/>
            <a:chOff x="3203884" y="1924049"/>
            <a:chExt cx="9367632" cy="7086600"/>
          </a:xfrm>
        </p:grpSpPr>
        <p:pic>
          <p:nvPicPr>
            <p:cNvPr id="8" name="그림 7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59" b="26186"/>
            <a:stretch/>
          </p:blipFill>
          <p:spPr>
            <a:xfrm>
              <a:off x="3203884" y="1924049"/>
              <a:ext cx="9367632" cy="7086600"/>
            </a:xfrm>
            <a:prstGeom prst="rect">
              <a:avLst/>
            </a:prstGeom>
          </p:spPr>
        </p:pic>
        <p:sp>
          <p:nvSpPr>
            <p:cNvPr id="9" name="직사각형 8"/>
            <p:cNvSpPr/>
            <p:nvPr/>
          </p:nvSpPr>
          <p:spPr>
            <a:xfrm>
              <a:off x="4711700" y="7442200"/>
              <a:ext cx="2108200" cy="1257300"/>
            </a:xfrm>
            <a:prstGeom prst="rect">
              <a:avLst/>
            </a:prstGeom>
            <a:solidFill>
              <a:srgbClr val="FB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 smtClean="0">
                  <a:solidFill>
                    <a:srgbClr val="C92424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</a:rPr>
                <a:t>기존</a:t>
              </a:r>
              <a:r>
                <a:rPr lang="en-US" altLang="ko-KR" b="1" dirty="0" smtClean="0">
                  <a:solidFill>
                    <a:srgbClr val="C92424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</a:rPr>
                <a:t> </a:t>
              </a:r>
              <a:r>
                <a:rPr lang="ko-KR" altLang="en-US" b="1" smtClean="0">
                  <a:solidFill>
                    <a:srgbClr val="C92424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</a:rPr>
                <a:t>커널 </a:t>
              </a:r>
              <a:endParaRPr lang="ko-KR" altLang="en-US" b="1">
                <a:solidFill>
                  <a:srgbClr val="C92424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8496300" y="7442200"/>
              <a:ext cx="2717800" cy="1168400"/>
            </a:xfrm>
            <a:prstGeom prst="rect">
              <a:avLst/>
            </a:prstGeom>
            <a:solidFill>
              <a:srgbClr val="C924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 err="1" smtClean="0">
                  <a:latin typeface="LG스마트체2.0 Regular" panose="020B0600000101010101" pitchFamily="50" charset="-127"/>
                  <a:ea typeface="LG스마트체2.0 Regular" panose="020B0600000101010101" pitchFamily="50" charset="-127"/>
                </a:rPr>
                <a:t>쿵야</a:t>
              </a:r>
              <a:r>
                <a:rPr lang="ko-KR" altLang="en-US" b="1" dirty="0" smtClean="0">
                  <a:latin typeface="LG스마트체2.0 Regular" panose="020B0600000101010101" pitchFamily="50" charset="-127"/>
                  <a:ea typeface="LG스마트체2.0 Regular" panose="020B0600000101010101" pitchFamily="50" charset="-127"/>
                </a:rPr>
                <a:t> 전용 </a:t>
              </a:r>
              <a:r>
                <a:rPr lang="en-US" altLang="ko-KR" b="1" dirty="0" smtClean="0">
                  <a:latin typeface="LG스마트체2.0 Regular" panose="020B0600000101010101" pitchFamily="50" charset="-127"/>
                  <a:ea typeface="LG스마트체2.0 Regular" panose="020B0600000101010101" pitchFamily="50" charset="-127"/>
                </a:rPr>
                <a:t>Linux </a:t>
              </a:r>
              <a:r>
                <a:rPr lang="ko-KR" altLang="en-US" b="1" smtClean="0">
                  <a:latin typeface="LG스마트체2.0 Regular" panose="020B0600000101010101" pitchFamily="50" charset="-127"/>
                  <a:ea typeface="LG스마트체2.0 Regular" panose="020B0600000101010101" pitchFamily="50" charset="-127"/>
                </a:rPr>
                <a:t>커널</a:t>
              </a:r>
              <a:r>
                <a:rPr lang="en-US" altLang="ko-KR" b="1" dirty="0" smtClean="0">
                  <a:latin typeface="LG스마트체2.0 Regular" panose="020B0600000101010101" pitchFamily="50" charset="-127"/>
                  <a:ea typeface="LG스마트체2.0 Regular" panose="020B0600000101010101" pitchFamily="50" charset="-127"/>
                </a:rPr>
                <a:t/>
              </a:r>
              <a:br>
                <a:rPr lang="en-US" altLang="ko-KR" b="1" dirty="0" smtClean="0">
                  <a:latin typeface="LG스마트체2.0 Regular" panose="020B0600000101010101" pitchFamily="50" charset="-127"/>
                  <a:ea typeface="LG스마트체2.0 Regular" panose="020B0600000101010101" pitchFamily="50" charset="-127"/>
                </a:rPr>
              </a:br>
              <a:r>
                <a:rPr lang="en-US" altLang="ko-KR" b="1" dirty="0" smtClean="0">
                  <a:latin typeface="LG스마트체2.0 Regular" panose="020B0600000101010101" pitchFamily="50" charset="-127"/>
                  <a:ea typeface="LG스마트체2.0 Regular" panose="020B0600000101010101" pitchFamily="50" charset="-127"/>
                </a:rPr>
                <a:t>V6.12.81</a:t>
              </a:r>
              <a:endParaRPr lang="ko-KR" altLang="en-US" b="1">
                <a:latin typeface="LG스마트체2.0 Regular" panose="020B0600000101010101" pitchFamily="50" charset="-127"/>
                <a:ea typeface="LG스마트체2.0 Regular" panose="020B0600000101010101" pitchFamily="50" charset="-127"/>
              </a:endParaRPr>
            </a:p>
          </p:txBody>
        </p:sp>
      </p:grpSp>
      <p:grpSp>
        <p:nvGrpSpPr>
          <p:cNvPr id="25" name="그룹 24"/>
          <p:cNvGrpSpPr/>
          <p:nvPr/>
        </p:nvGrpSpPr>
        <p:grpSpPr>
          <a:xfrm>
            <a:off x="9026113" y="1999193"/>
            <a:ext cx="7388662" cy="7502828"/>
            <a:chOff x="9026113" y="1999193"/>
            <a:chExt cx="7388662" cy="7502828"/>
          </a:xfrm>
        </p:grpSpPr>
        <p:pic>
          <p:nvPicPr>
            <p:cNvPr id="14" name="그림 13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374" b="47404"/>
            <a:stretch/>
          </p:blipFill>
          <p:spPr>
            <a:xfrm>
              <a:off x="9038813" y="2530367"/>
              <a:ext cx="7375962" cy="3857332"/>
            </a:xfrm>
            <a:prstGeom prst="rect">
              <a:avLst/>
            </a:prstGeom>
          </p:spPr>
        </p:pic>
        <p:pic>
          <p:nvPicPr>
            <p:cNvPr id="16" name="그림 15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71" r="171" b="94599"/>
            <a:stretch/>
          </p:blipFill>
          <p:spPr>
            <a:xfrm>
              <a:off x="9026113" y="1999193"/>
              <a:ext cx="7375962" cy="531174"/>
            </a:xfrm>
            <a:prstGeom prst="rect">
              <a:avLst/>
            </a:prstGeom>
          </p:spPr>
        </p:pic>
        <p:sp>
          <p:nvSpPr>
            <p:cNvPr id="17" name="직사각형 16"/>
            <p:cNvSpPr/>
            <p:nvPr/>
          </p:nvSpPr>
          <p:spPr>
            <a:xfrm>
              <a:off x="10775503" y="4838384"/>
              <a:ext cx="4864052" cy="360497"/>
            </a:xfrm>
            <a:prstGeom prst="rect">
              <a:avLst/>
            </a:prstGeom>
            <a:solidFill>
              <a:srgbClr val="FEECE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 dirty="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endParaRPr>
            </a:p>
          </p:txBody>
        </p:sp>
        <p:pic>
          <p:nvPicPr>
            <p:cNvPr id="18" name="그림 1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898416" y="4838384"/>
              <a:ext cx="1945266" cy="322064"/>
            </a:xfrm>
            <a:prstGeom prst="rect">
              <a:avLst/>
            </a:prstGeom>
          </p:spPr>
        </p:pic>
        <p:pic>
          <p:nvPicPr>
            <p:cNvPr id="15" name="그림 14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71" t="52913" r="171" b="35813"/>
            <a:stretch/>
          </p:blipFill>
          <p:spPr>
            <a:xfrm>
              <a:off x="9038813" y="6433560"/>
              <a:ext cx="7375962" cy="1108811"/>
            </a:xfrm>
            <a:prstGeom prst="rect">
              <a:avLst/>
            </a:prstGeom>
          </p:spPr>
        </p:pic>
        <p:grpSp>
          <p:nvGrpSpPr>
            <p:cNvPr id="22" name="그룹 21"/>
            <p:cNvGrpSpPr/>
            <p:nvPr/>
          </p:nvGrpSpPr>
          <p:grpSpPr>
            <a:xfrm>
              <a:off x="9038813" y="7588232"/>
              <a:ext cx="7375962" cy="1913789"/>
              <a:chOff x="8941467" y="9177203"/>
              <a:chExt cx="7375962" cy="1913789"/>
            </a:xfrm>
          </p:grpSpPr>
          <p:pic>
            <p:nvPicPr>
              <p:cNvPr id="23" name="그림 22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71" t="80588" r="171" b="-47"/>
              <a:stretch/>
            </p:blipFill>
            <p:spPr>
              <a:xfrm>
                <a:off x="8941467" y="9177203"/>
                <a:ext cx="7375962" cy="1913789"/>
              </a:xfrm>
              <a:prstGeom prst="rect">
                <a:avLst/>
              </a:prstGeom>
            </p:spPr>
          </p:pic>
          <p:sp>
            <p:nvSpPr>
              <p:cNvPr id="24" name="직사각형 23"/>
              <p:cNvSpPr/>
              <p:nvPr/>
            </p:nvSpPr>
            <p:spPr>
              <a:xfrm>
                <a:off x="11215150" y="10068533"/>
                <a:ext cx="3070699" cy="429998"/>
              </a:xfrm>
              <a:prstGeom prst="rect">
                <a:avLst/>
              </a:prstGeom>
              <a:solidFill>
                <a:srgbClr val="C522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2000" b="1" dirty="0" err="1" smtClean="0">
                    <a:latin typeface="LG스마트체2.0 Bold" panose="020B0600000101010101" pitchFamily="50" charset="-127"/>
                    <a:ea typeface="LG스마트체2.0 Bold" panose="020B0600000101010101" pitchFamily="50" charset="-127"/>
                  </a:rPr>
                  <a:t>쿵야</a:t>
                </a:r>
                <a:r>
                  <a:rPr lang="ko-KR" altLang="en-US" sz="2000" b="1" dirty="0" smtClean="0">
                    <a:latin typeface="LG스마트체2.0 Bold" panose="020B0600000101010101" pitchFamily="50" charset="-127"/>
                    <a:ea typeface="LG스마트체2.0 Bold" panose="020B0600000101010101" pitchFamily="50" charset="-127"/>
                  </a:rPr>
                  <a:t> 캐치마인드 전용 </a:t>
                </a:r>
                <a:r>
                  <a:rPr lang="en-US" altLang="ko-KR" sz="2000" b="1" dirty="0" smtClean="0">
                    <a:latin typeface="LG스마트체2.0 Bold" panose="020B0600000101010101" pitchFamily="50" charset="-127"/>
                    <a:ea typeface="LG스마트체2.0 Bold" panose="020B0600000101010101" pitchFamily="50" charset="-127"/>
                  </a:rPr>
                  <a:t>RFS</a:t>
                </a:r>
                <a:endParaRPr lang="ko-KR" altLang="en-US" sz="2000" b="1">
                  <a:latin typeface="LG스마트체2.0 Bold" panose="020B0600000101010101" pitchFamily="50" charset="-127"/>
                  <a:ea typeface="LG스마트체2.0 Bold" panose="020B0600000101010101" pitchFamily="50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256649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7543800" cy="3606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2400" dirty="0" smtClean="0"/>
              <a:t>비트맵 폰트 직접 제작</a:t>
            </a:r>
            <a:endParaRPr lang="en-US" altLang="ko-KR" sz="2400" dirty="0" smtClean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A-Z, 0-9, </a:t>
            </a:r>
            <a:r>
              <a:rPr lang="ko-KR" altLang="en-US" sz="2000"/>
              <a:t>기호</a:t>
            </a:r>
            <a:r>
              <a:rPr lang="en-US" altLang="ko-KR" sz="2000" dirty="0"/>
              <a:t>(. : - / ! </a:t>
            </a:r>
            <a:r>
              <a:rPr lang="ko-KR" altLang="en-US" sz="2000"/>
              <a:t>등</a:t>
            </a:r>
            <a:r>
              <a:rPr lang="en-US" altLang="ko-KR" sz="2000" dirty="0"/>
              <a:t>)</a:t>
            </a:r>
            <a:r>
              <a:rPr lang="ko-KR" altLang="en-US" sz="2000"/>
              <a:t>를 </a:t>
            </a:r>
            <a:r>
              <a:rPr lang="en-US" altLang="ko-KR" sz="2000" dirty="0"/>
              <a:t>5×7 </a:t>
            </a:r>
            <a:r>
              <a:rPr lang="ko-KR" altLang="en-US" sz="2000"/>
              <a:t>비트맵 패턴으로 </a:t>
            </a:r>
            <a:r>
              <a:rPr lang="en-US" altLang="ko-KR" sz="2000" dirty="0"/>
              <a:t>display.cpp</a:t>
            </a:r>
            <a:r>
              <a:rPr lang="ko-KR" altLang="en-US" sz="2000"/>
              <a:t>에 </a:t>
            </a:r>
            <a:r>
              <a:rPr lang="ko-KR" altLang="en-US" sz="2000"/>
              <a:t>하드코딩 </a:t>
            </a:r>
            <a:endParaRPr lang="en-US" altLang="ko-KR" sz="2000" dirty="0" smtClean="0"/>
          </a:p>
          <a:p>
            <a:pPr lvl="1">
              <a:lnSpc>
                <a:spcPct val="150000"/>
              </a:lnSpc>
            </a:pPr>
            <a:r>
              <a:rPr lang="en-US" altLang="ko-KR" sz="2000" dirty="0" smtClean="0"/>
              <a:t>scale </a:t>
            </a:r>
            <a:r>
              <a:rPr lang="ko-KR" altLang="en-US" sz="2000"/>
              <a:t>파라미터로 정수 배율 확대 지원 </a:t>
            </a:r>
            <a:r>
              <a:rPr lang="en-US" altLang="ko-KR" sz="2000" dirty="0"/>
              <a:t>(UI</a:t>
            </a:r>
            <a:r>
              <a:rPr lang="ko-KR" altLang="en-US" sz="2000"/>
              <a:t>에서 </a:t>
            </a:r>
            <a:r>
              <a:rPr lang="en-US" altLang="ko-KR" sz="2000" dirty="0"/>
              <a:t>1×~4× </a:t>
            </a:r>
            <a:r>
              <a:rPr lang="ko-KR" altLang="en-US" sz="2000"/>
              <a:t>혼용</a:t>
            </a:r>
            <a:r>
              <a:rPr lang="en-US" altLang="ko-KR" sz="2000" dirty="0"/>
              <a:t>) </a:t>
            </a:r>
            <a:endParaRPr lang="en-US" altLang="ko-KR" sz="2000" dirty="0" smtClean="0"/>
          </a:p>
          <a:p>
            <a:pPr lvl="1">
              <a:lnSpc>
                <a:spcPct val="150000"/>
              </a:lnSpc>
            </a:pPr>
            <a:r>
              <a:rPr lang="ko-KR" altLang="en-US" sz="2000" dirty="0" smtClean="0"/>
              <a:t>모든 </a:t>
            </a:r>
            <a:r>
              <a:rPr lang="en-US" altLang="ko-KR" sz="2000" dirty="0"/>
              <a:t>UI </a:t>
            </a:r>
            <a:r>
              <a:rPr lang="ko-KR" altLang="en-US" sz="2000"/>
              <a:t>레이블은 </a:t>
            </a:r>
            <a:r>
              <a:rPr lang="en-US" altLang="ko-KR" sz="2000" dirty="0"/>
              <a:t>ASCII</a:t>
            </a:r>
            <a:r>
              <a:rPr lang="ko-KR" altLang="en-US" sz="2000"/>
              <a:t>로 통일해 폰트 복잡도 </a:t>
            </a:r>
            <a:r>
              <a:rPr lang="ko-KR" altLang="en-US" sz="2000"/>
              <a:t>최소화 </a:t>
            </a:r>
            <a:endParaRPr lang="en-US" altLang="ko-KR" sz="2000" dirty="0" smtClean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38" t="36092" r="53906" b="22892"/>
          <a:stretch/>
        </p:blipFill>
        <p:spPr>
          <a:xfrm>
            <a:off x="1016000" y="4775200"/>
            <a:ext cx="629920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862" y="238662"/>
            <a:ext cx="165699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: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라이브러리 독립 구현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437" t="22422" r="2865" b="56614"/>
          <a:stretch/>
        </p:blipFill>
        <p:spPr>
          <a:xfrm>
            <a:off x="8529831" y="5353050"/>
            <a:ext cx="8009756" cy="2298700"/>
          </a:xfrm>
          <a:prstGeom prst="rect">
            <a:avLst/>
          </a:prstGeom>
        </p:spPr>
      </p:pic>
      <p:sp>
        <p:nvSpPr>
          <p:cNvPr id="6" name="텍스트 개체 틀 1"/>
          <p:cNvSpPr txBox="1">
            <a:spLocks/>
          </p:cNvSpPr>
          <p:nvPr/>
        </p:nvSpPr>
        <p:spPr>
          <a:xfrm>
            <a:off x="9086850" y="1676400"/>
            <a:ext cx="7727950" cy="22733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2400" dirty="0" smtClean="0"/>
              <a:t>PPM </a:t>
            </a:r>
            <a:r>
              <a:rPr lang="ko-KR" altLang="en-US" sz="2400" smtClean="0"/>
              <a:t>이미지 포맷 직접 파싱</a:t>
            </a:r>
            <a:endParaRPr lang="en-US" altLang="ko-KR" sz="2400" dirty="0" smtClean="0"/>
          </a:p>
          <a:p>
            <a:pPr lvl="1">
              <a:lnSpc>
                <a:spcPct val="150000"/>
              </a:lnSpc>
            </a:pPr>
            <a:r>
              <a:rPr lang="ko-KR" altLang="en-US" sz="2000" dirty="0" smtClean="0"/>
              <a:t>보드에 </a:t>
            </a:r>
            <a:r>
              <a:rPr lang="en-US" altLang="ko-KR" sz="2000" dirty="0" err="1" smtClean="0"/>
              <a:t>libpng</a:t>
            </a:r>
            <a:r>
              <a:rPr lang="ko-KR" altLang="en-US" sz="2000" smtClean="0"/>
              <a:t>가 없어 </a:t>
            </a:r>
            <a:r>
              <a:rPr lang="en-US" altLang="ko-KR" sz="2000" dirty="0" smtClean="0"/>
              <a:t>PNG</a:t>
            </a:r>
            <a:r>
              <a:rPr lang="ko-KR" altLang="en-US" sz="2000"/>
              <a:t>를 직접 디코딩할 </a:t>
            </a:r>
            <a:r>
              <a:rPr lang="ko-KR" altLang="en-US" sz="2000"/>
              <a:t>수 </a:t>
            </a:r>
            <a:r>
              <a:rPr lang="ko-KR" altLang="en-US" sz="2000" smtClean="0"/>
              <a:t>없음</a:t>
            </a:r>
            <a:endParaRPr lang="en-US" altLang="ko-KR" sz="2000" dirty="0" smtClean="0"/>
          </a:p>
          <a:p>
            <a:pPr lvl="1">
              <a:lnSpc>
                <a:spcPct val="150000"/>
              </a:lnSpc>
            </a:pPr>
            <a:r>
              <a:rPr lang="ko-KR" altLang="en-US" sz="2000" dirty="0" smtClean="0"/>
              <a:t>원본 </a:t>
            </a:r>
            <a:r>
              <a:rPr lang="ko-KR" altLang="en-US" sz="2000" dirty="0"/>
              <a:t>이미지는 </a:t>
            </a:r>
            <a:r>
              <a:rPr lang="en-US" altLang="ko-KR" sz="2000" dirty="0"/>
              <a:t>PNG</a:t>
            </a:r>
            <a:r>
              <a:rPr lang="ko-KR" altLang="en-US" sz="2000"/>
              <a:t>로 관리하고</a:t>
            </a:r>
            <a:r>
              <a:rPr lang="en-US" altLang="ko-KR" sz="2000" dirty="0"/>
              <a:t>, </a:t>
            </a:r>
            <a:r>
              <a:rPr lang="ko-KR" altLang="en-US" sz="2000"/>
              <a:t>배포 시 </a:t>
            </a:r>
            <a:r>
              <a:rPr lang="en-US" altLang="ko-KR" sz="2000" dirty="0"/>
              <a:t>deploy.sh</a:t>
            </a:r>
            <a:r>
              <a:rPr lang="ko-KR" altLang="en-US" sz="2000"/>
              <a:t>가 </a:t>
            </a:r>
            <a:r>
              <a:rPr lang="ko-KR" altLang="en-US" sz="2000" smtClean="0"/>
              <a:t>자동으로 </a:t>
            </a:r>
            <a:r>
              <a:rPr lang="en-US" altLang="ko-KR" sz="2000" dirty="0"/>
              <a:t>PPM</a:t>
            </a:r>
            <a:r>
              <a:rPr lang="ko-KR" altLang="en-US" sz="2000"/>
              <a:t>으로 변환 후 </a:t>
            </a:r>
            <a:r>
              <a:rPr lang="en-US" altLang="ko-KR" sz="2000" dirty="0"/>
              <a:t>NFS</a:t>
            </a:r>
            <a:r>
              <a:rPr lang="ko-KR" altLang="en-US" sz="2000"/>
              <a:t>에 </a:t>
            </a:r>
            <a:r>
              <a:rPr lang="ko-KR" altLang="en-US" sz="2000"/>
              <a:t>배포 </a:t>
            </a:r>
            <a:endParaRPr lang="en-US" altLang="ko-KR" sz="2000" dirty="0" smtClean="0"/>
          </a:p>
          <a:p>
            <a:pPr lvl="1">
              <a:lnSpc>
                <a:spcPct val="150000"/>
              </a:lnSpc>
            </a:pPr>
            <a:r>
              <a:rPr lang="ko-KR" altLang="en-US" sz="2000" dirty="0" smtClean="0"/>
              <a:t>로딩 </a:t>
            </a:r>
            <a:r>
              <a:rPr lang="ko-KR" altLang="en-US" sz="2000" dirty="0"/>
              <a:t>시 보드 </a:t>
            </a:r>
            <a:r>
              <a:rPr lang="en-US" altLang="ko-KR" sz="2000" dirty="0" err="1"/>
              <a:t>bpp</a:t>
            </a:r>
            <a:r>
              <a:rPr lang="en-US" altLang="ko-KR" sz="2000" dirty="0"/>
              <a:t>(16/32)</a:t>
            </a:r>
            <a:r>
              <a:rPr lang="ko-KR" altLang="en-US" sz="2000"/>
              <a:t>에 맞게 </a:t>
            </a:r>
            <a:r>
              <a:rPr lang="en-US" altLang="ko-KR" sz="2000" dirty="0"/>
              <a:t>RGB → RGB565 </a:t>
            </a:r>
            <a:r>
              <a:rPr lang="ko-KR" altLang="en-US" sz="2000"/>
              <a:t>또는 </a:t>
            </a:r>
            <a:r>
              <a:rPr lang="en-US" altLang="ko-KR" sz="2000" dirty="0"/>
              <a:t>ARGB8888</a:t>
            </a:r>
            <a:r>
              <a:rPr lang="ko-KR" altLang="en-US" sz="2000"/>
              <a:t>로 변환 후 프레임버퍼에 직접 기록</a:t>
            </a:r>
            <a:endParaRPr lang="en-US" altLang="ko-KR" sz="2000" dirty="0" smtClean="0"/>
          </a:p>
        </p:txBody>
      </p:sp>
    </p:spTree>
    <p:extLst>
      <p:ext uri="{BB962C8B-B14F-4D97-AF65-F5344CB8AC3E}">
        <p14:creationId xmlns:p14="http://schemas.microsoft.com/office/powerpoint/2010/main" val="24624009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 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: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시스템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통합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아키텍처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24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9867901" y="2527300"/>
            <a:ext cx="7086600" cy="5321299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설계 원칙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모든 계층이 외부 라이브러리 없이 직접 구현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각 계층이 독립 </a:t>
            </a:r>
            <a:r>
              <a:rPr lang="ko-KR" altLang="en-US" sz="2000" dirty="0" err="1"/>
              <a:t>스레드로</a:t>
            </a:r>
            <a:r>
              <a:rPr lang="ko-KR" altLang="en-US" sz="2000" dirty="0"/>
              <a:t> 동작하며 이벤트 큐로 연결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 err="1" smtClean="0"/>
              <a:t>저사양</a:t>
            </a:r>
            <a:r>
              <a:rPr lang="en-US" altLang="ko-KR" sz="2000" dirty="0" smtClean="0"/>
              <a:t> </a:t>
            </a:r>
            <a:r>
              <a:rPr lang="ko-KR" altLang="en-US" sz="2000"/>
              <a:t>환경에서 메모리</a:t>
            </a:r>
            <a:r>
              <a:rPr lang="en-US" altLang="ko-KR" sz="2000" dirty="0"/>
              <a:t>·CPU </a:t>
            </a:r>
            <a:r>
              <a:rPr lang="ko-KR" altLang="en-US" sz="2000"/>
              <a:t>오버헤드 </a:t>
            </a:r>
            <a:r>
              <a:rPr lang="ko-KR" altLang="en-US" sz="2000" smtClean="0"/>
              <a:t>최소화</a:t>
            </a:r>
            <a:r>
              <a:rPr lang="en-US" altLang="ko-KR" sz="2000" dirty="0" smtClean="0"/>
              <a:t/>
            </a:r>
            <a:br>
              <a:rPr lang="en-US" altLang="ko-KR" sz="2000" dirty="0" smtClean="0"/>
            </a:br>
            <a:endParaRPr lang="en-US" altLang="ko-KR" sz="2000" dirty="0" smtClean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주요 기술 </a:t>
            </a:r>
            <a:r>
              <a:rPr lang="ko-KR" altLang="en-US" sz="2400" dirty="0" err="1"/>
              <a:t>스택</a:t>
            </a:r>
            <a:endParaRPr lang="ko-KR" altLang="en-US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/dev/fb0, </a:t>
            </a:r>
            <a:r>
              <a:rPr lang="en-US" altLang="ko-KR" sz="2000" dirty="0" err="1"/>
              <a:t>mmap</a:t>
            </a:r>
            <a:r>
              <a:rPr lang="en-US" altLang="ko-KR" sz="2000" dirty="0"/>
              <a:t>, select, poll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/dev/input/event*, /dev/gpiochip0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pthread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std</a:t>
            </a:r>
            <a:r>
              <a:rPr lang="en-US" altLang="ko-KR" sz="2000" dirty="0"/>
              <a:t>::thread, </a:t>
            </a:r>
            <a:r>
              <a:rPr lang="en-US" altLang="ko-KR" sz="2000" dirty="0" err="1"/>
              <a:t>std</a:t>
            </a:r>
            <a:r>
              <a:rPr lang="en-US" altLang="ko-KR" sz="2000" dirty="0"/>
              <a:t>::atomic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UDP </a:t>
            </a:r>
            <a:r>
              <a:rPr lang="ko-KR" altLang="en-US" sz="2000"/>
              <a:t>브로드캐스트 </a:t>
            </a:r>
            <a:r>
              <a:rPr lang="en-US" altLang="ko-KR" sz="2000" dirty="0"/>
              <a:t>+ </a:t>
            </a:r>
            <a:r>
              <a:rPr lang="ko-KR" altLang="en-US" sz="2000" smtClean="0"/>
              <a:t>동기화</a:t>
            </a:r>
            <a:endParaRPr lang="ko-KR" altLang="en-US" sz="200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18" y="2361964"/>
            <a:ext cx="9321183" cy="576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1431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2019300"/>
            <a:ext cx="7353300" cy="4102100"/>
          </a:xfrm>
        </p:spPr>
        <p:txBody>
          <a:bodyPr/>
          <a:lstStyle/>
          <a:p>
            <a:r>
              <a:rPr lang="ko-KR" altLang="en-US" dirty="0" smtClean="0"/>
              <a:t>네트워크 성능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그래픽 성능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.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분석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2858285"/>
              </p:ext>
            </p:extLst>
          </p:nvPr>
        </p:nvGraphicFramePr>
        <p:xfrm>
          <a:off x="531169" y="2773680"/>
          <a:ext cx="9363288" cy="201676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340822"/>
                <a:gridCol w="2340822"/>
                <a:gridCol w="2340822"/>
                <a:gridCol w="2340822"/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항목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측정</a:t>
                      </a:r>
                      <a:r>
                        <a:rPr lang="en-US" altLang="ko-KR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설계 값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결과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평가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평균 지연 시간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약 </a:t>
                      </a:r>
                      <a:r>
                        <a:rPr lang="en-US" altLang="ko-KR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50 ~ 100</a:t>
                      </a:r>
                      <a:r>
                        <a:rPr 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실시간 드로잉 자연스러움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 실시간 게임 기준 적합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패킷 전달 신뢰성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재전송 </a:t>
                      </a:r>
                      <a:r>
                        <a:rPr lang="en-US" altLang="ko-KR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3~5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회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상태 메시지 거의 </a:t>
                      </a:r>
                      <a:r>
                        <a:rPr lang="en-US" altLang="ko-KR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100% 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전달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 동기화 안정적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드로잉 </a:t>
                      </a:r>
                      <a:r>
                        <a:rPr lang="ko-KR" altLang="en-US" dirty="0" err="1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패킷</a:t>
                      </a:r>
                      <a:endParaRPr lang="ko-KR" altLang="en-US" dirty="0"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단발 전송 </a:t>
                      </a:r>
                      <a:r>
                        <a:rPr lang="en-US" altLang="ko-KR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(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손실 허용</a:t>
                      </a:r>
                      <a:r>
                        <a:rPr lang="en-US" altLang="ko-KR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일부 점 손실 발생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 UX 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영향 미미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9304903"/>
              </p:ext>
            </p:extLst>
          </p:nvPr>
        </p:nvGraphicFramePr>
        <p:xfrm>
          <a:off x="10631297" y="2773680"/>
          <a:ext cx="5852055" cy="4857692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950685"/>
                <a:gridCol w="1950685"/>
                <a:gridCol w="1950685"/>
              </a:tblGrid>
              <a:tr h="545556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목표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달성 여부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비고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</a:tr>
              <a:tr h="941645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실시간 멀티플레이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 smtClean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</a:t>
                      </a:r>
                      <a:endParaRPr lang="ko-KR" altLang="en-US" dirty="0"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100ms 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이하 지연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1645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안정적 동기화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상태</a:t>
                      </a:r>
                      <a:r>
                        <a:rPr lang="en-US" altLang="ko-KR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/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점수 완전 일치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5556"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깜빡임 없는 </a:t>
                      </a:r>
                      <a:r>
                        <a:rPr 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UI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더블 버퍼링 적용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1645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충돌 없는 판정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동시 입력 문제 해결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1645">
                <a:tc>
                  <a:txBody>
                    <a:bodyPr/>
                    <a:lstStyle/>
                    <a:p>
                      <a:r>
                        <a:rPr lang="ko-KR" altLang="en-US" dirty="0" err="1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확장성</a:t>
                      </a:r>
                      <a:endParaRPr lang="ko-KR" altLang="en-US" dirty="0">
                        <a:latin typeface="LG스마트체2.0 Regular" panose="020B0600000101010101" pitchFamily="50" charset="-127"/>
                        <a:ea typeface="LG스마트체2.0 Regular" panose="020B0600000101010101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△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UDP 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기반 구조 한계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텍스트 개체 틀 1"/>
          <p:cNvSpPr txBox="1">
            <a:spLocks/>
          </p:cNvSpPr>
          <p:nvPr/>
        </p:nvSpPr>
        <p:spPr>
          <a:xfrm>
            <a:off x="10821797" y="2019301"/>
            <a:ext cx="5852055" cy="75438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 smtClean="0"/>
              <a:t>최종 목표 달성 평가</a:t>
            </a:r>
            <a:endParaRPr lang="en-US" altLang="ko-KR" dirty="0" smtClean="0"/>
          </a:p>
        </p:txBody>
      </p:sp>
      <p:graphicFrame>
        <p:nvGraphicFramePr>
          <p:cNvPr id="10" name="표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486133"/>
              </p:ext>
            </p:extLst>
          </p:nvPr>
        </p:nvGraphicFramePr>
        <p:xfrm>
          <a:off x="531169" y="5913120"/>
          <a:ext cx="9363288" cy="174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822"/>
                <a:gridCol w="2340822"/>
                <a:gridCol w="2340822"/>
                <a:gridCol w="2340822"/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항목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방식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결과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평가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34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화면 출력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더블 </a:t>
                      </a:r>
                      <a:r>
                        <a:rPr lang="ko-KR" altLang="en-US" dirty="0" err="1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버퍼링</a:t>
                      </a:r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 </a:t>
                      </a:r>
                      <a:r>
                        <a:rPr lang="en-US" altLang="ko-KR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(</a:t>
                      </a:r>
                      <a:r>
                        <a:rPr 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HW/SW)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깜빡임 없음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 완전 개선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렌더링 방식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mmap</a:t>
                      </a:r>
                      <a:r>
                        <a:rPr 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 + 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직접 드로잉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중간 프레임 노출 없음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 안정적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화면 전환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 smtClean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버퍼 </a:t>
                      </a:r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교체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부드러운 </a:t>
                      </a:r>
                      <a:r>
                        <a:rPr 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UI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✔ UX </a:t>
                      </a:r>
                      <a:r>
                        <a:rPr lang="ko-KR" altLang="en-US">
                          <a:latin typeface="LG스마트체2.0 Regular" panose="020B0600000101010101" pitchFamily="50" charset="-127"/>
                          <a:ea typeface="LG스마트체2.0 Regular" panose="020B0600000101010101" pitchFamily="50" charset="-127"/>
                        </a:rPr>
                        <a:t>향상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A500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grpSp>
        <p:nvGrpSpPr>
          <p:cNvPr id="13" name="그룹 12"/>
          <p:cNvGrpSpPr/>
          <p:nvPr/>
        </p:nvGrpSpPr>
        <p:grpSpPr>
          <a:xfrm>
            <a:off x="1604413" y="1818831"/>
            <a:ext cx="13441623" cy="5800409"/>
            <a:chOff x="1604413" y="1818831"/>
            <a:chExt cx="13441623" cy="5800409"/>
          </a:xfrm>
        </p:grpSpPr>
        <p:grpSp>
          <p:nvGrpSpPr>
            <p:cNvPr id="8" name="그룹 7"/>
            <p:cNvGrpSpPr/>
            <p:nvPr/>
          </p:nvGrpSpPr>
          <p:grpSpPr>
            <a:xfrm>
              <a:off x="1604413" y="1818831"/>
              <a:ext cx="5735782" cy="5800409"/>
              <a:chOff x="1508166" y="3895296"/>
              <a:chExt cx="4215742" cy="4263242"/>
            </a:xfrm>
          </p:grpSpPr>
          <p:pic>
            <p:nvPicPr>
              <p:cNvPr id="5" name="그림 4"/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618" t="22628" r="35567" b="33662"/>
              <a:stretch/>
            </p:blipFill>
            <p:spPr>
              <a:xfrm>
                <a:off x="1508166" y="3895296"/>
                <a:ext cx="4215742" cy="4263242"/>
              </a:xfrm>
              <a:prstGeom prst="rect">
                <a:avLst/>
              </a:prstGeom>
            </p:spPr>
          </p:pic>
          <p:sp>
            <p:nvSpPr>
              <p:cNvPr id="7" name="직사각형 6"/>
              <p:cNvSpPr/>
              <p:nvPr/>
            </p:nvSpPr>
            <p:spPr>
              <a:xfrm>
                <a:off x="1650670" y="3911872"/>
                <a:ext cx="546265" cy="60564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" name="그룹 9"/>
            <p:cNvGrpSpPr/>
            <p:nvPr/>
          </p:nvGrpSpPr>
          <p:grpSpPr>
            <a:xfrm>
              <a:off x="8912666" y="1818831"/>
              <a:ext cx="6133370" cy="5796963"/>
              <a:chOff x="7980218" y="3911872"/>
              <a:chExt cx="4510645" cy="4263242"/>
            </a:xfrm>
          </p:grpSpPr>
          <p:pic>
            <p:nvPicPr>
              <p:cNvPr id="6" name="그림 5"/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5420" t="22628" r="3749" b="33662"/>
              <a:stretch/>
            </p:blipFill>
            <p:spPr>
              <a:xfrm>
                <a:off x="7980218" y="3911872"/>
                <a:ext cx="4510645" cy="4263242"/>
              </a:xfrm>
              <a:prstGeom prst="rect">
                <a:avLst/>
              </a:prstGeom>
            </p:spPr>
          </p:pic>
          <p:sp>
            <p:nvSpPr>
              <p:cNvPr id="9" name="직사각형 8"/>
              <p:cNvSpPr/>
              <p:nvPr/>
            </p:nvSpPr>
            <p:spPr>
              <a:xfrm>
                <a:off x="7980218" y="3911872"/>
                <a:ext cx="546265" cy="60564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192" b="2494"/>
          <a:stretch/>
        </p:blipFill>
        <p:spPr>
          <a:xfrm>
            <a:off x="1047245" y="7885215"/>
            <a:ext cx="14630400" cy="1591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626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7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992023" y="2311812"/>
            <a:ext cx="15092670" cy="5337217"/>
            <a:chOff x="1078044" y="3631941"/>
            <a:chExt cx="15092670" cy="3535768"/>
          </a:xfrm>
        </p:grpSpPr>
        <p:grpSp>
          <p:nvGrpSpPr>
            <p:cNvPr id="6" name="그룹 5"/>
            <p:cNvGrpSpPr/>
            <p:nvPr/>
          </p:nvGrpSpPr>
          <p:grpSpPr>
            <a:xfrm>
              <a:off x="1078044" y="3631941"/>
              <a:ext cx="7460314" cy="1644190"/>
              <a:chOff x="4008160" y="3964450"/>
              <a:chExt cx="8799378" cy="1644190"/>
            </a:xfrm>
          </p:grpSpPr>
          <p:sp>
            <p:nvSpPr>
              <p:cNvPr id="22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23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24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 dirty="0" smtClean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세부 규칙 확립을 위한 시행 착오</a:t>
                </a:r>
                <a:endPara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endParaRPr>
              </a:p>
            </p:txBody>
          </p:sp>
          <p:sp>
            <p:nvSpPr>
              <p:cNvPr id="25" name="Text 6"/>
              <p:cNvSpPr/>
              <p:nvPr/>
            </p:nvSpPr>
            <p:spPr>
              <a:xfrm>
                <a:off x="4641155" y="4615334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ko-KR" altLang="en-US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참가자 및 출제자가 그린 그림이 공유가 되는 규칙을 정하고 구현하고 테스트 하는 과정에서 시행착오가 </a:t>
                </a: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많았음</a:t>
                </a:r>
                <a:endPara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게임을 플레이하며 규칙을 조금씩 업데이트 해나가는 것으로 해결함</a:t>
                </a:r>
                <a:endPara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7" name="그룹 6"/>
            <p:cNvGrpSpPr/>
            <p:nvPr/>
          </p:nvGrpSpPr>
          <p:grpSpPr>
            <a:xfrm>
              <a:off x="8710400" y="3631941"/>
              <a:ext cx="7460314" cy="1644190"/>
              <a:chOff x="4008160" y="3964450"/>
              <a:chExt cx="8799378" cy="1644190"/>
            </a:xfrm>
          </p:grpSpPr>
          <p:sp>
            <p:nvSpPr>
              <p:cNvPr id="18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19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20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 dirty="0" smtClean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버그 해결</a:t>
                </a:r>
                <a:endParaRPr lang="en-US" altLang="ko-KR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endParaRPr>
              </a:p>
            </p:txBody>
          </p:sp>
          <p:sp>
            <p:nvSpPr>
              <p:cNvPr id="21" name="Text 6"/>
              <p:cNvSpPr/>
              <p:nvPr/>
            </p:nvSpPr>
            <p:spPr>
              <a:xfrm>
                <a:off x="4641155" y="4614241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순식간에 지나간 버그를 잡기 위해 반복 게임 플레이를 계속 진행함</a:t>
                </a:r>
                <a:endParaRPr lang="en-US" altLang="ko-KR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반복 플레이를 통해 버그를 특정하고 해결함</a:t>
                </a:r>
                <a:endPara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8" name="그룹 7"/>
            <p:cNvGrpSpPr/>
            <p:nvPr/>
          </p:nvGrpSpPr>
          <p:grpSpPr>
            <a:xfrm>
              <a:off x="1078044" y="5523519"/>
              <a:ext cx="7460314" cy="1644190"/>
              <a:chOff x="4008160" y="3964450"/>
              <a:chExt cx="8799378" cy="1644190"/>
            </a:xfrm>
          </p:grpSpPr>
          <p:sp>
            <p:nvSpPr>
              <p:cNvPr id="14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15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16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 dirty="0" smtClean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부드러운 </a:t>
                </a:r>
                <a:r>
                  <a:rPr lang="ko-KR" altLang="en-US" sz="2400" b="1" dirty="0" err="1" smtClean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터치감을</a:t>
                </a:r>
                <a:r>
                  <a:rPr lang="ko-KR" altLang="en-US" sz="2400" b="1" dirty="0" smtClean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 위한 최적화</a:t>
                </a:r>
                <a:endPara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endParaRPr>
              </a:p>
            </p:txBody>
          </p:sp>
          <p:sp>
            <p:nvSpPr>
              <p:cNvPr id="17" name="Text 6"/>
              <p:cNvSpPr/>
              <p:nvPr/>
            </p:nvSpPr>
            <p:spPr>
              <a:xfrm>
                <a:off x="4641155" y="4682312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endPara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  <p:grpSp>
          <p:nvGrpSpPr>
            <p:cNvPr id="9" name="그룹 8"/>
            <p:cNvGrpSpPr/>
            <p:nvPr/>
          </p:nvGrpSpPr>
          <p:grpSpPr>
            <a:xfrm>
              <a:off x="8710400" y="5523519"/>
              <a:ext cx="7460314" cy="1644190"/>
              <a:chOff x="4008160" y="3964450"/>
              <a:chExt cx="8799378" cy="1644190"/>
            </a:xfrm>
          </p:grpSpPr>
          <p:sp>
            <p:nvSpPr>
              <p:cNvPr id="10" name="Shape 3"/>
              <p:cNvSpPr/>
              <p:nvPr/>
            </p:nvSpPr>
            <p:spPr>
              <a:xfrm>
                <a:off x="4057206" y="3964450"/>
                <a:ext cx="8750332" cy="1644190"/>
              </a:xfrm>
              <a:prstGeom prst="roundRect">
                <a:avLst>
                  <a:gd name="adj" fmla="val 8109"/>
                </a:avLst>
              </a:prstGeom>
              <a:solidFill>
                <a:srgbClr val="FFFFFF"/>
              </a:solidFill>
              <a:ln w="22860">
                <a:solidFill>
                  <a:srgbClr val="C0C1D7"/>
                </a:solidFill>
                <a:prstDash val="solid"/>
              </a:ln>
            </p:spPr>
          </p:sp>
          <p:sp>
            <p:nvSpPr>
              <p:cNvPr id="11" name="Shape 4"/>
              <p:cNvSpPr/>
              <p:nvPr/>
            </p:nvSpPr>
            <p:spPr>
              <a:xfrm>
                <a:off x="4008160" y="3964450"/>
                <a:ext cx="196183" cy="1644190"/>
              </a:xfrm>
              <a:prstGeom prst="roundRect">
                <a:avLst>
                  <a:gd name="adj" fmla="val 83023"/>
                </a:avLst>
              </a:prstGeom>
              <a:solidFill>
                <a:srgbClr val="A50034"/>
              </a:solidFill>
              <a:ln/>
            </p:spPr>
          </p:sp>
          <p:sp>
            <p:nvSpPr>
              <p:cNvPr id="12" name="Text 5"/>
              <p:cNvSpPr/>
              <p:nvPr/>
            </p:nvSpPr>
            <p:spPr>
              <a:xfrm>
                <a:off x="4641155" y="4211838"/>
                <a:ext cx="4847360" cy="34316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r>
                  <a:rPr lang="ko-KR" altLang="en-US" sz="2400" b="1" dirty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점수 </a:t>
                </a:r>
                <a:r>
                  <a:rPr lang="ko-KR" altLang="en-US" sz="2400" b="1" dirty="0" smtClean="0">
                    <a:solidFill>
                      <a:srgbClr val="272525"/>
                    </a:solidFill>
                    <a:latin typeface="LG스마트체2.0 SemiBold" panose="020B0600000101010101" pitchFamily="50" charset="-127"/>
                    <a:ea typeface="LG스마트체2.0 SemiBold" panose="020B0600000101010101" pitchFamily="50" charset="-127"/>
                    <a:cs typeface="Inter Bold" pitchFamily="34" charset="-120"/>
                  </a:rPr>
                  <a:t>불일치 오류 해결</a:t>
                </a:r>
                <a:endPara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endParaRPr>
              </a:p>
            </p:txBody>
          </p:sp>
          <p:sp>
            <p:nvSpPr>
              <p:cNvPr id="13" name="Text 6"/>
              <p:cNvSpPr/>
              <p:nvPr/>
            </p:nvSpPr>
            <p:spPr>
              <a:xfrm>
                <a:off x="4641155" y="4603716"/>
                <a:ext cx="7729566" cy="63134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ko-KR" altLang="en-US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네트워크 지연이나 </a:t>
                </a:r>
                <a:r>
                  <a:rPr lang="ko-KR" altLang="en-US" sz="2000" dirty="0" err="1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패킷</a:t>
                </a:r>
                <a:r>
                  <a:rPr lang="ko-KR" altLang="en-US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 누락으로 </a:t>
                </a: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라운드가 </a:t>
                </a:r>
                <a:r>
                  <a:rPr lang="ko-KR" altLang="en-US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끝나는 시점에 보드 간 점수가 서로 달라지는 상황이 </a:t>
                </a: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발생</a:t>
                </a:r>
                <a:endParaRPr lang="en-US" altLang="ko-KR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각 </a:t>
                </a:r>
                <a:r>
                  <a:rPr lang="ko-KR" altLang="en-US" sz="2000" dirty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보드는 자기 자신의 점수만 직접 </a:t>
                </a:r>
                <a:r>
                  <a:rPr lang="ko-KR" altLang="en-US" sz="2000" dirty="0" smtClean="0">
                    <a:solidFill>
                      <a:srgbClr val="272525"/>
                    </a:solidFill>
                    <a:latin typeface="LG스마트체2.0 Regular" panose="020B0600000101010101" pitchFamily="50" charset="-127"/>
                    <a:ea typeface="LG스마트체2.0 Regular" panose="020B0600000101010101" pitchFamily="50" charset="-127"/>
                    <a:cs typeface="Inter" pitchFamily="34" charset="-120"/>
                  </a:rPr>
                  <a:t>관리하는 방식으로 해결</a:t>
                </a:r>
                <a:endPara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endParaRPr>
              </a:p>
            </p:txBody>
          </p:sp>
        </p:grpSp>
      </p:grpSp>
      <p:grpSp>
        <p:nvGrpSpPr>
          <p:cNvPr id="26" name="그룹 25"/>
          <p:cNvGrpSpPr/>
          <p:nvPr/>
        </p:nvGrpSpPr>
        <p:grpSpPr>
          <a:xfrm>
            <a:off x="992023" y="7987914"/>
            <a:ext cx="15092670" cy="963811"/>
            <a:chOff x="6567055" y="6581229"/>
            <a:chExt cx="15092670" cy="963811"/>
          </a:xfrm>
        </p:grpSpPr>
        <p:sp>
          <p:nvSpPr>
            <p:cNvPr id="27" name="Shape 5"/>
            <p:cNvSpPr/>
            <p:nvPr/>
          </p:nvSpPr>
          <p:spPr>
            <a:xfrm>
              <a:off x="6567055" y="6581229"/>
              <a:ext cx="15092670" cy="963811"/>
            </a:xfrm>
            <a:prstGeom prst="roundRect">
              <a:avLst>
                <a:gd name="adj" fmla="val 9884"/>
              </a:avLst>
            </a:prstGeom>
            <a:solidFill>
              <a:srgbClr val="FBDDDD"/>
            </a:solidFill>
            <a:ln/>
          </p:spPr>
        </p:sp>
        <p:sp>
          <p:nvSpPr>
            <p:cNvPr id="29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50"/>
                </a:lnSpc>
              </a:pPr>
              <a:r>
                <a:rPr lang="ko-KR" altLang="en-US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교육 기간에 배운 내용을 프로젝트에 </a:t>
              </a:r>
              <a:r>
                <a:rPr lang="ko-KR" altLang="en-US" sz="1750" dirty="0" err="1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적용함으로서</a:t>
              </a:r>
              <a:r>
                <a:rPr lang="ko-KR" altLang="en-US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 복습이 되고 피와 살이 되고 기억에 잘 남음</a:t>
              </a:r>
            </a:p>
          </p:txBody>
        </p:sp>
      </p:grpSp>
      <p:sp>
        <p:nvSpPr>
          <p:cNvPr id="31" name="Text 6"/>
          <p:cNvSpPr/>
          <p:nvPr/>
        </p:nvSpPr>
        <p:spPr>
          <a:xfrm>
            <a:off x="1528690" y="6132103"/>
            <a:ext cx="6553303" cy="953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rPr>
              <a:t>데이터 전송 주기 조절을 통해 게임 플레이에 집중 가능하도록 최적화 진행</a:t>
            </a:r>
            <a:endParaRPr lang="ko-KR" altLang="en-US" sz="2000" dirty="0">
              <a:solidFill>
                <a:srgbClr val="272525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  <a:cs typeface="Inter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0" y="1068779"/>
            <a:ext cx="17556163" cy="8807059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660111" y="3926399"/>
            <a:ext cx="224933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 smtClean="0">
                <a:solidFill>
                  <a:schemeClr val="bg1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</a:rPr>
              <a:t>감사합니다</a:t>
            </a:r>
            <a:r>
              <a:rPr lang="en-US" altLang="ko-KR" sz="3200" dirty="0" smtClean="0">
                <a:solidFill>
                  <a:schemeClr val="bg1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</a:rPr>
              <a:t>!</a:t>
            </a:r>
          </a:p>
          <a:p>
            <a:pPr algn="ctr"/>
            <a:endParaRPr lang="en-US" altLang="ko-KR" sz="3200" dirty="0">
              <a:solidFill>
                <a:schemeClr val="bg1"/>
              </a:solidFill>
              <a:latin typeface="LG스마트체2.0 Bold" panose="020B0600000101010101" pitchFamily="50" charset="-127"/>
              <a:ea typeface="LG스마트체2.0 Bold" panose="020B0600000101010101" pitchFamily="50" charset="-127"/>
            </a:endParaRPr>
          </a:p>
          <a:p>
            <a:pPr algn="ctr"/>
            <a:r>
              <a:rPr lang="en-US" altLang="ko-KR" sz="3200" dirty="0" smtClean="0">
                <a:solidFill>
                  <a:schemeClr val="bg1"/>
                </a:solidFill>
                <a:latin typeface="LG스마트체2.0 Bold" panose="020B0600000101010101" pitchFamily="50" charset="-127"/>
                <a:ea typeface="LG스마트체2.0 Bold" panose="020B0600000101010101" pitchFamily="50" charset="-127"/>
              </a:rPr>
              <a:t>Q&amp;A</a:t>
            </a:r>
            <a:endParaRPr lang="ko-KR" altLang="en-US" sz="3200">
              <a:solidFill>
                <a:schemeClr val="bg1"/>
              </a:solidFill>
              <a:latin typeface="LG스마트체2.0 Bold" panose="020B0600000101010101" pitchFamily="50" charset="-127"/>
              <a:ea typeface="LG스마트체2.0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6529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3065</TotalTime>
  <Words>1444</Words>
  <Application>Microsoft Office PowerPoint</Application>
  <PresentationFormat>사용자 지정</PresentationFormat>
  <Paragraphs>362</Paragraphs>
  <Slides>20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33" baseType="lpstr">
      <vt:lpstr>Calibri</vt:lpstr>
      <vt:lpstr>Inter Bold</vt:lpstr>
      <vt:lpstr>LG스마트체2.0 Light</vt:lpstr>
      <vt:lpstr>Arial</vt:lpstr>
      <vt:lpstr>LG스마트체2.0 SemiBold</vt:lpstr>
      <vt:lpstr>LG스마트체 SemiBold</vt:lpstr>
      <vt:lpstr>Inter</vt:lpstr>
      <vt:lpstr>LG스마트체2.0 Regular</vt:lpstr>
      <vt:lpstr>LG스마트체2.0 Bold</vt:lpstr>
      <vt:lpstr>Wingdings</vt:lpstr>
      <vt:lpstr>LG스마트체 Bold</vt:lpstr>
      <vt:lpstr>맑은 고딕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243</cp:revision>
  <dcterms:created xsi:type="dcterms:W3CDTF">2022-12-09T16:47:26Z</dcterms:created>
  <dcterms:modified xsi:type="dcterms:W3CDTF">2026-04-23T03:16:55Z</dcterms:modified>
</cp:coreProperties>
</file>