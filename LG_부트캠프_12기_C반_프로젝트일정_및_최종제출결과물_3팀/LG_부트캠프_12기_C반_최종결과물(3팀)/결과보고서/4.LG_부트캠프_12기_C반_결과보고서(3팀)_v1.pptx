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7" r:id="rId2"/>
    <p:sldId id="258" r:id="rId3"/>
    <p:sldId id="269" r:id="rId4"/>
    <p:sldId id="271" r:id="rId5"/>
    <p:sldId id="280" r:id="rId6"/>
    <p:sldId id="282" r:id="rId7"/>
    <p:sldId id="281" r:id="rId8"/>
    <p:sldId id="272" r:id="rId9"/>
    <p:sldId id="274" r:id="rId10"/>
    <p:sldId id="275" r:id="rId11"/>
    <p:sldId id="276" r:id="rId12"/>
    <p:sldId id="270" r:id="rId13"/>
    <p:sldId id="273" r:id="rId14"/>
    <p:sldId id="259" r:id="rId15"/>
    <p:sldId id="266" r:id="rId16"/>
    <p:sldId id="267" r:id="rId17"/>
    <p:sldId id="277" r:id="rId18"/>
    <p:sldId id="278" r:id="rId19"/>
    <p:sldId id="279" r:id="rId20"/>
  </p:sldIdLst>
  <p:sldSz cx="17556163" cy="9875838"/>
  <p:notesSz cx="9875838" cy="175561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10">
          <p15:clr>
            <a:srgbClr val="A4A3A4"/>
          </p15:clr>
        </p15:guide>
        <p15:guide id="2" pos="552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00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55" autoAdjust="0"/>
    <p:restoredTop sz="96395" autoAdjust="0"/>
  </p:normalViewPr>
  <p:slideViewPr>
    <p:cSldViewPr snapToGrid="0" snapToObjects="1">
      <p:cViewPr>
        <p:scale>
          <a:sx n="66" d="100"/>
          <a:sy n="66" d="100"/>
        </p:scale>
        <p:origin x="1266" y="540"/>
      </p:cViewPr>
      <p:guideLst>
        <p:guide orient="horz" pos="3110"/>
        <p:guide pos="55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029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0" y="0"/>
            <a:ext cx="17556480" cy="9875520"/>
            <a:chOff x="0" y="0"/>
            <a:chExt cx="17556480" cy="9875520"/>
          </a:xfrm>
        </p:grpSpPr>
        <p:pic>
          <p:nvPicPr>
            <p:cNvPr id="2" name="Image 0" descr="preencoded.png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7556480" cy="9875520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 userDrawn="1"/>
          </p:nvSpPr>
          <p:spPr>
            <a:xfrm>
              <a:off x="0" y="1401288"/>
              <a:ext cx="17556163" cy="84742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/>
          <p:cNvSpPr txBox="1"/>
          <p:nvPr userDrawn="1"/>
        </p:nvSpPr>
        <p:spPr>
          <a:xfrm>
            <a:off x="501404" y="1675892"/>
            <a:ext cx="1645309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400" dirty="0" smtClean="0">
              <a:latin typeface="LG스마트체2.0 SemiBold" panose="020B0600000101010101" pitchFamily="50" charset="-127"/>
              <a:ea typeface="LG스마트체2.0 SemiBold" panose="020B0600000101010101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ko-KR" altLang="en-US" sz="2000" dirty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16560800" cy="7581900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LG스마트체2.0 SemiBold" panose="020B0600000101010101" pitchFamily="50" charset="-127"/>
                <a:ea typeface="LG스마트체2.0 SemiBold" panose="020B0600000101010101" pitchFamily="50" charset="-127"/>
              </a:defRPr>
            </a:lvl1pPr>
            <a:lvl2pPr>
              <a:defRPr sz="24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2pPr>
            <a:lvl3pPr>
              <a:defRPr sz="20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3pPr>
            <a:lvl4pPr>
              <a:defRPr sz="18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4pPr>
            <a:lvl5pPr>
              <a:defRPr sz="16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09163" y="1499017"/>
            <a:ext cx="596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LG </a:t>
            </a:r>
            <a:r>
              <a:rPr lang="ko-KR" altLang="en-US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부트캠프</a:t>
            </a:r>
            <a:r>
              <a:rPr lang="ko-KR" altLang="en-US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r>
              <a:rPr lang="en-US" altLang="ko-KR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12</a:t>
            </a:r>
            <a:r>
              <a:rPr lang="ko-KR" altLang="en-US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</a:t>
            </a:r>
            <a:endParaRPr lang="ko-KR" altLang="en-US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9242" y="5410269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쿵야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40474" y="7827365"/>
            <a:ext cx="59610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C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반 </a:t>
            </a:r>
            <a:r>
              <a:rPr lang="en-US" altLang="ko-KR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팀</a:t>
            </a:r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r>
              <a:rPr lang="ko-KR" altLang="en-US" sz="28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엄제원</a:t>
            </a:r>
            <a:r>
              <a:rPr lang="ko-KR" altLang="en-US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이경환 윤지원</a:t>
            </a:r>
            <a:endParaRPr lang="ko-KR" altLang="en-US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49202" y="4588833"/>
            <a:ext cx="1419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결과보고서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61" y="649796"/>
            <a:ext cx="4510135" cy="219456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2654" y="1373029"/>
            <a:ext cx="5253657" cy="1325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97049" y="2878040"/>
            <a:ext cx="1116012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10750089" y="7383726"/>
            <a:ext cx="6248622" cy="11842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>
                <a:solidFill>
                  <a:schemeClr val="tx1"/>
                </a:solidFill>
              </a:rPr>
              <a:t>필요시 목차 임의 수정 가능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소개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6204566" y="138195"/>
            <a:ext cx="11092721" cy="112426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b="1" dirty="0">
                <a:solidFill>
                  <a:schemeClr val="tx1"/>
                </a:solidFill>
              </a:rPr>
              <a:t>간략하게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페이지에 프로젝트의 주제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목표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결과를 요약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8733" y="5966265"/>
            <a:ext cx="5613433" cy="3228535"/>
          </a:xfrm>
          <a:prstGeom prst="rect">
            <a:avLst/>
          </a:prstGeom>
        </p:spPr>
      </p:pic>
      <p:sp>
        <p:nvSpPr>
          <p:cNvPr id="8" name="텍스트 개체 틀 1"/>
          <p:cNvSpPr txBox="1">
            <a:spLocks/>
          </p:cNvSpPr>
          <p:nvPr/>
        </p:nvSpPr>
        <p:spPr>
          <a:xfrm>
            <a:off x="546101" y="5280066"/>
            <a:ext cx="6745348" cy="2185059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 smtClean="0"/>
          </a:p>
        </p:txBody>
      </p:sp>
      <p:sp>
        <p:nvSpPr>
          <p:cNvPr id="9" name="텍스트 개체 틀 1"/>
          <p:cNvSpPr txBox="1">
            <a:spLocks/>
          </p:cNvSpPr>
          <p:nvPr/>
        </p:nvSpPr>
        <p:spPr>
          <a:xfrm>
            <a:off x="546101" y="7269183"/>
            <a:ext cx="6745348" cy="2185059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 smtClean="0"/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734" y="1828800"/>
            <a:ext cx="5637012" cy="3758008"/>
          </a:xfrm>
          <a:prstGeom prst="rect">
            <a:avLst/>
          </a:prstGeom>
        </p:spPr>
      </p:pic>
      <p:sp>
        <p:nvSpPr>
          <p:cNvPr id="15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8572500" cy="7581900"/>
          </a:xfrm>
        </p:spPr>
        <p:txBody>
          <a:bodyPr/>
          <a:lstStyle/>
          <a:p>
            <a:r>
              <a:rPr lang="ko-KR" altLang="en-US" dirty="0" smtClean="0"/>
              <a:t>캐치 </a:t>
            </a:r>
            <a:r>
              <a:rPr lang="ko-KR" altLang="en-US" dirty="0"/>
              <a:t>마인드</a:t>
            </a:r>
          </a:p>
          <a:p>
            <a:pPr lvl="1"/>
            <a:r>
              <a:rPr lang="ko-KR" altLang="en-US" dirty="0"/>
              <a:t>필요 인원 </a:t>
            </a:r>
            <a:r>
              <a:rPr lang="en-US" altLang="ko-KR" dirty="0"/>
              <a:t>3</a:t>
            </a:r>
            <a:r>
              <a:rPr lang="ko-KR" altLang="en-US"/>
              <a:t>명 </a:t>
            </a:r>
            <a:r>
              <a:rPr lang="en-US" altLang="ko-KR" dirty="0"/>
              <a:t>(1</a:t>
            </a:r>
            <a:r>
              <a:rPr lang="ko-KR" altLang="en-US"/>
              <a:t>명 출제자</a:t>
            </a:r>
            <a:r>
              <a:rPr lang="en-US" altLang="ko-KR" dirty="0"/>
              <a:t>, 2</a:t>
            </a:r>
            <a:r>
              <a:rPr lang="ko-KR" altLang="en-US"/>
              <a:t>명 참가자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3</a:t>
            </a:r>
            <a:r>
              <a:rPr lang="ko-KR" altLang="en-US"/>
              <a:t>인 실시간 멀티플레이 지원</a:t>
            </a:r>
            <a:endParaRPr lang="en-US" altLang="ko-KR" dirty="0"/>
          </a:p>
          <a:p>
            <a:pPr lvl="1"/>
            <a:r>
              <a:rPr lang="ko-KR" altLang="en-US" dirty="0"/>
              <a:t>허브 기반 </a:t>
            </a:r>
            <a:r>
              <a:rPr lang="en-US" altLang="ko-KR" dirty="0"/>
              <a:t>UDP </a:t>
            </a:r>
            <a:r>
              <a:rPr lang="ko-KR" altLang="en-US"/>
              <a:t>통신을 통해 세명의 플레이어가 실시간으로 게임을 즐기도록 지원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플레이어 간 경쟁을 위한 랭킹 시스템</a:t>
            </a:r>
            <a:endParaRPr lang="en-US" altLang="ko-KR" dirty="0"/>
          </a:p>
          <a:p>
            <a:pPr lvl="1"/>
            <a:r>
              <a:rPr lang="ko-KR" altLang="en-US" dirty="0"/>
              <a:t>문제 출제와 정답을 맞추며 점수 획득이 가능하며 </a:t>
            </a:r>
            <a:r>
              <a:rPr lang="en-US" altLang="ko-KR" dirty="0"/>
              <a:t>5</a:t>
            </a:r>
            <a:r>
              <a:rPr lang="ko-KR" altLang="en-US"/>
              <a:t>라운드 합산을 통해 랭킹 출력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터치펜을</a:t>
            </a:r>
            <a:r>
              <a:rPr lang="ko-KR" altLang="en-US" dirty="0"/>
              <a:t> 활용한 정교한 그림 그리기</a:t>
            </a:r>
            <a:endParaRPr lang="en-US" altLang="ko-KR" dirty="0"/>
          </a:p>
          <a:p>
            <a:pPr lvl="1"/>
            <a:r>
              <a:rPr lang="ko-KR" altLang="en-US" dirty="0"/>
              <a:t>색상 변경</a:t>
            </a:r>
            <a:r>
              <a:rPr lang="en-US" altLang="ko-KR" dirty="0"/>
              <a:t>, </a:t>
            </a:r>
            <a:r>
              <a:rPr lang="ko-KR" altLang="en-US"/>
              <a:t>지우개</a:t>
            </a:r>
            <a:r>
              <a:rPr lang="en-US" altLang="ko-KR" dirty="0"/>
              <a:t>, </a:t>
            </a:r>
            <a:r>
              <a:rPr lang="ko-KR" altLang="en-US"/>
              <a:t>초기화 기능을 통해 출제자가 편리하게 문제를 출제하도록 지원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983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890814" y="8132208"/>
            <a:ext cx="12563929" cy="1524000"/>
          </a:xfrm>
        </p:spPr>
        <p:txBody>
          <a:bodyPr/>
          <a:lstStyle/>
          <a:p>
            <a:r>
              <a:rPr lang="ko-KR" altLang="en-US" sz="2400" b="1" dirty="0"/>
              <a:t>출제자 </a:t>
            </a:r>
            <a:r>
              <a:rPr lang="en-US" altLang="ko-KR" sz="2400" b="1" dirty="0"/>
              <a:t>1</a:t>
            </a:r>
            <a:r>
              <a:rPr lang="ko-KR" altLang="en-US" sz="2400" b="1"/>
              <a:t>명과 참가자 </a:t>
            </a:r>
            <a:r>
              <a:rPr lang="en-US" altLang="ko-KR" sz="2400" b="1" dirty="0"/>
              <a:t>2</a:t>
            </a:r>
            <a:r>
              <a:rPr lang="ko-KR" altLang="en-US" sz="2400" b="1"/>
              <a:t>명이 </a:t>
            </a:r>
            <a:r>
              <a:rPr lang="ko-KR" altLang="en-US" sz="2400" b="1"/>
              <a:t>겨루는 </a:t>
            </a:r>
            <a:r>
              <a:rPr lang="en-US" altLang="ko-KR" sz="2400" b="1" dirty="0" smtClean="0">
                <a:solidFill>
                  <a:srgbClr val="FF0000"/>
                </a:solidFill>
              </a:rPr>
              <a:t>5</a:t>
            </a:r>
            <a:r>
              <a:rPr lang="ko-KR" altLang="en-US" sz="2400" b="1">
                <a:solidFill>
                  <a:srgbClr val="FF0000"/>
                </a:solidFill>
              </a:rPr>
              <a:t>라운드 누적 점수제 </a:t>
            </a:r>
            <a:r>
              <a:rPr lang="ko-KR" altLang="en-US" sz="2400" b="1"/>
              <a:t>실시간 </a:t>
            </a:r>
            <a:r>
              <a:rPr lang="ko-KR" altLang="en-US" sz="2400" b="1"/>
              <a:t>추측 </a:t>
            </a:r>
            <a:r>
              <a:rPr lang="ko-KR" altLang="en-US" sz="2400" b="1" smtClean="0"/>
              <a:t>게임</a:t>
            </a:r>
            <a:endParaRPr lang="en-US" altLang="ko-KR" sz="2400" b="1" dirty="0" smtClean="0"/>
          </a:p>
          <a:p>
            <a:r>
              <a:rPr lang="ko-KR" altLang="en-US" sz="2400" b="1" dirty="0" smtClean="0"/>
              <a:t>출제자가 </a:t>
            </a:r>
            <a:r>
              <a:rPr lang="ko-KR" altLang="en-US" sz="2400" b="1" dirty="0"/>
              <a:t>그림을 그리면 참가자들은 선착순으로 정답을 </a:t>
            </a:r>
            <a:r>
              <a:rPr lang="ko-KR" altLang="en-US" sz="2400" b="1" dirty="0" smtClean="0"/>
              <a:t>제출</a:t>
            </a:r>
            <a:endParaRPr lang="en-US" altLang="ko-KR" sz="2400" b="1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캐치마인드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게임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규칙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9774420" y="-75692"/>
            <a:ext cx="7531309" cy="15520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실제 개발 결과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2"/>
          <a:srcRect t="16712" b="16036"/>
          <a:stretch/>
        </p:blipFill>
        <p:spPr>
          <a:xfrm>
            <a:off x="1045077" y="1863047"/>
            <a:ext cx="6066923" cy="6125029"/>
          </a:xfrm>
          <a:prstGeom prst="rect">
            <a:avLst/>
          </a:prstGeom>
        </p:spPr>
      </p:pic>
      <p:grpSp>
        <p:nvGrpSpPr>
          <p:cNvPr id="26" name="그룹 25"/>
          <p:cNvGrpSpPr/>
          <p:nvPr/>
        </p:nvGrpSpPr>
        <p:grpSpPr>
          <a:xfrm>
            <a:off x="8117022" y="2320260"/>
            <a:ext cx="8799378" cy="5282388"/>
            <a:chOff x="8384223" y="4143852"/>
            <a:chExt cx="4101346" cy="4347329"/>
          </a:xfrm>
        </p:grpSpPr>
        <p:sp>
          <p:nvSpPr>
            <p:cNvPr id="14" name="Shape 3"/>
            <p:cNvSpPr/>
            <p:nvPr/>
          </p:nvSpPr>
          <p:spPr>
            <a:xfrm>
              <a:off x="8407083" y="4143852"/>
              <a:ext cx="4078486" cy="1353145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5" name="Shape 4"/>
            <p:cNvSpPr/>
            <p:nvPr/>
          </p:nvSpPr>
          <p:spPr>
            <a:xfrm>
              <a:off x="8384223" y="4143852"/>
              <a:ext cx="91440" cy="1353145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16" name="Text 5"/>
            <p:cNvSpPr/>
            <p:nvPr/>
          </p:nvSpPr>
          <p:spPr>
            <a:xfrm>
              <a:off x="8679259" y="4347449"/>
              <a:ext cx="2259330" cy="2824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출제자 선정</a:t>
              </a:r>
            </a:p>
          </p:txBody>
        </p:sp>
        <p:sp>
          <p:nvSpPr>
            <p:cNvPr id="17" name="Text 6"/>
            <p:cNvSpPr/>
            <p:nvPr/>
          </p:nvSpPr>
          <p:spPr>
            <a:xfrm>
              <a:off x="8679259" y="4773812"/>
              <a:ext cx="3602712" cy="5195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첫 라운드는 선착순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이후는 라운드 결과에 따라 출제자가 변경</a:t>
              </a:r>
              <a:endParaRPr lang="en-US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endParaRPr>
            </a:p>
          </p:txBody>
        </p:sp>
        <p:sp>
          <p:nvSpPr>
            <p:cNvPr id="18" name="Shape 7"/>
            <p:cNvSpPr/>
            <p:nvPr/>
          </p:nvSpPr>
          <p:spPr>
            <a:xfrm>
              <a:off x="8407083" y="5640944"/>
              <a:ext cx="4078486" cy="1353145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9" name="Shape 8"/>
            <p:cNvSpPr/>
            <p:nvPr/>
          </p:nvSpPr>
          <p:spPr>
            <a:xfrm>
              <a:off x="8384223" y="5640944"/>
              <a:ext cx="91440" cy="1353145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20" name="Text 9"/>
            <p:cNvSpPr/>
            <p:nvPr/>
          </p:nvSpPr>
          <p:spPr>
            <a:xfrm>
              <a:off x="8679259" y="5844541"/>
              <a:ext cx="2259330" cy="2824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문제 선택</a:t>
              </a:r>
            </a:p>
          </p:txBody>
        </p:sp>
        <p:sp>
          <p:nvSpPr>
            <p:cNvPr id="21" name="Text 10"/>
            <p:cNvSpPr/>
            <p:nvPr/>
          </p:nvSpPr>
          <p:spPr>
            <a:xfrm>
              <a:off x="8679259" y="6270904"/>
              <a:ext cx="3602712" cy="5195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출제자가 분야 → 주제어 순서로 </a:t>
              </a:r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선택</a:t>
              </a:r>
              <a:endParaRPr lang="en-US" altLang="ko-KR" sz="2000" dirty="0" smtClean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  <a:p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각 </a:t>
              </a:r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단계마다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4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개 선택지가 랜덤 제시되며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주제어는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참가자에게 </a:t>
              </a:r>
              <a:r>
                <a:rPr lang="ko-KR" altLang="en-US" sz="200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비공개</a:t>
              </a:r>
              <a:endParaRPr lang="en-US" altLang="ko-KR" sz="2000" dirty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</p:txBody>
        </p:sp>
        <p:sp>
          <p:nvSpPr>
            <p:cNvPr id="22" name="Shape 11"/>
            <p:cNvSpPr/>
            <p:nvPr/>
          </p:nvSpPr>
          <p:spPr>
            <a:xfrm>
              <a:off x="8407083" y="7138036"/>
              <a:ext cx="4078486" cy="1353145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23" name="Shape 12"/>
            <p:cNvSpPr/>
            <p:nvPr/>
          </p:nvSpPr>
          <p:spPr>
            <a:xfrm>
              <a:off x="8384223" y="7138036"/>
              <a:ext cx="91440" cy="1353145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24" name="Text 13"/>
            <p:cNvSpPr/>
            <p:nvPr/>
          </p:nvSpPr>
          <p:spPr>
            <a:xfrm>
              <a:off x="8679259" y="7341633"/>
              <a:ext cx="2259330" cy="2824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제한 시간</a:t>
              </a:r>
            </a:p>
          </p:txBody>
        </p:sp>
        <p:sp>
          <p:nvSpPr>
            <p:cNvPr id="25" name="Text 14"/>
            <p:cNvSpPr/>
            <p:nvPr/>
          </p:nvSpPr>
          <p:spPr>
            <a:xfrm>
              <a:off x="8679259" y="7767995"/>
              <a:ext cx="3602712" cy="5195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각 라운드는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60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초 </a:t>
              </a:r>
              <a:r>
                <a:rPr lang="ko-KR" altLang="en-US" sz="200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제한</a:t>
              </a:r>
              <a:endParaRPr lang="en-US" altLang="ko-KR" sz="2000" dirty="0" smtClean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  <a:p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한 </a:t>
              </a:r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명이 정답을 맞히면 즉시 </a:t>
              </a:r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종료</a:t>
              </a:r>
              <a:endParaRPr lang="en-US" altLang="ko-KR" sz="2000" dirty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08528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점수 </a:t>
            </a:r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&amp;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규칙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9774420" y="-75692"/>
            <a:ext cx="7531309" cy="15520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실제 개발 결과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4420" y="2013581"/>
            <a:ext cx="6713042" cy="6713042"/>
          </a:xfrm>
          <a:prstGeom prst="rect">
            <a:avLst/>
          </a:prstGeom>
        </p:spPr>
      </p:pic>
      <p:sp>
        <p:nvSpPr>
          <p:cNvPr id="3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8572500" cy="7581900"/>
          </a:xfrm>
        </p:spPr>
        <p:txBody>
          <a:bodyPr/>
          <a:lstStyle/>
          <a:p>
            <a:r>
              <a:rPr lang="ko-KR" altLang="en-US" dirty="0" smtClean="0"/>
              <a:t>힌트 시스템</a:t>
            </a:r>
            <a:endParaRPr lang="en-US" altLang="ko-KR" dirty="0" smtClean="0"/>
          </a:p>
          <a:p>
            <a:pPr lvl="1"/>
            <a:r>
              <a:rPr lang="en-US" altLang="ko-KR" dirty="0" smtClean="0">
                <a:solidFill>
                  <a:srgbClr val="272525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30</a:t>
            </a:r>
            <a:r>
              <a:rPr lang="ko-KR" altLang="en-US">
                <a:solidFill>
                  <a:srgbClr val="272525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초 경과 시 참가자들에게 </a:t>
            </a:r>
            <a:r>
              <a:rPr lang="ko-KR" altLang="en-US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카테고리</a:t>
            </a:r>
            <a:r>
              <a:rPr lang="en-US" altLang="ko-KR" dirty="0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(</a:t>
            </a:r>
            <a:r>
              <a:rPr lang="ko-KR" altLang="en-US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분야</a:t>
            </a:r>
            <a:r>
              <a:rPr lang="en-US" altLang="ko-KR" dirty="0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)</a:t>
            </a:r>
            <a:r>
              <a:rPr lang="ko-KR" altLang="en-US">
                <a:solidFill>
                  <a:srgbClr val="272525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가 공개</a:t>
            </a:r>
            <a:endParaRPr lang="en-US" altLang="ko-KR" dirty="0">
              <a:latin typeface="LG스마트체 SemiBold" panose="020B0600000101010101" pitchFamily="50" charset="-127"/>
              <a:ea typeface="LG스마트체 SemiBold" panose="020B0600000101010101" pitchFamily="50" charset="-127"/>
            </a:endParaRPr>
          </a:p>
          <a:p>
            <a:endParaRPr lang="en-US" altLang="ko-KR" dirty="0"/>
          </a:p>
          <a:p>
            <a:r>
              <a:rPr lang="ko-KR" altLang="en-US" dirty="0" smtClean="0"/>
              <a:t>정답 판단</a:t>
            </a:r>
            <a:endParaRPr lang="en-US" altLang="ko-KR" dirty="0" smtClean="0"/>
          </a:p>
          <a:p>
            <a:pPr lvl="1"/>
            <a:r>
              <a:rPr lang="ko-KR" altLang="en-US" dirty="0"/>
              <a:t>출제자가 직접 각 제출의 정답 여부를 판단</a:t>
            </a:r>
          </a:p>
          <a:p>
            <a:pPr lvl="1"/>
            <a:endParaRPr lang="en-US" altLang="ko-KR" dirty="0"/>
          </a:p>
          <a:p>
            <a:r>
              <a:rPr lang="ko-KR" altLang="en-US" dirty="0" smtClean="0"/>
              <a:t>정답 시</a:t>
            </a:r>
            <a:endParaRPr lang="en-US" altLang="ko-KR" dirty="0"/>
          </a:p>
          <a:p>
            <a:pPr lvl="1"/>
            <a:r>
              <a:rPr lang="ko-KR" altLang="en-US" dirty="0" smtClean="0"/>
              <a:t>정답을 맞힌 참가자가 </a:t>
            </a:r>
            <a:r>
              <a:rPr lang="ko-KR" altLang="en-US" dirty="0" smtClean="0">
                <a:solidFill>
                  <a:srgbClr val="FF0000"/>
                </a:solidFill>
              </a:rPr>
              <a:t>다음 라운드 출제자</a:t>
            </a:r>
            <a:r>
              <a:rPr lang="ko-KR" altLang="en-US" dirty="0" smtClean="0"/>
              <a:t>가 됨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smtClean="0"/>
              <a:t>시간 초과 시</a:t>
            </a:r>
            <a:endParaRPr lang="en-US" altLang="ko-KR" dirty="0"/>
          </a:p>
          <a:p>
            <a:pPr lvl="1"/>
            <a:r>
              <a:rPr lang="ko-KR" altLang="en-US" dirty="0"/>
              <a:t>라운드가 실패로 종료되고 정답이 </a:t>
            </a:r>
            <a:r>
              <a:rPr lang="ko-KR" altLang="en-US" dirty="0" smtClean="0"/>
              <a:t>공개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출제자는 </a:t>
            </a:r>
            <a:r>
              <a:rPr lang="en-US" altLang="ko-KR" dirty="0"/>
              <a:t>1</a:t>
            </a:r>
            <a:r>
              <a:rPr lang="ko-KR" altLang="en-US"/>
              <a:t>점 감점되며 다음 라운드에서도 </a:t>
            </a:r>
            <a:r>
              <a:rPr lang="ko-KR" altLang="en-US"/>
              <a:t>출제자를 </a:t>
            </a:r>
            <a:r>
              <a:rPr lang="ko-KR" altLang="en-US" smtClean="0"/>
              <a:t>유지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en-US" altLang="ko-KR" dirty="0" smtClean="0"/>
              <a:t>5</a:t>
            </a:r>
            <a:r>
              <a:rPr lang="ko-KR" altLang="en-US" smtClean="0"/>
              <a:t>라운드 완료 시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각 플레이어의 누적 점수가 환산되어 랭킹 출력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0830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시연 영상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9774420" y="-75692"/>
            <a:ext cx="7531309" cy="15520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실제 개발 결과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3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8572500" cy="7581900"/>
          </a:xfrm>
        </p:spPr>
        <p:txBody>
          <a:bodyPr/>
          <a:lstStyle/>
          <a:p>
            <a:r>
              <a:rPr lang="ko-KR" altLang="en-US" dirty="0" smtClean="0"/>
              <a:t>시연 영상 첨부</a:t>
            </a:r>
            <a:endParaRPr lang="en-US" altLang="ko-KR" dirty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46488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9774420" y="-75692"/>
            <a:ext cx="7531309" cy="15520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실제 개발 결과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5" b="-1"/>
          <a:stretch/>
        </p:blipFill>
        <p:spPr>
          <a:xfrm>
            <a:off x="-416719" y="3183820"/>
            <a:ext cx="7154069" cy="5350580"/>
          </a:xfrm>
          <a:prstGeom prst="rect">
            <a:avLst/>
          </a:prstGeom>
        </p:spPr>
      </p:pic>
      <p:sp>
        <p:nvSpPr>
          <p:cNvPr id="6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16560800" cy="7581900"/>
          </a:xfrm>
        </p:spPr>
        <p:txBody>
          <a:bodyPr/>
          <a:lstStyle/>
          <a:p>
            <a:r>
              <a:rPr lang="ko-KR" altLang="en-US" dirty="0"/>
              <a:t>게임 방식</a:t>
            </a:r>
          </a:p>
          <a:p>
            <a:pPr lvl="1"/>
            <a:r>
              <a:rPr lang="ko-KR" altLang="en-US" dirty="0"/>
              <a:t>출제자는 분야</a:t>
            </a:r>
            <a:r>
              <a:rPr lang="en-US" altLang="ko-KR" dirty="0"/>
              <a:t>&gt;</a:t>
            </a:r>
            <a:r>
              <a:rPr lang="ko-KR" altLang="en-US"/>
              <a:t>주제어 순서로 선택</a:t>
            </a:r>
            <a:endParaRPr lang="en-US" altLang="ko-KR" dirty="0"/>
          </a:p>
          <a:p>
            <a:pPr lvl="2"/>
            <a:r>
              <a:rPr lang="ko-KR" altLang="en-US" dirty="0"/>
              <a:t>각 계층 별 </a:t>
            </a:r>
            <a:r>
              <a:rPr lang="en-US" altLang="ko-KR" dirty="0"/>
              <a:t>4</a:t>
            </a:r>
            <a:r>
              <a:rPr lang="ko-KR" altLang="en-US"/>
              <a:t>개씩 랜덤</a:t>
            </a:r>
          </a:p>
          <a:p>
            <a:pPr lvl="1"/>
            <a:r>
              <a:rPr lang="ko-KR" altLang="en-US" dirty="0"/>
              <a:t>출제자가 그림 그리기 시작</a:t>
            </a:r>
            <a:endParaRPr lang="en-US" altLang="ko-KR" dirty="0"/>
          </a:p>
          <a:p>
            <a:pPr lvl="1"/>
            <a:r>
              <a:rPr lang="ko-KR" altLang="en-US" dirty="0"/>
              <a:t>참가자는 정답을 자신의 화면에 글씨로 작성하여 제출</a:t>
            </a:r>
          </a:p>
          <a:p>
            <a:pPr lvl="1"/>
            <a:r>
              <a:rPr lang="ko-KR" altLang="en-US" dirty="0"/>
              <a:t>출제자는 확인 후 정답</a:t>
            </a:r>
            <a:r>
              <a:rPr lang="en-US" altLang="ko-KR" dirty="0"/>
              <a:t>/</a:t>
            </a:r>
            <a:r>
              <a:rPr lang="ko-KR" altLang="en-US"/>
              <a:t>오답 판단</a:t>
            </a:r>
          </a:p>
          <a:p>
            <a:pPr lvl="1"/>
            <a:r>
              <a:rPr lang="ko-KR" altLang="en-US" dirty="0"/>
              <a:t>정답 시 맞춘 사람이 출제자가 되고</a:t>
            </a:r>
            <a:r>
              <a:rPr lang="en-US" altLang="ko-KR" dirty="0"/>
              <a:t>, </a:t>
            </a:r>
            <a:br>
              <a:rPr lang="en-US" altLang="ko-KR" dirty="0"/>
            </a:br>
            <a:r>
              <a:rPr lang="ko-KR" altLang="en-US"/>
              <a:t>다시 주제어 선택 화면으로 전환</a:t>
            </a:r>
          </a:p>
          <a:p>
            <a:pPr lvl="1"/>
            <a:r>
              <a:rPr lang="ko-KR" altLang="en-US" dirty="0"/>
              <a:t>다음 라운드 시작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점수 획득 방법</a:t>
            </a:r>
            <a:endParaRPr lang="en-US" altLang="ko-KR" dirty="0"/>
          </a:p>
          <a:p>
            <a:pPr lvl="1"/>
            <a:r>
              <a:rPr lang="ko-KR" altLang="en-US" dirty="0"/>
              <a:t>문제를 맞춘 참가자는 </a:t>
            </a:r>
            <a:r>
              <a:rPr lang="en-US" altLang="ko-KR" dirty="0"/>
              <a:t>OO</a:t>
            </a:r>
            <a:r>
              <a:rPr lang="ko-KR" altLang="en-US"/>
              <a:t>점의 점수 획득</a:t>
            </a:r>
            <a:endParaRPr lang="en-US" altLang="ko-KR" dirty="0"/>
          </a:p>
          <a:p>
            <a:pPr lvl="1"/>
            <a:r>
              <a:rPr lang="en-US" altLang="ko-KR" dirty="0"/>
              <a:t>1</a:t>
            </a:r>
            <a:r>
              <a:rPr lang="ko-KR" altLang="en-US"/>
              <a:t>분의 그림 그리기 제한 시간동안 맞춘 사람이 있는 경우에는 출제자 </a:t>
            </a:r>
            <a:r>
              <a:rPr lang="en-US" altLang="ko-KR" dirty="0"/>
              <a:t>OO</a:t>
            </a:r>
            <a:r>
              <a:rPr lang="ko-KR" altLang="en-US"/>
              <a:t>점 획득</a:t>
            </a:r>
            <a:endParaRPr lang="en-US" altLang="ko-KR" dirty="0"/>
          </a:p>
          <a:p>
            <a:pPr lvl="1"/>
            <a:r>
              <a:rPr lang="ko-KR" altLang="en-US" dirty="0"/>
              <a:t>맞춘 사람이 없는 경우에는 출제자 </a:t>
            </a:r>
            <a:r>
              <a:rPr lang="en-US" altLang="ko-KR" dirty="0"/>
              <a:t>OO</a:t>
            </a:r>
            <a:r>
              <a:rPr lang="ko-KR" altLang="en-US"/>
              <a:t>점 감점</a:t>
            </a:r>
            <a:endParaRPr lang="en-US" altLang="ko-KR" dirty="0"/>
          </a:p>
          <a:p>
            <a:pPr lvl="1"/>
            <a:r>
              <a:rPr lang="en-US" altLang="ko-KR" dirty="0"/>
              <a:t>5</a:t>
            </a:r>
            <a:r>
              <a:rPr lang="ko-KR" altLang="en-US"/>
              <a:t>라운드 이후 각 인원 점수를 합산하여 </a:t>
            </a:r>
            <a:r>
              <a:rPr lang="en-US" altLang="ko-KR" dirty="0"/>
              <a:t>1~3</a:t>
            </a:r>
            <a:r>
              <a:rPr lang="ko-KR" altLang="en-US"/>
              <a:t>등 표시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79053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다중 클라이언트 실시간 </a:t>
            </a:r>
            <a:r>
              <a:rPr lang="en-US" altLang="ko-KR" dirty="0" smtClean="0"/>
              <a:t>UDP </a:t>
            </a:r>
            <a:r>
              <a:rPr lang="ko-KR" altLang="en-US" smtClean="0"/>
              <a:t>통신</a:t>
            </a:r>
            <a:endParaRPr lang="en-US" altLang="ko-KR" dirty="0" smtClean="0"/>
          </a:p>
          <a:p>
            <a:r>
              <a:rPr lang="ko-KR" altLang="en-US" dirty="0" smtClean="0"/>
              <a:t>출제자와 참가자 화면 </a:t>
            </a:r>
            <a:r>
              <a:rPr lang="ko-KR" altLang="en-US" dirty="0" smtClean="0"/>
              <a:t>동기화</a:t>
            </a:r>
            <a:endParaRPr lang="en-US" altLang="ko-KR" dirty="0" smtClean="0"/>
          </a:p>
          <a:p>
            <a:r>
              <a:rPr lang="ko-KR" altLang="en-US" dirty="0" err="1"/>
              <a:t>듀얼</a:t>
            </a:r>
            <a:r>
              <a:rPr lang="en-US" altLang="ko-KR" dirty="0"/>
              <a:t> </a:t>
            </a:r>
            <a:r>
              <a:rPr lang="ko-KR" altLang="en-US" smtClean="0"/>
              <a:t>버퍼로 부드러운 화면 전환</a:t>
            </a:r>
            <a:endParaRPr lang="en-US" altLang="ko-KR" dirty="0" smtClean="0"/>
          </a:p>
          <a:p>
            <a:r>
              <a:rPr lang="ko-KR" altLang="en-US" dirty="0" smtClean="0"/>
              <a:t>최신 </a:t>
            </a:r>
            <a:r>
              <a:rPr lang="ko-KR" altLang="en-US" dirty="0" err="1" smtClean="0"/>
              <a:t>커널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포팅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리눅스</a:t>
            </a:r>
            <a:r>
              <a:rPr lang="ko-KR" altLang="en-US" dirty="0" smtClean="0"/>
              <a:t> </a:t>
            </a:r>
            <a:r>
              <a:rPr lang="en-US" altLang="ko-KR" dirty="0" smtClean="0"/>
              <a:t>6.12.81</a:t>
            </a:r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138293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72721" y="-68440"/>
            <a:ext cx="8310380" cy="153753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</a:t>
            </a:r>
            <a:r>
              <a:rPr lang="en-US" altLang="ko-KR" sz="2400" b="1" dirty="0">
                <a:solidFill>
                  <a:schemeClr val="tx1"/>
                </a:solidFill>
              </a:rPr>
              <a:t>1 </a:t>
            </a:r>
            <a:r>
              <a:rPr lang="ko-KR" altLang="en-US" sz="24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442290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340195" y="246759"/>
            <a:ext cx="8437380" cy="91523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</a:t>
            </a:r>
            <a:r>
              <a:rPr lang="en-US" altLang="ko-KR" sz="2400" b="1" dirty="0">
                <a:solidFill>
                  <a:schemeClr val="tx1"/>
                </a:solidFill>
              </a:rPr>
              <a:t>1</a:t>
            </a:r>
            <a:r>
              <a:rPr lang="ko-KR" altLang="en-US" sz="24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299884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402821" y="49816"/>
            <a:ext cx="8323080" cy="130102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2400" b="1" dirty="0" err="1">
                <a:solidFill>
                  <a:schemeClr val="tx1"/>
                </a:solidFill>
              </a:rPr>
              <a:t>느낀점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24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2400" b="1" dirty="0">
                <a:solidFill>
                  <a:schemeClr val="tx1"/>
                </a:solidFill>
              </a:rPr>
              <a:t>… 1</a:t>
            </a:r>
            <a:r>
              <a:rPr lang="ko-KR" altLang="en-US" sz="24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693654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altLang="ko-KR" sz="19900" dirty="0" smtClean="0"/>
              <a:t>APPENDIX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0112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77800"/>
            <a:ext cx="16560800" cy="9525000"/>
          </a:xfrm>
          <a:solidFill>
            <a:schemeClr val="bg1"/>
          </a:solidFill>
        </p:spPr>
        <p:txBody>
          <a:bodyPr/>
          <a:lstStyle/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MAC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MAC </a:t>
            </a:r>
            <a:r>
              <a:rPr lang="ko-KR" altLang="en-US" sz="1400"/>
              <a:t>주소란 이더넷 장치의 하드웨어 주소임 </a:t>
            </a:r>
            <a:r>
              <a:rPr lang="en-US" altLang="ko-KR" sz="1400" dirty="0"/>
              <a:t>-&gt; </a:t>
            </a:r>
            <a:r>
              <a:rPr lang="ko-KR" altLang="en-US" sz="1400"/>
              <a:t>동일한 네트워크에서는 </a:t>
            </a:r>
            <a:r>
              <a:rPr lang="en-US" altLang="ko-KR" sz="1400" dirty="0"/>
              <a:t>IP </a:t>
            </a:r>
            <a:r>
              <a:rPr lang="ko-KR" altLang="en-US" sz="1400"/>
              <a:t>주소가 아니라 </a:t>
            </a:r>
            <a:r>
              <a:rPr lang="en-US" altLang="ko-KR" sz="1400" dirty="0"/>
              <a:t>MAC </a:t>
            </a:r>
            <a:r>
              <a:rPr lang="ko-KR" altLang="en-US" sz="1400"/>
              <a:t>주소를 이용하여 통신이 이루어짐</a:t>
            </a:r>
          </a:p>
          <a:p>
            <a:r>
              <a:rPr lang="en-US" altLang="ko-KR" sz="1400" dirty="0"/>
              <a:t>2. WT2837</a:t>
            </a:r>
            <a:r>
              <a:rPr lang="ko-KR" altLang="en-US" sz="1400"/>
              <a:t>은 </a:t>
            </a:r>
            <a:r>
              <a:rPr lang="en-US" altLang="ko-KR" sz="1400" dirty="0"/>
              <a:t>U-Boot</a:t>
            </a:r>
            <a:r>
              <a:rPr lang="ko-KR" altLang="en-US" sz="1400"/>
              <a:t>의 환경변수 </a:t>
            </a:r>
            <a:r>
              <a:rPr lang="en-US" altLang="ko-KR" sz="1400" dirty="0" err="1"/>
              <a:t>ethaddr</a:t>
            </a:r>
            <a:r>
              <a:rPr lang="ko-KR" altLang="en-US" sz="1400"/>
              <a:t>에 저장된 </a:t>
            </a:r>
            <a:r>
              <a:rPr lang="en-US" altLang="ko-KR" sz="1400" dirty="0"/>
              <a:t>MAC </a:t>
            </a:r>
            <a:r>
              <a:rPr lang="ko-KR" altLang="en-US" sz="1400"/>
              <a:t>주소를 커널이 받아서 사용함</a:t>
            </a:r>
          </a:p>
          <a:p>
            <a:r>
              <a:rPr lang="en-US" altLang="ko-KR" sz="1400" dirty="0"/>
              <a:t>3. </a:t>
            </a:r>
            <a:r>
              <a:rPr lang="ko-KR" altLang="en-US" sz="1400"/>
              <a:t>따라서 현재 커널이 부팅완료된 후 </a:t>
            </a:r>
            <a:r>
              <a:rPr lang="en-US" altLang="ko-KR" sz="1400" dirty="0"/>
              <a:t>MAC </a:t>
            </a:r>
            <a:r>
              <a:rPr lang="ko-KR" altLang="en-US" sz="1400"/>
              <a:t>주소를 보면 다음과 같이 모두 </a:t>
            </a:r>
            <a:r>
              <a:rPr lang="en-US" altLang="ko-KR" sz="1400" dirty="0"/>
              <a:t>B8:27:EB:9D:E5:C8 </a:t>
            </a:r>
            <a:r>
              <a:rPr lang="ko-KR" altLang="en-US" sz="1400"/>
              <a:t>로 되어 있음</a:t>
            </a:r>
          </a:p>
          <a:p>
            <a:endParaRPr lang="ko-KR" altLang="en-US" sz="1400" dirty="0"/>
          </a:p>
          <a:p>
            <a:r>
              <a:rPr lang="en-US" altLang="ko-KR" sz="1400" dirty="0"/>
              <a:t>root@WT2837:~#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                                                        </a:t>
            </a:r>
          </a:p>
          <a:p>
            <a:r>
              <a:rPr lang="en-US" altLang="ko-KR" sz="1400" dirty="0"/>
              <a:t>eth0      Link </a:t>
            </a:r>
            <a:r>
              <a:rPr lang="en-US" altLang="ko-KR" sz="1400" dirty="0" err="1"/>
              <a:t>encap:Ethernet</a:t>
            </a:r>
            <a:r>
              <a:rPr lang="en-US" altLang="ko-KR" sz="1400" dirty="0"/>
              <a:t>  </a:t>
            </a:r>
            <a:r>
              <a:rPr lang="en-US" altLang="ko-KR" sz="1400" dirty="0" err="1"/>
              <a:t>HWaddr</a:t>
            </a:r>
            <a:r>
              <a:rPr lang="en-US" altLang="ko-KR" sz="1400" dirty="0"/>
              <a:t> B8:27:EB:9D:E5:C8                         </a:t>
            </a:r>
          </a:p>
          <a:p>
            <a:r>
              <a:rPr lang="en-US" altLang="ko-KR" sz="1400" dirty="0"/>
              <a:t>          </a:t>
            </a:r>
            <a:r>
              <a:rPr lang="en-US" altLang="ko-KR" sz="1400" dirty="0" err="1"/>
              <a:t>inet</a:t>
            </a:r>
            <a:r>
              <a:rPr lang="en-US" altLang="ko-KR" sz="1400" dirty="0"/>
              <a:t> addr:192.168.10.3  Bcast:0.0.0.0  Mask:255.255.255.0             </a:t>
            </a:r>
          </a:p>
          <a:p>
            <a:r>
              <a:rPr lang="en-US" altLang="ko-KR" sz="1400" dirty="0"/>
              <a:t>          UP BROADCAST RUNNING MULTICAST  MTU:1500  Metric:1                    </a:t>
            </a:r>
          </a:p>
          <a:p>
            <a:r>
              <a:rPr lang="en-US" altLang="ko-KR" sz="1400" dirty="0"/>
              <a:t>          RX packets:37 errors:0 dropped:0 overruns:0 frame:0                   </a:t>
            </a:r>
          </a:p>
          <a:p>
            <a:r>
              <a:rPr lang="en-US" altLang="ko-KR" sz="1400" dirty="0"/>
              <a:t>          TX packets:31 errors:0 dropped:0 overruns:0 carrier:0                 </a:t>
            </a:r>
          </a:p>
          <a:p>
            <a:r>
              <a:rPr lang="en-US" altLang="ko-KR" sz="1400" dirty="0"/>
              <a:t>          collisions:0 txqueuelen:1000                                          </a:t>
            </a:r>
          </a:p>
          <a:p>
            <a:r>
              <a:rPr lang="en-US" altLang="ko-KR" sz="1400" dirty="0"/>
              <a:t>          RX bytes:3710 (3.6 KiB)  TX bytes:3334 (3.2 KiB) </a:t>
            </a:r>
          </a:p>
          <a:p>
            <a:r>
              <a:rPr lang="en-US" altLang="ko-KR" sz="1400" dirty="0"/>
              <a:t>		  </a:t>
            </a:r>
          </a:p>
          <a:p>
            <a:r>
              <a:rPr lang="en-US" altLang="ko-KR" sz="1400" dirty="0"/>
              <a:t>4. </a:t>
            </a:r>
            <a:r>
              <a:rPr lang="ko-KR" altLang="en-US" sz="1400"/>
              <a:t>동일한 네트워크에 있는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주소가 동일하면 통신이 안됨 </a:t>
            </a:r>
            <a:r>
              <a:rPr lang="en-US" altLang="ko-KR" sz="1400" dirty="0"/>
              <a:t>-&gt; </a:t>
            </a:r>
            <a:r>
              <a:rPr lang="ko-KR" altLang="en-US" sz="1400"/>
              <a:t>따라서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주소를 다르게 설정해야 함</a:t>
            </a:r>
          </a:p>
          <a:p>
            <a:endParaRPr lang="ko-KR" altLang="en-US" sz="1400" dirty="0"/>
          </a:p>
          <a:p>
            <a:r>
              <a:rPr lang="en-US" altLang="ko-KR" sz="1400" dirty="0"/>
              <a:t>5. WT2837 </a:t>
            </a:r>
            <a:r>
              <a:rPr lang="ko-KR" altLang="en-US" sz="1400"/>
              <a:t>보드의 </a:t>
            </a:r>
            <a:r>
              <a:rPr lang="en-US" altLang="ko-KR" sz="1400" dirty="0"/>
              <a:t>MAC </a:t>
            </a:r>
            <a:r>
              <a:rPr lang="ko-KR" altLang="en-US" sz="1400"/>
              <a:t>주소 변경 방법 </a:t>
            </a:r>
            <a:r>
              <a:rPr lang="en-US" altLang="ko-KR" sz="1400" dirty="0"/>
              <a:t>(U-Boot</a:t>
            </a:r>
            <a:r>
              <a:rPr lang="ko-KR" altLang="en-US" sz="1400"/>
              <a:t>에서 진행해야 함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 err="1"/>
              <a:t>setenv</a:t>
            </a:r>
            <a:r>
              <a:rPr lang="en-US" altLang="ko-KR" sz="1400" dirty="0"/>
              <a:t> -f </a:t>
            </a:r>
            <a:r>
              <a:rPr lang="en-US" altLang="ko-KR" sz="1400" dirty="0" err="1"/>
              <a:t>ethaddr</a:t>
            </a:r>
            <a:r>
              <a:rPr lang="en-US" altLang="ko-KR" sz="1400" dirty="0"/>
              <a:t> B8:27:EB:9D:E5:C9</a:t>
            </a:r>
          </a:p>
          <a:p>
            <a:r>
              <a:rPr lang="en-US" altLang="ko-KR" sz="1400" dirty="0" err="1"/>
              <a:t>saveenv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6. </a:t>
            </a:r>
            <a:r>
              <a:rPr lang="ko-KR" altLang="en-US" sz="1400"/>
              <a:t>예를 들어 보드가 </a:t>
            </a:r>
            <a:r>
              <a:rPr lang="en-US" altLang="ko-KR" sz="1400" dirty="0"/>
              <a:t>4</a:t>
            </a:r>
            <a:r>
              <a:rPr lang="ko-KR" altLang="en-US" sz="1400"/>
              <a:t>대인 경우 아래와 같이 </a:t>
            </a:r>
            <a:r>
              <a:rPr lang="en-US" altLang="ko-KR" sz="1400" dirty="0"/>
              <a:t>MAC </a:t>
            </a:r>
            <a:r>
              <a:rPr lang="ko-KR" altLang="en-US" sz="1400"/>
              <a:t>주소를 설정하면 됨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1: B8:27:EB:9D:E5:C8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2: B8:27:EB:9D:E5:C9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3: B8:27:EB:9D:E5:CA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4: B8:27:EB:9D:E5:CB</a:t>
            </a:r>
          </a:p>
          <a:p>
            <a:endParaRPr lang="en-US" altLang="ko-KR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IP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~/work/</a:t>
            </a:r>
            <a:r>
              <a:rPr lang="en-US" altLang="ko-KR" sz="1400" dirty="0" err="1"/>
              <a:t>myrootfs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etc</a:t>
            </a:r>
            <a:r>
              <a:rPr lang="en-US" altLang="ko-KR" sz="1400" dirty="0"/>
              <a:t>/network/interfaces</a:t>
            </a:r>
            <a:r>
              <a:rPr lang="ko-KR" altLang="en-US" sz="1400"/>
              <a:t>에서 </a:t>
            </a:r>
            <a:r>
              <a:rPr lang="en-US" altLang="ko-KR" sz="1400" dirty="0"/>
              <a:t>192.168.10.3</a:t>
            </a:r>
            <a:r>
              <a:rPr lang="ko-KR" altLang="en-US" sz="1400"/>
              <a:t>을 희망하는 </a:t>
            </a:r>
            <a:r>
              <a:rPr lang="en-US" altLang="ko-KR" sz="1400" dirty="0"/>
              <a:t>IP </a:t>
            </a:r>
            <a:r>
              <a:rPr lang="ko-KR" altLang="en-US" sz="1400"/>
              <a:t>주소로 변경 후 </a:t>
            </a:r>
            <a:r>
              <a:rPr lang="en-US" altLang="ko-KR" sz="1400" dirty="0"/>
              <a:t>ext2img.gz</a:t>
            </a:r>
            <a:r>
              <a:rPr lang="ko-KR" altLang="en-US" sz="1400"/>
              <a:t>을 새로 생성하고 </a:t>
            </a:r>
            <a:r>
              <a:rPr lang="en-US" altLang="ko-KR" sz="1400" dirty="0"/>
              <a:t>SD </a:t>
            </a:r>
            <a:r>
              <a:rPr lang="ko-KR" altLang="en-US" sz="1400"/>
              <a:t>카드에 구움</a:t>
            </a:r>
          </a:p>
          <a:p>
            <a:r>
              <a:rPr lang="en-US" altLang="ko-KR" sz="1400" dirty="0"/>
              <a:t>2. </a:t>
            </a:r>
            <a:r>
              <a:rPr lang="ko-KR" altLang="en-US" sz="1400"/>
              <a:t>보드 부팅 후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</a:t>
            </a:r>
            <a:r>
              <a:rPr lang="ko-KR" altLang="en-US" sz="1400"/>
              <a:t>명령으로 변경된 </a:t>
            </a:r>
            <a:r>
              <a:rPr lang="en-US" altLang="ko-KR" sz="1400" dirty="0"/>
              <a:t>IP </a:t>
            </a:r>
            <a:r>
              <a:rPr lang="ko-KR" altLang="en-US" sz="1400"/>
              <a:t>주소 확인</a:t>
            </a:r>
          </a:p>
          <a:p>
            <a:endParaRPr lang="ko-KR" altLang="en-US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telnet </a:t>
            </a:r>
            <a:r>
              <a:rPr lang="ko-KR" altLang="en-US" sz="1400"/>
              <a:t>접속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</a:t>
            </a:r>
            <a:r>
              <a:rPr lang="ko-KR" altLang="en-US" sz="1400"/>
              <a:t>보드 부팅 후 </a:t>
            </a:r>
            <a:r>
              <a:rPr lang="en-US" altLang="ko-KR" sz="1400" dirty="0"/>
              <a:t>Ubuntu</a:t>
            </a:r>
            <a:r>
              <a:rPr lang="ko-KR" altLang="en-US" sz="1400"/>
              <a:t>에서 아래와 같이 명령</a:t>
            </a:r>
          </a:p>
          <a:p>
            <a:r>
              <a:rPr lang="en-US" altLang="ko-KR" sz="1400" dirty="0"/>
              <a:t>telnet </a:t>
            </a:r>
            <a:r>
              <a:rPr lang="en-US" altLang="ko-KR" sz="1400" dirty="0" smtClean="0"/>
              <a:t>192.168.10.3</a:t>
            </a:r>
          </a:p>
          <a:p>
            <a:r>
              <a:rPr lang="ko-KR" altLang="en-US" sz="1400" dirty="0"/>
              <a:t>root@WT2837:~# telnetd -F -l /bin/sh -p </a:t>
            </a:r>
            <a:r>
              <a:rPr lang="ko-KR" altLang="en-US" sz="1400" dirty="0" smtClean="0"/>
              <a:t>23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48557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b="1" dirty="0" smtClean="0">
                <a:solidFill>
                  <a:schemeClr val="tx1"/>
                </a:solidFill>
              </a:rPr>
              <a:t>1. </a:t>
            </a:r>
            <a:r>
              <a:rPr lang="ko-KR" altLang="en-US" sz="2400" b="1" smtClean="0">
                <a:solidFill>
                  <a:schemeClr val="tx1"/>
                </a:solidFill>
              </a:rPr>
              <a:t>주제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: </a:t>
            </a:r>
            <a:r>
              <a:rPr lang="ko-KR" altLang="en-US" sz="2400" b="1" smtClean="0">
                <a:solidFill>
                  <a:schemeClr val="tx1"/>
                </a:solidFill>
              </a:rPr>
              <a:t>캐치 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마인드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필요 인원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명 </a:t>
            </a:r>
            <a:r>
              <a:rPr lang="en-US" altLang="ko-KR" sz="2400" b="1" dirty="0">
                <a:solidFill>
                  <a:schemeClr val="tx1"/>
                </a:solidFill>
              </a:rPr>
              <a:t>(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1</a:t>
            </a:r>
            <a:r>
              <a:rPr lang="ko-KR" altLang="en-US" sz="2400" b="1" smtClean="0">
                <a:solidFill>
                  <a:schemeClr val="tx1"/>
                </a:solidFill>
              </a:rPr>
              <a:t>명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2</a:t>
            </a:r>
            <a:r>
              <a:rPr lang="ko-KR" altLang="en-US" sz="2400" b="1" smtClean="0">
                <a:solidFill>
                  <a:schemeClr val="tx1"/>
                </a:solidFill>
              </a:rPr>
              <a:t>명 참가자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en-US" altLang="ko-KR" sz="2400" b="1" dirty="0" smtClean="0">
                <a:solidFill>
                  <a:schemeClr val="tx1"/>
                </a:solidFill>
              </a:rPr>
              <a:t>2. </a:t>
            </a:r>
            <a:r>
              <a:rPr lang="ko-KR" altLang="en-US" sz="2400" b="1" smtClean="0">
                <a:solidFill>
                  <a:schemeClr val="tx1"/>
                </a:solidFill>
              </a:rPr>
              <a:t>게임 방식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ko-KR" sz="2000" dirty="0" smtClean="0">
                <a:solidFill>
                  <a:schemeClr val="tx1"/>
                </a:solidFill>
              </a:rPr>
              <a:t>3</a:t>
            </a:r>
            <a:r>
              <a:rPr lang="ko-KR" altLang="en-US" sz="2000" smtClean="0">
                <a:solidFill>
                  <a:schemeClr val="tx1"/>
                </a:solidFill>
              </a:rPr>
              <a:t>인 연결 </a:t>
            </a:r>
            <a:r>
              <a:rPr lang="en-US" altLang="ko-KR" sz="2000" dirty="0" smtClean="0">
                <a:solidFill>
                  <a:schemeClr val="tx1"/>
                </a:solidFill>
              </a:rPr>
              <a:t>– UDP </a:t>
            </a:r>
            <a:r>
              <a:rPr lang="ko-KR" altLang="en-US" sz="2000" smtClean="0">
                <a:solidFill>
                  <a:schemeClr val="tx1"/>
                </a:solidFill>
              </a:rPr>
              <a:t>통신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참가자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선착순</a:t>
            </a:r>
            <a:r>
              <a:rPr lang="en-US" altLang="ko-KR" sz="2000" dirty="0" smtClean="0">
                <a:solidFill>
                  <a:schemeClr val="tx1"/>
                </a:solidFill>
              </a:rPr>
              <a:t>? </a:t>
            </a:r>
            <a:r>
              <a:rPr lang="ko-KR" altLang="en-US" sz="2000" smtClean="0">
                <a:solidFill>
                  <a:schemeClr val="tx1"/>
                </a:solidFill>
              </a:rPr>
              <a:t>랜덤</a:t>
            </a:r>
            <a:r>
              <a:rPr lang="en-US" altLang="ko-KR" sz="2000" dirty="0" smtClean="0">
                <a:solidFill>
                  <a:schemeClr val="tx1"/>
                </a:solidFill>
              </a:rPr>
              <a:t>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</a:t>
            </a:r>
            <a:r>
              <a:rPr lang="ko-KR" altLang="en-US" sz="2000" dirty="0">
                <a:solidFill>
                  <a:schemeClr val="tx1"/>
                </a:solidFill>
              </a:rPr>
              <a:t>카테고리</a:t>
            </a:r>
            <a:r>
              <a:rPr lang="en-US" altLang="ko-KR" sz="2000" dirty="0">
                <a:solidFill>
                  <a:schemeClr val="tx1"/>
                </a:solidFill>
              </a:rPr>
              <a:t>&gt;</a:t>
            </a:r>
            <a:r>
              <a:rPr lang="ko-KR" altLang="en-US" sz="2000">
                <a:solidFill>
                  <a:schemeClr val="tx1"/>
                </a:solidFill>
              </a:rPr>
              <a:t>주제어 </a:t>
            </a:r>
            <a:r>
              <a:rPr lang="ko-KR" altLang="en-US" sz="2000" smtClean="0">
                <a:solidFill>
                  <a:schemeClr val="tx1"/>
                </a:solidFill>
              </a:rPr>
              <a:t>순서로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각 계층 별 </a:t>
            </a:r>
            <a:r>
              <a:rPr lang="en-US" altLang="ko-KR" sz="2000" dirty="0" smtClean="0">
                <a:solidFill>
                  <a:schemeClr val="tx1"/>
                </a:solidFill>
              </a:rPr>
              <a:t>4</a:t>
            </a:r>
            <a:r>
              <a:rPr lang="ko-KR" altLang="en-US" sz="2000" smtClean="0">
                <a:solidFill>
                  <a:schemeClr val="tx1"/>
                </a:solidFill>
              </a:rPr>
              <a:t>개씩 랜덤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그림 그리기 시작 </a:t>
            </a:r>
            <a:r>
              <a:rPr lang="en-US" altLang="ko-KR" sz="2000" dirty="0" smtClean="0">
                <a:solidFill>
                  <a:schemeClr val="tx1"/>
                </a:solidFill>
              </a:rPr>
              <a:t>– BGM?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그리는 도중 참가자는 정답을 자신의 화면에 작성하여 제출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화면에 글씨를 쓰고 버튼을 눌러 제출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제출 시 소리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schemeClr val="tx1"/>
                </a:solidFill>
              </a:rPr>
              <a:t>제출 버튼 클릭 시 </a:t>
            </a:r>
            <a:r>
              <a:rPr lang="ko-KR" altLang="en-US" sz="2000" dirty="0" smtClean="0">
                <a:solidFill>
                  <a:schemeClr val="tx1"/>
                </a:solidFill>
              </a:rPr>
              <a:t>출제자 화면에 참가자 작성 답이 뜨도록 구성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참가자가 작성 중에는 다른 참가자는 작성되는 내용을 볼 수 없음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출제자는 확인 후 정답 판단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판단은 </a:t>
            </a:r>
            <a:r>
              <a:rPr lang="ko-KR" altLang="en-US" sz="2000" dirty="0" err="1" smtClean="0">
                <a:solidFill>
                  <a:schemeClr val="tx1"/>
                </a:solidFill>
              </a:rPr>
              <a:t>버튼식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정답</a:t>
            </a:r>
            <a:r>
              <a:rPr lang="en-US" altLang="ko-KR" sz="2000" dirty="0" smtClean="0">
                <a:solidFill>
                  <a:schemeClr val="tx1"/>
                </a:solidFill>
              </a:rPr>
              <a:t>/</a:t>
            </a:r>
            <a:r>
              <a:rPr lang="ko-KR" altLang="en-US" sz="2000" smtClean="0">
                <a:solidFill>
                  <a:schemeClr val="tx1"/>
                </a:solidFill>
              </a:rPr>
              <a:t>오답 각각 소리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시 다음 라운드 시작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맞춘 사람이 출제자가 되고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다시 주제어 선택 화면으로 전환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이후 반복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ko-KR" altLang="en-US" sz="2400" b="1" dirty="0" err="1" smtClean="0">
                <a:solidFill>
                  <a:schemeClr val="tx1"/>
                </a:solidFill>
              </a:rPr>
              <a:t>걱정점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인 통신 방식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허브 필요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이더넷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화면에서 출제자 화면 실시간 출력이 가능할까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QT </a:t>
            </a:r>
            <a:r>
              <a:rPr lang="ko-KR" altLang="en-US" sz="2400" b="1" smtClean="0">
                <a:solidFill>
                  <a:schemeClr val="tx1"/>
                </a:solidFill>
              </a:rPr>
              <a:t>그림판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좌표식으로 정보를 전파하는 식으로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점의 색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크기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시간마다 </a:t>
            </a:r>
            <a:r>
              <a:rPr lang="ko-KR" altLang="en-US" sz="2400" b="1" dirty="0" err="1" smtClean="0">
                <a:solidFill>
                  <a:schemeClr val="tx1"/>
                </a:solidFill>
              </a:rPr>
              <a:t>캡처를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전송하는 방식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3fps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제한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시간 표시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남은 시간이 적을 때 붉은 색으로 전환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찬스 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빨리 맞출때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맞춘 참가자 점수 추가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11547566" y="2974770"/>
            <a:ext cx="4611188" cy="3517470"/>
            <a:chOff x="11547566" y="2974770"/>
            <a:chExt cx="4611188" cy="3517470"/>
          </a:xfrm>
        </p:grpSpPr>
        <p:grpSp>
          <p:nvGrpSpPr>
            <p:cNvPr id="16" name="그룹 15"/>
            <p:cNvGrpSpPr/>
            <p:nvPr/>
          </p:nvGrpSpPr>
          <p:grpSpPr>
            <a:xfrm>
              <a:off x="11547566" y="3566160"/>
              <a:ext cx="4611188" cy="2926080"/>
              <a:chOff x="11913326" y="5799909"/>
              <a:chExt cx="4611188" cy="2926080"/>
            </a:xfrm>
          </p:grpSpPr>
          <p:sp>
            <p:nvSpPr>
              <p:cNvPr id="6" name="직사각형 5"/>
              <p:cNvSpPr/>
              <p:nvPr/>
            </p:nvSpPr>
            <p:spPr>
              <a:xfrm>
                <a:off x="11913326" y="5799909"/>
                <a:ext cx="4611188" cy="2913017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8" name="직선 연결선 7"/>
              <p:cNvCxnSpPr/>
              <p:nvPr/>
            </p:nvCxnSpPr>
            <p:spPr>
              <a:xfrm>
                <a:off x="14218920" y="7256418"/>
                <a:ext cx="0" cy="1469571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/>
              <p:cNvCxnSpPr>
                <a:stCxn id="6" idx="3"/>
                <a:endCxn id="6" idx="1"/>
              </p:cNvCxnSpPr>
              <p:nvPr/>
            </p:nvCxnSpPr>
            <p:spPr>
              <a:xfrm flipH="1">
                <a:off x="11913326" y="7256418"/>
                <a:ext cx="461118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/>
            <p:cNvSpPr txBox="1"/>
            <p:nvPr/>
          </p:nvSpPr>
          <p:spPr>
            <a:xfrm>
              <a:off x="11691258" y="2974770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691258" y="3703023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출제자</a:t>
              </a:r>
              <a:r>
                <a:rPr lang="en-US" altLang="ko-KR" b="1" dirty="0"/>
                <a:t>(</a:t>
              </a:r>
              <a:r>
                <a:rPr lang="ko-KR" altLang="en-US" b="1" smtClean="0"/>
                <a:t>점수</a:t>
              </a:r>
              <a:r>
                <a:rPr lang="en-US" altLang="ko-KR" b="1" dirty="0" smtClean="0"/>
                <a:t>)</a:t>
              </a:r>
              <a:endParaRPr lang="ko-KR" altLang="en-US" b="1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575644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참가자 </a:t>
              </a:r>
              <a:r>
                <a:rPr lang="en-US" altLang="ko-KR" b="1" dirty="0" smtClean="0"/>
                <a:t>1</a:t>
              </a:r>
              <a:r>
                <a:rPr lang="en-US" altLang="ko-KR" b="1" dirty="0"/>
                <a:t> 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958875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smtClean="0"/>
                <a:t>참가자 </a:t>
              </a:r>
              <a:r>
                <a:rPr lang="en-US" altLang="ko-KR" b="1" dirty="0" smtClean="0"/>
                <a:t>2 </a:t>
              </a:r>
              <a:r>
                <a:rPr lang="en-US" altLang="ko-KR" b="1" dirty="0"/>
                <a:t>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589041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3200" b="1" dirty="0" smtClean="0">
                <a:solidFill>
                  <a:schemeClr val="tx1"/>
                </a:solidFill>
              </a:rPr>
              <a:t>허브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 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3200" b="1" smtClean="0">
                <a:solidFill>
                  <a:schemeClr val="tx1"/>
                </a:solidFill>
              </a:rPr>
              <a:t> 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: LGE123456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Pw : lge123456!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IP : 192.168.0.188</a:t>
            </a:r>
          </a:p>
          <a:p>
            <a:endParaRPr lang="en-US" altLang="ko-KR" sz="3200" b="1" dirty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39146"/>
              </p:ext>
            </p:extLst>
          </p:nvPr>
        </p:nvGraphicFramePr>
        <p:xfrm>
          <a:off x="6060373" y="2577967"/>
          <a:ext cx="8778081" cy="252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27"/>
                <a:gridCol w="2926027"/>
                <a:gridCol w="2926027"/>
              </a:tblGrid>
              <a:tr h="505922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IP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MAC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경환</a:t>
                      </a:r>
                      <a:r>
                        <a:rPr lang="en-US" altLang="ko-KR" sz="2400" b="1" dirty="0" smtClean="0"/>
                        <a:t> PC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1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192.168.10.3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B8:27:EB:9D:E5:C8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smtClean="0"/>
                        <a:t>보드 </a:t>
                      </a:r>
                      <a:r>
                        <a:rPr lang="en-US" altLang="ko-KR" sz="2400" b="1" dirty="0" smtClean="0"/>
                        <a:t>2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192.168.10.4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B8:27:EB:9D:E5:C9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3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192.168.10.5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B8:27:EB:9D:E5:CA</a:t>
                      </a:r>
                      <a:endParaRPr lang="ko-KR" altLang="en-US" sz="2400" b="1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7622443" y="5416103"/>
            <a:ext cx="42691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root@WT2837:~# telnetd -F -l /bin/sh -p 23</a:t>
            </a:r>
          </a:p>
        </p:txBody>
      </p:sp>
    </p:spTree>
    <p:extLst>
      <p:ext uri="{BB962C8B-B14F-4D97-AF65-F5344CB8AC3E}">
        <p14:creationId xmlns:p14="http://schemas.microsoft.com/office/powerpoint/2010/main" val="1752568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(260416)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561514"/>
            <a:ext cx="16410803" cy="820950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2400" b="1" dirty="0" smtClean="0">
                <a:solidFill>
                  <a:schemeClr val="tx1"/>
                </a:solidFill>
              </a:rPr>
              <a:t>초안 만들기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소리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이미지 굳이 필요 없음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 </a:t>
            </a:r>
            <a:r>
              <a:rPr lang="ko-KR" altLang="en-US" sz="2400" b="1" smtClean="0">
                <a:solidFill>
                  <a:schemeClr val="tx1"/>
                </a:solidFill>
              </a:rPr>
              <a:t>오로지 기능 위주 구현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UDP </a:t>
            </a:r>
            <a:r>
              <a:rPr lang="ko-KR" altLang="en-US" sz="2400" b="1" smtClean="0">
                <a:solidFill>
                  <a:schemeClr val="tx1"/>
                </a:solidFill>
              </a:rPr>
              <a:t>통신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그림 그렸을 때 동기화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발표 자료 초안 만들기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>
                <a:solidFill>
                  <a:schemeClr val="tx1"/>
                </a:solidFill>
              </a:rPr>
              <a:t>Linux 6.12.81 </a:t>
            </a:r>
            <a:r>
              <a:rPr lang="ko-KR" altLang="en-US" sz="2400" b="1">
                <a:solidFill>
                  <a:schemeClr val="tx1"/>
                </a:solidFill>
              </a:rPr>
              <a:t>이미지 </a:t>
            </a:r>
            <a:r>
              <a:rPr lang="ko-KR" altLang="en-US" sz="2400" b="1" smtClean="0">
                <a:solidFill>
                  <a:schemeClr val="tx1"/>
                </a:solidFill>
              </a:rPr>
              <a:t>배포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참가자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>
                <a:solidFill>
                  <a:schemeClr val="tx1"/>
                </a:solidFill>
              </a:rPr>
              <a:t>출제자 </a:t>
            </a:r>
            <a:r>
              <a:rPr lang="ko-KR" altLang="en-US" sz="2400" b="1" smtClean="0">
                <a:solidFill>
                  <a:schemeClr val="tx1"/>
                </a:solidFill>
              </a:rPr>
              <a:t>전환 기능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가끔 선택화면에서 선택 </a:t>
            </a:r>
            <a:r>
              <a:rPr lang="ko-KR" altLang="en-US" sz="2400" b="1" dirty="0" err="1">
                <a:solidFill>
                  <a:schemeClr val="tx1"/>
                </a:solidFill>
              </a:rPr>
              <a:t>안했는데</a:t>
            </a:r>
            <a:r>
              <a:rPr lang="ko-KR" altLang="en-US" sz="2400" b="1" dirty="0">
                <a:solidFill>
                  <a:schemeClr val="tx1"/>
                </a:solidFill>
              </a:rPr>
              <a:t> 넘어감 </a:t>
            </a:r>
            <a:r>
              <a:rPr lang="en-US" altLang="ko-KR" sz="2400" b="1" dirty="0">
                <a:solidFill>
                  <a:schemeClr val="tx1"/>
                </a:solidFill>
              </a:rPr>
              <a:t>– </a:t>
            </a:r>
            <a:r>
              <a:rPr lang="ko-KR" altLang="en-US" sz="2400" b="1">
                <a:solidFill>
                  <a:schemeClr val="tx1"/>
                </a:solidFill>
              </a:rPr>
              <a:t>터치 버퍼가 남아있음</a:t>
            </a:r>
            <a:r>
              <a:rPr lang="en-US" altLang="ko-KR" sz="2400" b="1" dirty="0">
                <a:solidFill>
                  <a:schemeClr val="tx1"/>
                </a:solidFill>
              </a:rPr>
              <a:t>. </a:t>
            </a:r>
            <a:r>
              <a:rPr lang="ko-KR" altLang="en-US" sz="2400" b="1">
                <a:solidFill>
                  <a:schemeClr val="tx1"/>
                </a:solidFill>
              </a:rPr>
              <a:t>확인창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생성하자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참가자가 자기의 화면을 알 수 있도록 표시</a:t>
            </a:r>
            <a:r>
              <a:rPr lang="en-US" altLang="ko-KR" sz="2400" b="1" dirty="0">
                <a:solidFill>
                  <a:schemeClr val="tx1"/>
                </a:solidFill>
              </a:rPr>
              <a:t>?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지우개 기능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telnet </a:t>
            </a:r>
            <a:r>
              <a:rPr lang="ko-KR" altLang="en-US" sz="2400" b="1" smtClean="0">
                <a:solidFill>
                  <a:schemeClr val="tx1"/>
                </a:solidFill>
              </a:rPr>
              <a:t>끊기는 경우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.. -&gt; </a:t>
            </a:r>
            <a:r>
              <a:rPr lang="ko-KR" altLang="en-US" sz="2400" b="1" smtClean="0">
                <a:solidFill>
                  <a:schemeClr val="tx1"/>
                </a:solidFill>
              </a:rPr>
              <a:t>잘 안생기는 경우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-&gt; </a:t>
            </a:r>
            <a:r>
              <a:rPr lang="ko-KR" altLang="en-US" sz="2400" b="1" smtClean="0">
                <a:solidFill>
                  <a:schemeClr val="tx1"/>
                </a:solidFill>
              </a:rPr>
              <a:t>재발생 시 강사님께 말씀드리자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 못 맞추면 힌트로 카테고리 출력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0631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원복하자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(260417)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>
                <a:solidFill>
                  <a:schemeClr val="tx1"/>
                </a:solidFill>
              </a:rPr>
              <a:t>telnet </a:t>
            </a:r>
            <a:r>
              <a:rPr lang="ko-KR" altLang="en-US" b="1">
                <a:solidFill>
                  <a:schemeClr val="tx1"/>
                </a:solidFill>
              </a:rPr>
              <a:t>끊기는 경우</a:t>
            </a:r>
            <a:r>
              <a:rPr lang="en-US" altLang="ko-KR" b="1" dirty="0">
                <a:solidFill>
                  <a:schemeClr val="tx1"/>
                </a:solidFill>
              </a:rPr>
              <a:t>.. </a:t>
            </a:r>
            <a:r>
              <a:rPr lang="en-US" altLang="ko-KR" b="1" dirty="0" smtClean="0">
                <a:solidFill>
                  <a:schemeClr val="tx1"/>
                </a:solidFill>
              </a:rPr>
              <a:t>-&gt; </a:t>
            </a:r>
            <a:r>
              <a:rPr lang="ko-KR" altLang="en-US" b="1" smtClean="0">
                <a:solidFill>
                  <a:schemeClr val="tx1"/>
                </a:solidFill>
              </a:rPr>
              <a:t>보드 </a:t>
            </a:r>
            <a:r>
              <a:rPr lang="en-US" altLang="ko-KR" b="1" dirty="0" smtClean="0">
                <a:solidFill>
                  <a:schemeClr val="tx1"/>
                </a:solidFill>
              </a:rPr>
              <a:t>2,3 </a:t>
            </a:r>
            <a:r>
              <a:rPr lang="en-US" altLang="ko-KR" b="1" dirty="0" err="1" smtClean="0">
                <a:solidFill>
                  <a:schemeClr val="tx1"/>
                </a:solidFill>
              </a:rPr>
              <a:t>Brrootfs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이미지 구워서 업로드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참가자가 </a:t>
            </a:r>
            <a:r>
              <a:rPr lang="ko-KR" altLang="en-US" b="1" dirty="0">
                <a:solidFill>
                  <a:schemeClr val="tx1"/>
                </a:solidFill>
              </a:rPr>
              <a:t>자기의 화면을 알 수 있도록 </a:t>
            </a:r>
            <a:r>
              <a:rPr lang="ko-KR" altLang="en-US" b="1" dirty="0" smtClean="0">
                <a:solidFill>
                  <a:schemeClr val="tx1"/>
                </a:solidFill>
              </a:rPr>
              <a:t>표시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화면 터치 펜 찾아보기</a:t>
            </a:r>
            <a:r>
              <a:rPr lang="en-US" altLang="ko-KR" b="1" dirty="0">
                <a:solidFill>
                  <a:schemeClr val="tx1"/>
                </a:solidFill>
              </a:rPr>
              <a:t> – </a:t>
            </a:r>
            <a:r>
              <a:rPr lang="ko-KR" altLang="en-US" b="1">
                <a:solidFill>
                  <a:schemeClr val="tx1"/>
                </a:solidFill>
              </a:rPr>
              <a:t>다이소 디스크 펜 </a:t>
            </a:r>
            <a:r>
              <a:rPr lang="en-US" altLang="ko-KR" b="1" dirty="0">
                <a:solidFill>
                  <a:schemeClr val="tx1"/>
                </a:solidFill>
              </a:rPr>
              <a:t>1000</a:t>
            </a:r>
            <a:r>
              <a:rPr lang="ko-KR" altLang="en-US" b="1">
                <a:solidFill>
                  <a:schemeClr val="tx1"/>
                </a:solidFill>
              </a:rPr>
              <a:t>원짜리 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Clear</a:t>
            </a:r>
            <a:r>
              <a:rPr lang="ko-KR" altLang="en-US" b="1" smtClean="0">
                <a:solidFill>
                  <a:schemeClr val="tx1"/>
                </a:solidFill>
              </a:rPr>
              <a:t> 기능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err="1">
                <a:solidFill>
                  <a:schemeClr val="tx1"/>
                </a:solidFill>
              </a:rPr>
              <a:t>Github</a:t>
            </a:r>
            <a:r>
              <a:rPr lang="ko-KR" altLang="en-US" b="1">
                <a:solidFill>
                  <a:schemeClr val="tx1"/>
                </a:solidFill>
              </a:rPr>
              <a:t> 업로드 방법</a:t>
            </a:r>
            <a:r>
              <a:rPr lang="en-US" altLang="ko-KR" b="1" dirty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찾기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BGM </a:t>
            </a:r>
            <a:r>
              <a:rPr lang="ko-KR" altLang="en-US" b="1" smtClean="0">
                <a:solidFill>
                  <a:schemeClr val="tx1"/>
                </a:solidFill>
              </a:rPr>
              <a:t>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출제자 화면에 제시어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제한 시간 설정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현재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분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699399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 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(260420)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4/20 </a:t>
            </a:r>
            <a:r>
              <a:rPr lang="ko-KR" altLang="en-US" b="1" smtClean="0">
                <a:solidFill>
                  <a:schemeClr val="tx1"/>
                </a:solidFill>
              </a:rPr>
              <a:t>월 오후 한시반 팀별 영상 제작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팀 이름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팀원 소개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프로젝트 주제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목표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팀워크 모습</a:t>
            </a:r>
            <a:r>
              <a:rPr lang="en-US" altLang="ko-KR" b="1" dirty="0" smtClean="0">
                <a:solidFill>
                  <a:schemeClr val="tx1"/>
                </a:solidFill>
              </a:rPr>
              <a:t>?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재밌는</a:t>
            </a:r>
            <a:r>
              <a:rPr lang="ko-KR" altLang="en-US" b="1" dirty="0" smtClean="0">
                <a:solidFill>
                  <a:schemeClr val="tx1"/>
                </a:solidFill>
              </a:rPr>
              <a:t> 요소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4/21 </a:t>
            </a:r>
            <a:r>
              <a:rPr lang="ko-KR" altLang="en-US" b="1" smtClean="0">
                <a:solidFill>
                  <a:schemeClr val="tx1"/>
                </a:solidFill>
              </a:rPr>
              <a:t>화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753764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</a:t>
            </a:r>
            <a:r>
              <a:rPr lang="ko-KR" altLang="en-US" b="1" dirty="0" smtClean="0">
                <a:solidFill>
                  <a:schemeClr val="tx1"/>
                </a:solidFill>
              </a:rPr>
              <a:t>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 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260421)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4/21 </a:t>
            </a:r>
            <a:r>
              <a:rPr lang="ko-KR" altLang="en-US" b="1" smtClean="0">
                <a:solidFill>
                  <a:schemeClr val="tx1"/>
                </a:solidFill>
              </a:rPr>
              <a:t>화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</a:t>
            </a:r>
            <a:r>
              <a:rPr lang="ko-KR" altLang="en-US" b="1" smtClean="0">
                <a:solidFill>
                  <a:schemeClr val="tx1"/>
                </a:solidFill>
              </a:rPr>
              <a:t>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포스터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시연 영상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결과보고서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결과 파일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1860792" y="6381932"/>
            <a:ext cx="4686663" cy="3357592"/>
            <a:chOff x="1791517" y="3831739"/>
            <a:chExt cx="4686663" cy="3357592"/>
          </a:xfrm>
        </p:grpSpPr>
        <p:sp>
          <p:nvSpPr>
            <p:cNvPr id="7" name="TextBox 6"/>
            <p:cNvSpPr txBox="1"/>
            <p:nvPr/>
          </p:nvSpPr>
          <p:spPr>
            <a:xfrm>
              <a:off x="1932617" y="3831739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grpSp>
          <p:nvGrpSpPr>
            <p:cNvPr id="3" name="그룹 2"/>
            <p:cNvGrpSpPr/>
            <p:nvPr/>
          </p:nvGrpSpPr>
          <p:grpSpPr>
            <a:xfrm>
              <a:off x="1791517" y="4256661"/>
              <a:ext cx="4686663" cy="2932670"/>
              <a:chOff x="2701219" y="4256661"/>
              <a:chExt cx="3776960" cy="2932670"/>
            </a:xfrm>
          </p:grpSpPr>
          <p:sp>
            <p:nvSpPr>
              <p:cNvPr id="11" name="직사각형 10"/>
              <p:cNvSpPr/>
              <p:nvPr/>
            </p:nvSpPr>
            <p:spPr>
              <a:xfrm>
                <a:off x="2718566" y="4256661"/>
                <a:ext cx="3759613" cy="292608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12" name="직선 연결선 11"/>
              <p:cNvCxnSpPr/>
              <p:nvPr/>
            </p:nvCxnSpPr>
            <p:spPr>
              <a:xfrm>
                <a:off x="4432618" y="5998726"/>
                <a:ext cx="0" cy="1190605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/>
              <p:cNvCxnSpPr>
                <a:stCxn id="11" idx="3"/>
                <a:endCxn id="11" idx="1"/>
              </p:cNvCxnSpPr>
              <p:nvPr/>
            </p:nvCxnSpPr>
            <p:spPr>
              <a:xfrm flipH="1">
                <a:off x="2718566" y="5719701"/>
                <a:ext cx="3759613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588167" y="4342784"/>
                <a:ext cx="119455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출제자</a:t>
                </a:r>
                <a:r>
                  <a:rPr lang="en-US" altLang="ko-KR" sz="1400" b="1" dirty="0"/>
                  <a:t>(</a:t>
                </a:r>
                <a:r>
                  <a:rPr lang="ko-KR" altLang="en-US" sz="1400" b="1" smtClean="0"/>
                  <a:t>점수</a:t>
                </a:r>
                <a:r>
                  <a:rPr lang="en-US" altLang="ko-KR" sz="1400" b="1" dirty="0" smtClean="0"/>
                  <a:t>)</a:t>
                </a:r>
                <a:endParaRPr lang="ko-KR" altLang="en-US" sz="1400" b="1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2982539" y="599872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1</a:t>
                </a:r>
                <a:r>
                  <a:rPr lang="en-US" altLang="ko-KR" sz="1400" b="1" dirty="0"/>
                  <a:t> 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782725" y="598038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2 </a:t>
                </a:r>
                <a:r>
                  <a:rPr lang="en-US" altLang="ko-KR" sz="1400" b="1" dirty="0"/>
                  <a:t>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2719009" y="4256662"/>
                <a:ext cx="774889" cy="1469571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2701219" y="5714460"/>
                <a:ext cx="85568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 b="1" dirty="0" smtClean="0"/>
                  <a:t>남은 시간</a:t>
                </a:r>
                <a:endParaRPr lang="ko-KR" altLang="en-US" sz="1400" b="1" dirty="0"/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2809861" y="4430924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라운드</a:t>
                </a:r>
                <a:endParaRPr lang="ko-KR" altLang="en-US" sz="1400" b="1" dirty="0"/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2809861" y="5022931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캐릭터</a:t>
                </a:r>
                <a:endParaRPr lang="ko-KR" altLang="en-US" sz="1400" b="1" dirty="0"/>
              </a:p>
            </p:txBody>
          </p:sp>
        </p:grpSp>
        <p:cxnSp>
          <p:nvCxnSpPr>
            <p:cNvPr id="22" name="직선 연결선 21"/>
            <p:cNvCxnSpPr/>
            <p:nvPr/>
          </p:nvCxnSpPr>
          <p:spPr>
            <a:xfrm flipH="1">
              <a:off x="1803678" y="5980386"/>
              <a:ext cx="466513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126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2292</TotalTime>
  <Words>1307</Words>
  <Application>Microsoft Office PowerPoint</Application>
  <PresentationFormat>사용자 지정</PresentationFormat>
  <Paragraphs>308</Paragraphs>
  <Slides>19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30" baseType="lpstr">
      <vt:lpstr>Inter Bold</vt:lpstr>
      <vt:lpstr>LG스마트체 SemiBold</vt:lpstr>
      <vt:lpstr>LG스마트체2.0 Light</vt:lpstr>
      <vt:lpstr>LG스마트체2.0 Regular</vt:lpstr>
      <vt:lpstr>LG스마트체2.0 SemiBold</vt:lpstr>
      <vt:lpstr>맑은 고딕</vt:lpstr>
      <vt:lpstr>Arial</vt:lpstr>
      <vt:lpstr>Calibri</vt:lpstr>
      <vt:lpstr>Inter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mangoboard.net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 Reskilling 오리엔테이션</dc:title>
  <dc:subject>Presentation</dc:subject>
  <dc:creator>mangoboard.net_22081255</dc:creator>
  <cp:lastModifiedBy>엄제원/연구원/Location Unit(jewon.eom@lge.com)</cp:lastModifiedBy>
  <cp:revision>146</cp:revision>
  <dcterms:created xsi:type="dcterms:W3CDTF">2022-12-09T16:47:26Z</dcterms:created>
  <dcterms:modified xsi:type="dcterms:W3CDTF">2026-04-21T07:14:17Z</dcterms:modified>
</cp:coreProperties>
</file>