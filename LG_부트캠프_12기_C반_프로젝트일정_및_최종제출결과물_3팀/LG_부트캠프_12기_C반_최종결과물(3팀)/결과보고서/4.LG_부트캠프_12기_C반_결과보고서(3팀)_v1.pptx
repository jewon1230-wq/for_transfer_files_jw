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7" r:id="rId2"/>
    <p:sldId id="258" r:id="rId3"/>
    <p:sldId id="269" r:id="rId4"/>
    <p:sldId id="271" r:id="rId5"/>
    <p:sldId id="280" r:id="rId6"/>
    <p:sldId id="293" r:id="rId7"/>
    <p:sldId id="296" r:id="rId8"/>
    <p:sldId id="272" r:id="rId9"/>
    <p:sldId id="286" r:id="rId10"/>
    <p:sldId id="287" r:id="rId11"/>
    <p:sldId id="288" r:id="rId12"/>
    <p:sldId id="289" r:id="rId13"/>
    <p:sldId id="290" r:id="rId14"/>
    <p:sldId id="291" r:id="rId15"/>
    <p:sldId id="292" r:id="rId16"/>
    <p:sldId id="294" r:id="rId17"/>
    <p:sldId id="285" r:id="rId18"/>
    <p:sldId id="274" r:id="rId19"/>
    <p:sldId id="275" r:id="rId20"/>
    <p:sldId id="276" r:id="rId21"/>
    <p:sldId id="270" r:id="rId22"/>
    <p:sldId id="273" r:id="rId23"/>
    <p:sldId id="259" r:id="rId24"/>
    <p:sldId id="266" r:id="rId25"/>
    <p:sldId id="267" r:id="rId26"/>
    <p:sldId id="277" r:id="rId27"/>
    <p:sldId id="278" r:id="rId28"/>
    <p:sldId id="279" r:id="rId29"/>
    <p:sldId id="284" r:id="rId30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855" autoAdjust="0"/>
    <p:restoredTop sz="96395" autoAdjust="0"/>
  </p:normalViewPr>
  <p:slideViewPr>
    <p:cSldViewPr snapToGrid="0" snapToObjects="1">
      <p:cViewPr>
        <p:scale>
          <a:sx n="75" d="100"/>
          <a:sy n="75" d="100"/>
        </p:scale>
        <p:origin x="750" y="246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쿵야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엄제원</a:t>
            </a:r>
            <a:r>
              <a:rPr lang="ko-KR" altLang="en-US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이경환 윤지원</a:t>
            </a:r>
            <a:endParaRPr lang="ko-KR" altLang="en-US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소개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204566" y="138195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8733" y="5966265"/>
            <a:ext cx="5613433" cy="3228535"/>
          </a:xfrm>
          <a:prstGeom prst="rect">
            <a:avLst/>
          </a:prstGeom>
        </p:spPr>
      </p:pic>
      <p:sp>
        <p:nvSpPr>
          <p:cNvPr id="8" name="텍스트 개체 틀 1"/>
          <p:cNvSpPr txBox="1">
            <a:spLocks/>
          </p:cNvSpPr>
          <p:nvPr/>
        </p:nvSpPr>
        <p:spPr>
          <a:xfrm>
            <a:off x="546101" y="5280066"/>
            <a:ext cx="6745348" cy="218505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</p:txBody>
      </p:sp>
      <p:sp>
        <p:nvSpPr>
          <p:cNvPr id="9" name="텍스트 개체 틀 1"/>
          <p:cNvSpPr txBox="1">
            <a:spLocks/>
          </p:cNvSpPr>
          <p:nvPr/>
        </p:nvSpPr>
        <p:spPr>
          <a:xfrm>
            <a:off x="546101" y="7269183"/>
            <a:ext cx="6745348" cy="218505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734" y="1828800"/>
            <a:ext cx="5637012" cy="3758008"/>
          </a:xfrm>
          <a:prstGeom prst="rect">
            <a:avLst/>
          </a:prstGeom>
        </p:spPr>
      </p:pic>
      <p:sp>
        <p:nvSpPr>
          <p:cNvPr id="15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캐치 </a:t>
            </a:r>
            <a:r>
              <a:rPr lang="ko-KR" altLang="en-US" dirty="0"/>
              <a:t>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/>
              <a:t>인 실시간 멀티플레이 지원</a:t>
            </a:r>
            <a:endParaRPr lang="en-US" altLang="ko-KR" dirty="0"/>
          </a:p>
          <a:p>
            <a:pPr lvl="1"/>
            <a:r>
              <a:rPr lang="ko-KR" altLang="en-US" dirty="0"/>
              <a:t>허브 기반 </a:t>
            </a:r>
            <a:r>
              <a:rPr lang="en-US" altLang="ko-KR" dirty="0"/>
              <a:t>UDP </a:t>
            </a:r>
            <a:r>
              <a:rPr lang="ko-KR" altLang="en-US"/>
              <a:t>통신을 통해 세명의 플레이어가 실시간으로 게임을 즐기도록 지원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플레이어 간 경쟁을 위한 랭킹 시스템</a:t>
            </a:r>
            <a:endParaRPr lang="en-US" altLang="ko-KR" dirty="0"/>
          </a:p>
          <a:p>
            <a:pPr lvl="1"/>
            <a:r>
              <a:rPr lang="ko-KR" altLang="en-US" dirty="0"/>
              <a:t>문제 출제와 정답을 맞추며 점수 획득이 가능하며 </a:t>
            </a:r>
            <a:r>
              <a:rPr lang="en-US" altLang="ko-KR" dirty="0"/>
              <a:t>5</a:t>
            </a:r>
            <a:r>
              <a:rPr lang="ko-KR" altLang="en-US"/>
              <a:t>라운드 합산을 통해 랭킹 출력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터치펜을</a:t>
            </a:r>
            <a:r>
              <a:rPr lang="ko-KR" altLang="en-US" dirty="0"/>
              <a:t> 활용한 정교한 그림 그리기</a:t>
            </a:r>
            <a:endParaRPr lang="en-US" altLang="ko-KR" dirty="0"/>
          </a:p>
          <a:p>
            <a:pPr lvl="1"/>
            <a:r>
              <a:rPr lang="ko-KR" altLang="en-US" dirty="0"/>
              <a:t>색상 변경</a:t>
            </a:r>
            <a:r>
              <a:rPr lang="en-US" altLang="ko-KR" dirty="0"/>
              <a:t>, </a:t>
            </a:r>
            <a:r>
              <a:rPr lang="ko-KR" altLang="en-US"/>
              <a:t>지우개</a:t>
            </a:r>
            <a:r>
              <a:rPr lang="en-US" altLang="ko-KR" dirty="0"/>
              <a:t>, </a:t>
            </a:r>
            <a:r>
              <a:rPr lang="ko-KR" altLang="en-US"/>
              <a:t>초기화 기능을 통해 출제자가 편리하게 문제를 출제하도록 지원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90814" y="8132208"/>
            <a:ext cx="12563929" cy="1524000"/>
          </a:xfrm>
        </p:spPr>
        <p:txBody>
          <a:bodyPr/>
          <a:lstStyle/>
          <a:p>
            <a:r>
              <a:rPr lang="ko-KR" altLang="en-US" sz="2400" b="1" dirty="0"/>
              <a:t>출제자 </a:t>
            </a:r>
            <a:r>
              <a:rPr lang="en-US" altLang="ko-KR" sz="2400" b="1" dirty="0"/>
              <a:t>1</a:t>
            </a:r>
            <a:r>
              <a:rPr lang="ko-KR" altLang="en-US" sz="2400" b="1"/>
              <a:t>명과 참가자 </a:t>
            </a:r>
            <a:r>
              <a:rPr lang="en-US" altLang="ko-KR" sz="2400" b="1" dirty="0"/>
              <a:t>2</a:t>
            </a:r>
            <a:r>
              <a:rPr lang="ko-KR" altLang="en-US" sz="2400" b="1"/>
              <a:t>명이 겨루는 </a:t>
            </a:r>
            <a:r>
              <a:rPr lang="en-US" altLang="ko-KR" sz="2400" b="1" dirty="0" smtClean="0">
                <a:solidFill>
                  <a:srgbClr val="FF0000"/>
                </a:solidFill>
              </a:rPr>
              <a:t>5</a:t>
            </a:r>
            <a:r>
              <a:rPr lang="ko-KR" altLang="en-US" sz="2400" b="1">
                <a:solidFill>
                  <a:srgbClr val="FF0000"/>
                </a:solidFill>
              </a:rPr>
              <a:t>라운드 누적 점수제 </a:t>
            </a:r>
            <a:r>
              <a:rPr lang="ko-KR" altLang="en-US" sz="2400" b="1"/>
              <a:t>실시간 추측 </a:t>
            </a:r>
            <a:r>
              <a:rPr lang="ko-KR" altLang="en-US" sz="2400" b="1" smtClean="0"/>
              <a:t>게임</a:t>
            </a:r>
            <a:endParaRPr lang="en-US" altLang="ko-KR" sz="2400" b="1" dirty="0" smtClean="0"/>
          </a:p>
          <a:p>
            <a:r>
              <a:rPr lang="ko-KR" altLang="en-US" sz="2400" b="1" dirty="0" smtClean="0"/>
              <a:t>출제자가 </a:t>
            </a:r>
            <a:r>
              <a:rPr lang="ko-KR" altLang="en-US" sz="2400" b="1" dirty="0"/>
              <a:t>그림을 그리면 참가자들은 선착순으로 정답을 </a:t>
            </a:r>
            <a:r>
              <a:rPr lang="ko-KR" altLang="en-US" sz="2400" b="1" dirty="0" smtClean="0"/>
              <a:t>제출</a:t>
            </a:r>
            <a:endParaRPr lang="en-US" altLang="ko-KR" sz="24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캐치마인드 게임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규칙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2"/>
          <a:srcRect t="16712" b="16036"/>
          <a:stretch/>
        </p:blipFill>
        <p:spPr>
          <a:xfrm>
            <a:off x="1045077" y="1863047"/>
            <a:ext cx="6066923" cy="6125029"/>
          </a:xfrm>
          <a:prstGeom prst="rect">
            <a:avLst/>
          </a:prstGeom>
        </p:spPr>
      </p:pic>
      <p:grpSp>
        <p:nvGrpSpPr>
          <p:cNvPr id="26" name="그룹 25"/>
          <p:cNvGrpSpPr/>
          <p:nvPr/>
        </p:nvGrpSpPr>
        <p:grpSpPr>
          <a:xfrm>
            <a:off x="8117022" y="2320260"/>
            <a:ext cx="8799378" cy="5282388"/>
            <a:chOff x="8384223" y="4143852"/>
            <a:chExt cx="4101346" cy="4347329"/>
          </a:xfrm>
        </p:grpSpPr>
        <p:sp>
          <p:nvSpPr>
            <p:cNvPr id="14" name="Shape 3"/>
            <p:cNvSpPr/>
            <p:nvPr/>
          </p:nvSpPr>
          <p:spPr>
            <a:xfrm>
              <a:off x="8407083" y="4143852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5" name="Shape 4"/>
            <p:cNvSpPr/>
            <p:nvPr/>
          </p:nvSpPr>
          <p:spPr>
            <a:xfrm>
              <a:off x="8384223" y="4143852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6" name="Text 5"/>
            <p:cNvSpPr/>
            <p:nvPr/>
          </p:nvSpPr>
          <p:spPr>
            <a:xfrm>
              <a:off x="8679259" y="4347449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출제자 선정</a:t>
              </a:r>
            </a:p>
          </p:txBody>
        </p:sp>
        <p:sp>
          <p:nvSpPr>
            <p:cNvPr id="17" name="Text 6"/>
            <p:cNvSpPr/>
            <p:nvPr/>
          </p:nvSpPr>
          <p:spPr>
            <a:xfrm>
              <a:off x="8679259" y="4773812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첫 라운드는 선착순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이후는 라운드 결과에 따라 출제자가 변경</a:t>
              </a:r>
              <a:endParaRPr 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endParaRPr>
            </a:p>
          </p:txBody>
        </p:sp>
        <p:sp>
          <p:nvSpPr>
            <p:cNvPr id="18" name="Shape 7"/>
            <p:cNvSpPr/>
            <p:nvPr/>
          </p:nvSpPr>
          <p:spPr>
            <a:xfrm>
              <a:off x="8407083" y="5640944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9" name="Shape 8"/>
            <p:cNvSpPr/>
            <p:nvPr/>
          </p:nvSpPr>
          <p:spPr>
            <a:xfrm>
              <a:off x="8384223" y="5640944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0" name="Text 9"/>
            <p:cNvSpPr/>
            <p:nvPr/>
          </p:nvSpPr>
          <p:spPr>
            <a:xfrm>
              <a:off x="8679259" y="5844541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문제 선택</a:t>
              </a:r>
            </a:p>
          </p:txBody>
        </p:sp>
        <p:sp>
          <p:nvSpPr>
            <p:cNvPr id="21" name="Text 10"/>
            <p:cNvSpPr/>
            <p:nvPr/>
          </p:nvSpPr>
          <p:spPr>
            <a:xfrm>
              <a:off x="8679259" y="6270904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출제자가 분야 → 주제어 순서로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선택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각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단계마다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4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개 선택지가 랜덤 제시되며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주제어는 참가자에게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비공개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  <p:sp>
          <p:nvSpPr>
            <p:cNvPr id="22" name="Shape 11"/>
            <p:cNvSpPr/>
            <p:nvPr/>
          </p:nvSpPr>
          <p:spPr>
            <a:xfrm>
              <a:off x="8407083" y="7138036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23" name="Shape 12"/>
            <p:cNvSpPr/>
            <p:nvPr/>
          </p:nvSpPr>
          <p:spPr>
            <a:xfrm>
              <a:off x="8384223" y="7138036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4" name="Text 13"/>
            <p:cNvSpPr/>
            <p:nvPr/>
          </p:nvSpPr>
          <p:spPr>
            <a:xfrm>
              <a:off x="8679259" y="7341633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제한 시간</a:t>
              </a:r>
            </a:p>
          </p:txBody>
        </p:sp>
        <p:sp>
          <p:nvSpPr>
            <p:cNvPr id="25" name="Text 14"/>
            <p:cNvSpPr/>
            <p:nvPr/>
          </p:nvSpPr>
          <p:spPr>
            <a:xfrm>
              <a:off x="8679259" y="7767995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각 라운드는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60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초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제한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한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명이 정답을 맞히면 즉시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종료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점수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&amp;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규칙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4420" y="2013581"/>
            <a:ext cx="6713042" cy="6713042"/>
          </a:xfrm>
          <a:prstGeom prst="rect">
            <a:avLst/>
          </a:prstGeom>
        </p:spPr>
      </p:pic>
      <p:sp>
        <p:nvSpPr>
          <p:cNvPr id="3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힌트 시스템</a:t>
            </a:r>
            <a:endParaRPr lang="en-US" altLang="ko-KR" dirty="0" smtClean="0"/>
          </a:p>
          <a:p>
            <a:pPr lvl="1"/>
            <a:r>
              <a:rPr lang="en-US" altLang="ko-KR" dirty="0" smtClean="0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30</a:t>
            </a:r>
            <a:r>
              <a:rPr lang="ko-KR" altLang="en-US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초 경과 시 참가자들에게 </a:t>
            </a:r>
            <a:r>
              <a:rPr lang="ko-KR" altLang="en-US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카테고리</a:t>
            </a:r>
            <a:r>
              <a:rPr lang="en-US" altLang="ko-KR" dirty="0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(</a:t>
            </a:r>
            <a:r>
              <a:rPr lang="ko-KR" altLang="en-US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분야</a:t>
            </a:r>
            <a:r>
              <a:rPr lang="en-US" altLang="ko-KR" dirty="0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)</a:t>
            </a:r>
            <a:r>
              <a:rPr lang="ko-KR" altLang="en-US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가 공개</a:t>
            </a:r>
            <a:endParaRPr lang="en-US" altLang="ko-KR" dirty="0">
              <a:latin typeface="LG스마트체 SemiBold" panose="020B0600000101010101" pitchFamily="50" charset="-127"/>
              <a:ea typeface="LG스마트체 SemiBold" panose="020B0600000101010101" pitchFamily="50" charset="-127"/>
            </a:endParaRPr>
          </a:p>
          <a:p>
            <a:endParaRPr lang="en-US" altLang="ko-KR" dirty="0"/>
          </a:p>
          <a:p>
            <a:r>
              <a:rPr lang="ko-KR" altLang="en-US" dirty="0" smtClean="0"/>
              <a:t>정답 판단</a:t>
            </a:r>
            <a:endParaRPr lang="en-US" altLang="ko-KR" dirty="0" smtClean="0"/>
          </a:p>
          <a:p>
            <a:pPr lvl="1"/>
            <a:r>
              <a:rPr lang="ko-KR" altLang="en-US" dirty="0"/>
              <a:t>출제자가 직접 각 제출의 정답 여부를 판단</a:t>
            </a:r>
          </a:p>
          <a:p>
            <a:pPr lvl="1"/>
            <a:endParaRPr lang="en-US" altLang="ko-KR" dirty="0"/>
          </a:p>
          <a:p>
            <a:r>
              <a:rPr lang="ko-KR" altLang="en-US" dirty="0" smtClean="0"/>
              <a:t>정답 시</a:t>
            </a:r>
            <a:endParaRPr lang="en-US" altLang="ko-KR" dirty="0"/>
          </a:p>
          <a:p>
            <a:pPr lvl="1"/>
            <a:r>
              <a:rPr lang="ko-KR" altLang="en-US" dirty="0" smtClean="0"/>
              <a:t>정답을 맞힌 참가자가 </a:t>
            </a:r>
            <a:r>
              <a:rPr lang="ko-KR" altLang="en-US" dirty="0" smtClean="0">
                <a:solidFill>
                  <a:srgbClr val="FF0000"/>
                </a:solidFill>
              </a:rPr>
              <a:t>다음 라운드 출제자</a:t>
            </a:r>
            <a:r>
              <a:rPr lang="ko-KR" altLang="en-US" dirty="0" smtClean="0"/>
              <a:t>가 됨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smtClean="0"/>
              <a:t>시간 초과 시</a:t>
            </a:r>
            <a:endParaRPr lang="en-US" altLang="ko-KR" dirty="0"/>
          </a:p>
          <a:p>
            <a:pPr lvl="1"/>
            <a:r>
              <a:rPr lang="ko-KR" altLang="en-US" dirty="0"/>
              <a:t>라운드가 실패로 종료되고 정답이 </a:t>
            </a:r>
            <a:r>
              <a:rPr lang="ko-KR" altLang="en-US" dirty="0" smtClean="0"/>
              <a:t>공개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출제자는 </a:t>
            </a:r>
            <a:r>
              <a:rPr lang="en-US" altLang="ko-KR" dirty="0"/>
              <a:t>1</a:t>
            </a:r>
            <a:r>
              <a:rPr lang="ko-KR" altLang="en-US"/>
              <a:t>점 감점되며 다음 라운드에서도 출제자를 </a:t>
            </a:r>
            <a:r>
              <a:rPr lang="ko-KR" altLang="en-US" smtClean="0"/>
              <a:t>유지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smtClean="0"/>
              <a:t>5</a:t>
            </a:r>
            <a:r>
              <a:rPr lang="ko-KR" altLang="en-US" smtClean="0"/>
              <a:t>라운드 완료 시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각 플레이어의 누적 점수가 환산되어 랭킹 출력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0830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시연 영상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9965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smtClean="0"/>
              <a:t>Ssss</a:t>
            </a:r>
          </a:p>
          <a:p>
            <a:r>
              <a:rPr lang="en-US" altLang="ko-KR" smtClean="0"/>
              <a:t>Sss</a:t>
            </a:r>
            <a:endParaRPr lang="en-US" altLang="ko-KR" dirty="0" smtClean="0"/>
          </a:p>
          <a:p>
            <a:r>
              <a:rPr lang="en-US" altLang="ko-KR" dirty="0" err="1" smtClean="0"/>
              <a:t>sss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4551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71287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 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: 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Double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Frame Buffer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기반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그래픽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구현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4450" dirty="0">
              <a:latin typeface="LG스마트체 Bold" panose="020B0600000101010101" pitchFamily="50" charset="-127"/>
              <a:ea typeface="LG스마트체 Bold" panose="020B0600000101010101" pitchFamily="50" charset="-127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1" t="56022" r="55695" b="21914"/>
          <a:stretch/>
        </p:blipFill>
        <p:spPr>
          <a:xfrm>
            <a:off x="1043509" y="3605030"/>
            <a:ext cx="7111383" cy="2389061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691" t="11092" r="1441" b="82314"/>
          <a:stretch/>
        </p:blipFill>
        <p:spPr>
          <a:xfrm>
            <a:off x="8407708" y="2648861"/>
            <a:ext cx="8521083" cy="689537"/>
          </a:xfrm>
          <a:prstGeom prst="rect">
            <a:avLst/>
          </a:prstGeom>
        </p:spPr>
      </p:pic>
      <p:sp>
        <p:nvSpPr>
          <p:cNvPr id="21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562095" y="6540500"/>
            <a:ext cx="8074213" cy="114752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기존 화면을 지우면서 흰 화면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또는 배경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)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이 먼저 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보임 </a:t>
            </a:r>
            <a:r>
              <a:rPr lang="en-US" altLang="ko-KR" sz="2000" dirty="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/>
            </a:r>
            <a:br>
              <a:rPr lang="en-US" altLang="ko-KR" sz="2000" dirty="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</a:b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→ 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깜빡임 </a:t>
            </a: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발생</a:t>
            </a: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복잡한 </a:t>
            </a:r>
            <a:r>
              <a:rPr lang="ko-KR" alt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장면이나 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CPU 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사용량이 높을 때 깜빡임이 더 심해짐</a:t>
            </a: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pic>
        <p:nvPicPr>
          <p:cNvPr id="22" name="그림 2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" t="11334" r="54602" b="82484"/>
          <a:stretch/>
        </p:blipFill>
        <p:spPr>
          <a:xfrm>
            <a:off x="980317" y="2658928"/>
            <a:ext cx="7237766" cy="669405"/>
          </a:xfrm>
          <a:prstGeom prst="rect">
            <a:avLst/>
          </a:prstGeom>
        </p:spPr>
      </p:pic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4" t="55892" r="1614" b="20193"/>
          <a:stretch/>
        </p:blipFill>
        <p:spPr>
          <a:xfrm>
            <a:off x="8407708" y="3542432"/>
            <a:ext cx="8364879" cy="2514258"/>
          </a:xfrm>
          <a:prstGeom prst="rect">
            <a:avLst/>
          </a:prstGeom>
        </p:spPr>
      </p:pic>
      <p:sp>
        <p:nvSpPr>
          <p:cNvPr id="24" name="텍스트 개체 틀 1"/>
          <p:cNvSpPr txBox="1">
            <a:spLocks/>
          </p:cNvSpPr>
          <p:nvPr/>
        </p:nvSpPr>
        <p:spPr>
          <a:xfrm>
            <a:off x="8553040" y="6540500"/>
            <a:ext cx="8074213" cy="1147522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백 버퍼에서 모든 그리기를 완료한 후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, 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프런트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/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백 버퍼를 교체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스왑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)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하여 완성된 화면을 한 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번에 </a:t>
            </a: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출력</a:t>
            </a: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완성된 장면을 한 번에 출력하여 불필요한 중간 장면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흰 화면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, 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그리기 과정 노출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)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을 </a:t>
            </a: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없애 부드럽게</a:t>
            </a:r>
            <a:r>
              <a:rPr lang="en-US" altLang="ko-KR" sz="2000" dirty="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화면 전환</a:t>
            </a: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7645400" y="3467595"/>
            <a:ext cx="9309100" cy="296883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이벤트 </a:t>
            </a:r>
            <a:r>
              <a:rPr lang="ko-KR" altLang="en-US" dirty="0" err="1"/>
              <a:t>파싱</a:t>
            </a:r>
            <a:r>
              <a:rPr lang="ko-KR" altLang="en-US" dirty="0"/>
              <a:t> 흐름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/dev/input/event*</a:t>
            </a:r>
            <a:r>
              <a:rPr lang="ko-KR" altLang="en-US"/>
              <a:t>에서 멀티터치 이벤트 직접 파싱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ABS_MT_POSITION_X/Y </a:t>
            </a:r>
            <a:r>
              <a:rPr lang="ko-KR" altLang="en-US"/>
              <a:t>기반 좌표 추출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Raw </a:t>
            </a:r>
            <a:r>
              <a:rPr lang="ko-KR" altLang="en-US"/>
              <a:t>값 → 화면 좌표 변환 </a:t>
            </a:r>
            <a:r>
              <a:rPr lang="en-US" altLang="ko-KR" dirty="0"/>
              <a:t>(</a:t>
            </a:r>
            <a:r>
              <a:rPr lang="ko-KR" altLang="en-US"/>
              <a:t>보정 알고리즘 적용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UI </a:t>
            </a:r>
            <a:r>
              <a:rPr lang="ko-KR" altLang="en-US"/>
              <a:t>이벤트 큐로 </a:t>
            </a:r>
            <a:r>
              <a:rPr lang="ko-KR" altLang="en-US"/>
              <a:t>전달하여 </a:t>
            </a:r>
            <a:r>
              <a:rPr lang="ko-KR" altLang="en-US" smtClean="0"/>
              <a:t>처리</a:t>
            </a:r>
            <a:endParaRPr lang="en-US" altLang="ko-KR" dirty="0" smtClean="0"/>
          </a:p>
          <a:p>
            <a:pPr lvl="1">
              <a:lnSpc>
                <a:spcPct val="150000"/>
              </a:lnSpc>
            </a:pPr>
            <a:r>
              <a:rPr lang="ko-KR" altLang="en-US" dirty="0" smtClean="0"/>
              <a:t>상대</a:t>
            </a:r>
            <a:r>
              <a:rPr lang="en-US" altLang="ko-KR" dirty="0" smtClean="0"/>
              <a:t> </a:t>
            </a:r>
            <a:r>
              <a:rPr lang="ko-KR" altLang="en-US" smtClean="0"/>
              <a:t>보드에</a:t>
            </a:r>
            <a:r>
              <a:rPr lang="en-US" altLang="ko-KR" dirty="0" smtClean="0"/>
              <a:t> </a:t>
            </a:r>
            <a:r>
              <a:rPr lang="ko-KR" altLang="en-US" smtClean="0"/>
              <a:t>출력</a:t>
            </a:r>
            <a:r>
              <a:rPr lang="en-US" altLang="ko-KR" dirty="0" smtClean="0"/>
              <a:t> </a:t>
            </a: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63286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: Linux Input Subsystem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기반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터치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처리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6567055" y="7837919"/>
            <a:ext cx="8284131" cy="963811"/>
            <a:chOff x="6567055" y="6581229"/>
            <a:chExt cx="8284131" cy="963811"/>
          </a:xfrm>
        </p:grpSpPr>
        <p:sp>
          <p:nvSpPr>
            <p:cNvPr id="6" name="Shape 5"/>
            <p:cNvSpPr/>
            <p:nvPr/>
          </p:nvSpPr>
          <p:spPr>
            <a:xfrm>
              <a:off x="6567055" y="6581229"/>
              <a:ext cx="8284131" cy="963811"/>
            </a:xfrm>
            <a:prstGeom prst="roundRect">
              <a:avLst>
                <a:gd name="adj" fmla="val 9884"/>
              </a:avLst>
            </a:prstGeom>
            <a:solidFill>
              <a:srgbClr val="B6D6FC"/>
            </a:solidFill>
            <a:ln/>
          </p:spPr>
        </p:sp>
        <p:pic>
          <p:nvPicPr>
            <p:cNvPr id="7" name="Image 1" descr="preencode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683" y="6937194"/>
              <a:ext cx="283488" cy="226814"/>
            </a:xfrm>
            <a:prstGeom prst="rect">
              <a:avLst/>
            </a:prstGeom>
          </p:spPr>
        </p:pic>
        <p:sp>
          <p:nvSpPr>
            <p:cNvPr id="8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ko-KR" altLang="en-US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하드웨어 입력을 직접 해석하여 </a:t>
              </a:r>
              <a:r>
                <a:rPr lang="en-US" altLang="ko-KR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UI</a:t>
              </a:r>
              <a:r>
                <a:rPr lang="ko-KR" altLang="en-US" sz="175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와 연결</a:t>
              </a:r>
            </a:p>
          </p:txBody>
        </p:sp>
      </p:grpSp>
      <p:pic>
        <p:nvPicPr>
          <p:cNvPr id="17" name="Image 1" descr="preencoded.png"/>
          <p:cNvPicPr>
            <a:picLocks noChangeAspect="1"/>
          </p:cNvPicPr>
          <p:nvPr/>
        </p:nvPicPr>
        <p:blipFill rotWithShape="1">
          <a:blip r:embed="rId3"/>
          <a:srcRect t="23441" b="27452"/>
          <a:stretch/>
        </p:blipFill>
        <p:spPr>
          <a:xfrm>
            <a:off x="775647" y="3527295"/>
            <a:ext cx="6528524" cy="320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947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altLang="ko-KR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UDP </a:t>
            </a:r>
            <a:r>
              <a:rPr lang="ko-KR" altLang="en-US" sz="4450" b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기반 실시간 통신 </a:t>
            </a:r>
            <a:r>
              <a:rPr lang="en-US" altLang="ko-KR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&amp; </a:t>
            </a:r>
            <a:r>
              <a:rPr lang="ko-KR" altLang="en-US" sz="4450" b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동기화</a:t>
            </a:r>
          </a:p>
        </p:txBody>
      </p:sp>
      <p:grpSp>
        <p:nvGrpSpPr>
          <p:cNvPr id="11" name="그룹 10"/>
          <p:cNvGrpSpPr/>
          <p:nvPr/>
        </p:nvGrpSpPr>
        <p:grpSpPr>
          <a:xfrm>
            <a:off x="1078044" y="3631941"/>
            <a:ext cx="7460314" cy="1644190"/>
            <a:chOff x="4008160" y="3964450"/>
            <a:chExt cx="8799378" cy="1644190"/>
          </a:xfrm>
        </p:grpSpPr>
        <p:sp>
          <p:nvSpPr>
            <p:cNvPr id="13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4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5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 err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저지연</a:t>
              </a:r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 </a:t>
              </a:r>
              <a:r>
                <a:rPr lang="ko-KR" altLang="en-US" sz="2400" b="1" dirty="0" err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브로드캐스트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  <p:sp>
          <p:nvSpPr>
            <p:cNvPr id="16" name="Text 6"/>
            <p:cNvSpPr/>
            <p:nvPr/>
          </p:nvSpPr>
          <p:spPr>
            <a:xfrm>
              <a:off x="4641155" y="4729907"/>
              <a:ext cx="7729566" cy="6313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UDP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브로드캐스트로 멀티캐스트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통신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구현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en-US" altLang="ko-KR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TCP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오버헤드 없이 실시간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데이터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전송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</p:grpSp>
      <p:grpSp>
        <p:nvGrpSpPr>
          <p:cNvPr id="26" name="그룹 25"/>
          <p:cNvGrpSpPr/>
          <p:nvPr/>
        </p:nvGrpSpPr>
        <p:grpSpPr>
          <a:xfrm>
            <a:off x="8710400" y="3631941"/>
            <a:ext cx="7460314" cy="1644190"/>
            <a:chOff x="4008160" y="3964450"/>
            <a:chExt cx="8799378" cy="1644190"/>
          </a:xfrm>
        </p:grpSpPr>
        <p:sp>
          <p:nvSpPr>
            <p:cNvPr id="27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28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9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논블로킹 </a:t>
              </a:r>
              <a:r>
                <a:rPr lang="en-US" altLang="ko-KR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I/O</a:t>
              </a:r>
            </a:p>
          </p:txBody>
        </p:sp>
        <p:sp>
          <p:nvSpPr>
            <p:cNvPr id="30" name="Text 6"/>
            <p:cNvSpPr/>
            <p:nvPr/>
          </p:nvSpPr>
          <p:spPr>
            <a:xfrm>
              <a:off x="4641155" y="4729907"/>
              <a:ext cx="7729566" cy="6313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select()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기반 멀티플렉싱으로 블로킹 없이 다중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소켓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처리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</p:grpSp>
      <p:grpSp>
        <p:nvGrpSpPr>
          <p:cNvPr id="31" name="그룹 30"/>
          <p:cNvGrpSpPr/>
          <p:nvPr/>
        </p:nvGrpSpPr>
        <p:grpSpPr>
          <a:xfrm>
            <a:off x="1078044" y="5523519"/>
            <a:ext cx="7460314" cy="1644190"/>
            <a:chOff x="4008160" y="3964450"/>
            <a:chExt cx="8799378" cy="1644190"/>
          </a:xfrm>
        </p:grpSpPr>
        <p:sp>
          <p:nvSpPr>
            <p:cNvPr id="32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33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34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 err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패킷</a:t>
              </a:r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 유실 대응</a:t>
              </a:r>
            </a:p>
          </p:txBody>
        </p:sp>
        <p:sp>
          <p:nvSpPr>
            <p:cNvPr id="35" name="Text 6"/>
            <p:cNvSpPr/>
            <p:nvPr/>
          </p:nvSpPr>
          <p:spPr>
            <a:xfrm>
              <a:off x="4641155" y="4729907"/>
              <a:ext cx="7729566" cy="6313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중요 메시지는 반복 전송으로 신뢰성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확보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순서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번호 기반 중복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제거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</p:grpSp>
      <p:grpSp>
        <p:nvGrpSpPr>
          <p:cNvPr id="36" name="그룹 35"/>
          <p:cNvGrpSpPr/>
          <p:nvPr/>
        </p:nvGrpSpPr>
        <p:grpSpPr>
          <a:xfrm>
            <a:off x="8710400" y="5523519"/>
            <a:ext cx="7460314" cy="1644190"/>
            <a:chOff x="4008160" y="3964450"/>
            <a:chExt cx="8799378" cy="1644190"/>
          </a:xfrm>
        </p:grpSpPr>
        <p:sp>
          <p:nvSpPr>
            <p:cNvPr id="37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38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39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동기화 배리어</a:t>
              </a:r>
            </a:p>
          </p:txBody>
        </p:sp>
        <p:sp>
          <p:nvSpPr>
            <p:cNvPr id="40" name="Text 6"/>
            <p:cNvSpPr/>
            <p:nvPr/>
          </p:nvSpPr>
          <p:spPr>
            <a:xfrm>
              <a:off x="4641155" y="4729907"/>
              <a:ext cx="7729566" cy="6313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DRAWING_START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패킷으로 모든 클라이언트 렌더링 시점 동기화</a:t>
              </a:r>
              <a:endParaRPr 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endParaRPr>
            </a:p>
          </p:txBody>
        </p:sp>
      </p:grpSp>
      <p:grpSp>
        <p:nvGrpSpPr>
          <p:cNvPr id="41" name="그룹 40"/>
          <p:cNvGrpSpPr/>
          <p:nvPr/>
        </p:nvGrpSpPr>
        <p:grpSpPr>
          <a:xfrm>
            <a:off x="1078044" y="7615876"/>
            <a:ext cx="15092670" cy="963811"/>
            <a:chOff x="6567055" y="6581229"/>
            <a:chExt cx="15092670" cy="963811"/>
          </a:xfrm>
        </p:grpSpPr>
        <p:sp>
          <p:nvSpPr>
            <p:cNvPr id="42" name="Shape 5"/>
            <p:cNvSpPr/>
            <p:nvPr/>
          </p:nvSpPr>
          <p:spPr>
            <a:xfrm>
              <a:off x="6567055" y="6581229"/>
              <a:ext cx="15092670" cy="963811"/>
            </a:xfrm>
            <a:prstGeom prst="roundRect">
              <a:avLst>
                <a:gd name="adj" fmla="val 9884"/>
              </a:avLst>
            </a:prstGeom>
            <a:solidFill>
              <a:srgbClr val="B6D6FC"/>
            </a:solidFill>
            <a:ln/>
          </p:spPr>
        </p:sp>
        <p:pic>
          <p:nvPicPr>
            <p:cNvPr id="43" name="Image 1" descr="preencode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683" y="6937194"/>
              <a:ext cx="283488" cy="226814"/>
            </a:xfrm>
            <a:prstGeom prst="rect">
              <a:avLst/>
            </a:prstGeom>
          </p:spPr>
        </p:pic>
        <p:sp>
          <p:nvSpPr>
            <p:cNvPr id="44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en-US" altLang="ko-KR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TCP </a:t>
              </a:r>
              <a:r>
                <a:rPr lang="ko-KR" altLang="en-US" sz="175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없이도 실시간 게임 동기화 구현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40317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246421" y="3467595"/>
            <a:ext cx="10708079" cy="296883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인터럽트 처리 구조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/dev/gpiochip0 + GPIO_GET_LINEEVENT_IOCTL</a:t>
            </a:r>
            <a:r>
              <a:rPr lang="ko-KR" altLang="en-US"/>
              <a:t>로 커널 이벤트 등록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하강 에지</a:t>
            </a:r>
            <a:r>
              <a:rPr lang="en-US" altLang="ko-KR" dirty="0"/>
              <a:t>(Falling Edge) </a:t>
            </a:r>
            <a:r>
              <a:rPr lang="ko-KR" altLang="en-US"/>
              <a:t>인터럽트 기반 버튼 이벤트 감지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poll()</a:t>
            </a:r>
            <a:r>
              <a:rPr lang="ko-KR" altLang="en-US"/>
              <a:t>로 이벤트 대기</a:t>
            </a:r>
            <a:r>
              <a:rPr lang="en-US" altLang="ko-KR" dirty="0"/>
              <a:t>, </a:t>
            </a:r>
            <a:r>
              <a:rPr lang="ko-KR" altLang="en-US"/>
              <a:t>별도 스레드에서 처리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std</a:t>
            </a:r>
            <a:r>
              <a:rPr lang="en-US" altLang="ko-KR" dirty="0"/>
              <a:t>::atomic</a:t>
            </a:r>
            <a:r>
              <a:rPr lang="ko-KR" altLang="en-US"/>
              <a:t>으로 스레드 간 안전한 상태 공유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altLang="ko-KR" sz="4450" b="1" dirty="0" smtClean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GPIO </a:t>
            </a:r>
            <a:r>
              <a:rPr lang="ko-KR" altLang="en-US" sz="4450" b="1" smtClean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인터럽트 기반 물리 입력 처리</a:t>
            </a:r>
            <a:endParaRPr lang="ko-KR" altLang="en-US" sz="4450" b="1">
              <a:solidFill>
                <a:srgbClr val="000000"/>
              </a:solidFill>
              <a:latin typeface="LG스마트체 Bold" panose="020B0600000101010101" pitchFamily="50" charset="-127"/>
              <a:ea typeface="LG스마트체 Bold" panose="020B0600000101010101" pitchFamily="50" charset="-127"/>
              <a:cs typeface="Inter Bold" pitchFamily="34" charset="-120"/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6567055" y="7063134"/>
            <a:ext cx="8284131" cy="963811"/>
            <a:chOff x="6567055" y="6581229"/>
            <a:chExt cx="8284131" cy="963811"/>
          </a:xfrm>
        </p:grpSpPr>
        <p:sp>
          <p:nvSpPr>
            <p:cNvPr id="6" name="Shape 5"/>
            <p:cNvSpPr/>
            <p:nvPr/>
          </p:nvSpPr>
          <p:spPr>
            <a:xfrm>
              <a:off x="6567055" y="6581229"/>
              <a:ext cx="8284131" cy="963811"/>
            </a:xfrm>
            <a:prstGeom prst="roundRect">
              <a:avLst>
                <a:gd name="adj" fmla="val 9884"/>
              </a:avLst>
            </a:prstGeom>
            <a:solidFill>
              <a:srgbClr val="B6D6FC"/>
            </a:solidFill>
            <a:ln/>
          </p:spPr>
        </p:sp>
        <p:pic>
          <p:nvPicPr>
            <p:cNvPr id="7" name="Image 1" descr="preencode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683" y="6937194"/>
              <a:ext cx="283488" cy="226814"/>
            </a:xfrm>
            <a:prstGeom prst="rect">
              <a:avLst/>
            </a:prstGeom>
          </p:spPr>
        </p:pic>
        <p:sp>
          <p:nvSpPr>
            <p:cNvPr id="8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ko-KR" altLang="en-US" sz="1750" dirty="0" err="1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커널</a:t>
              </a:r>
              <a:r>
                <a:rPr lang="ko-KR" altLang="en-US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 레벨 이벤트를 사용자 공간에서 안정적으로 처리</a:t>
              </a:r>
            </a:p>
          </p:txBody>
        </p:sp>
      </p:grp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851" y="3820340"/>
            <a:ext cx="4206605" cy="420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964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ko-KR" altLang="en-US" sz="4450" b="1" dirty="0" err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멀티스레딩</a:t>
            </a:r>
            <a:r>
              <a:rPr lang="ko-KR" alt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 </a:t>
            </a:r>
            <a:r>
              <a:rPr lang="en-US" altLang="ko-KR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+ </a:t>
            </a:r>
            <a:r>
              <a:rPr lang="ko-KR" altLang="en-US" sz="4450" b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이벤트 기반 비동기 구조</a:t>
            </a:r>
          </a:p>
        </p:txBody>
      </p:sp>
      <p:grpSp>
        <p:nvGrpSpPr>
          <p:cNvPr id="25" name="그룹 24"/>
          <p:cNvGrpSpPr/>
          <p:nvPr/>
        </p:nvGrpSpPr>
        <p:grpSpPr>
          <a:xfrm>
            <a:off x="431800" y="2902931"/>
            <a:ext cx="9601200" cy="5072312"/>
            <a:chOff x="1371600" y="2902931"/>
            <a:chExt cx="9601200" cy="5072312"/>
          </a:xfrm>
        </p:grpSpPr>
        <p:pic>
          <p:nvPicPr>
            <p:cNvPr id="12" name="그림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05420" y="2902931"/>
              <a:ext cx="4633362" cy="5072312"/>
            </a:xfrm>
            <a:prstGeom prst="rect">
              <a:avLst/>
            </a:prstGeom>
          </p:spPr>
        </p:pic>
        <p:sp>
          <p:nvSpPr>
            <p:cNvPr id="13" name="Text 5"/>
            <p:cNvSpPr/>
            <p:nvPr/>
          </p:nvSpPr>
          <p:spPr>
            <a:xfrm>
              <a:off x="1371600" y="4319022"/>
              <a:ext cx="2738103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/>
              <a:r>
                <a:rPr lang="ko-KR" altLang="en-US" sz="2400" b="1" dirty="0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입력 </a:t>
              </a:r>
              <a:r>
                <a:rPr lang="ko-KR" altLang="en-US" sz="2400" b="1" dirty="0" err="1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스레드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  <p:sp>
          <p:nvSpPr>
            <p:cNvPr id="14" name="Text 5"/>
            <p:cNvSpPr/>
            <p:nvPr/>
          </p:nvSpPr>
          <p:spPr>
            <a:xfrm>
              <a:off x="1371600" y="6246784"/>
              <a:ext cx="2738103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/>
              <a:r>
                <a:rPr lang="ko-KR" altLang="en-US" sz="2400" b="1" dirty="0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네트워크 </a:t>
              </a:r>
              <a:r>
                <a:rPr lang="ko-KR" altLang="en-US" sz="2400" b="1" dirty="0" err="1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스레드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  <p:sp>
          <p:nvSpPr>
            <p:cNvPr id="15" name="Text 5"/>
            <p:cNvSpPr/>
            <p:nvPr/>
          </p:nvSpPr>
          <p:spPr>
            <a:xfrm>
              <a:off x="8934499" y="4319022"/>
              <a:ext cx="2038301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동기화 계층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  <p:sp>
          <p:nvSpPr>
            <p:cNvPr id="16" name="Text 5"/>
            <p:cNvSpPr/>
            <p:nvPr/>
          </p:nvSpPr>
          <p:spPr>
            <a:xfrm>
              <a:off x="8934498" y="6246784"/>
              <a:ext cx="2038301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en-US" altLang="ko-KR" sz="2400" b="1" dirty="0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UI </a:t>
              </a:r>
              <a:r>
                <a:rPr lang="ko-KR" altLang="en-US" sz="2400" b="1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스레드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</p:grpSp>
      <p:grpSp>
        <p:nvGrpSpPr>
          <p:cNvPr id="19" name="그룹 18"/>
          <p:cNvGrpSpPr/>
          <p:nvPr/>
        </p:nvGrpSpPr>
        <p:grpSpPr>
          <a:xfrm>
            <a:off x="1078044" y="8078647"/>
            <a:ext cx="15092670" cy="963811"/>
            <a:chOff x="6567055" y="6581229"/>
            <a:chExt cx="15092670" cy="963811"/>
          </a:xfrm>
        </p:grpSpPr>
        <p:sp>
          <p:nvSpPr>
            <p:cNvPr id="20" name="Shape 5"/>
            <p:cNvSpPr/>
            <p:nvPr/>
          </p:nvSpPr>
          <p:spPr>
            <a:xfrm>
              <a:off x="6567055" y="6581229"/>
              <a:ext cx="15092670" cy="963811"/>
            </a:xfrm>
            <a:prstGeom prst="roundRect">
              <a:avLst>
                <a:gd name="adj" fmla="val 9884"/>
              </a:avLst>
            </a:prstGeom>
            <a:solidFill>
              <a:srgbClr val="B6D6FC"/>
            </a:solidFill>
            <a:ln/>
          </p:spPr>
        </p:sp>
        <p:pic>
          <p:nvPicPr>
            <p:cNvPr id="21" name="Image 1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20683" y="6937194"/>
              <a:ext cx="283488" cy="226814"/>
            </a:xfrm>
            <a:prstGeom prst="rect">
              <a:avLst/>
            </a:prstGeom>
          </p:spPr>
        </p:pic>
        <p:sp>
          <p:nvSpPr>
            <p:cNvPr id="22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ko-KR" altLang="en-US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입력</a:t>
              </a:r>
              <a:r>
                <a:rPr lang="en-US" altLang="ko-KR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175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네트워크</a:t>
              </a:r>
              <a:r>
                <a:rPr lang="en-US" altLang="ko-KR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UI</a:t>
              </a:r>
              <a:r>
                <a:rPr lang="ko-KR" altLang="en-US" sz="175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를 각각 독립 스레드로 분리하여 블로킹 없이 병행 처리</a:t>
              </a:r>
            </a:p>
          </p:txBody>
        </p:sp>
      </p:grpSp>
      <p:sp>
        <p:nvSpPr>
          <p:cNvPr id="24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9867901" y="3467595"/>
            <a:ext cx="7086600" cy="2968832"/>
          </a:xfrm>
        </p:spPr>
        <p:txBody>
          <a:bodyPr/>
          <a:lstStyle/>
          <a:p>
            <a:r>
              <a:rPr lang="ko-KR" altLang="en-US" dirty="0" err="1"/>
              <a:t>스레드</a:t>
            </a:r>
            <a:r>
              <a:rPr lang="ko-KR" altLang="en-US" dirty="0"/>
              <a:t> 조합 </a:t>
            </a:r>
            <a:r>
              <a:rPr lang="ko-KR" altLang="en-US" dirty="0" smtClean="0"/>
              <a:t>전략</a:t>
            </a:r>
            <a:endParaRPr lang="en-US" altLang="ko-KR" dirty="0" smtClean="0"/>
          </a:p>
          <a:p>
            <a:pPr lvl="1"/>
            <a:r>
              <a:rPr lang="en-US" altLang="ko-KR" dirty="0" err="1"/>
              <a:t>pthread</a:t>
            </a:r>
            <a:r>
              <a:rPr lang="en-US" altLang="ko-KR" dirty="0"/>
              <a:t> + </a:t>
            </a:r>
            <a:r>
              <a:rPr lang="en-US" altLang="ko-KR" dirty="0" err="1"/>
              <a:t>std</a:t>
            </a:r>
            <a:r>
              <a:rPr lang="en-US" altLang="ko-KR" dirty="0"/>
              <a:t>::thread </a:t>
            </a:r>
            <a:r>
              <a:rPr lang="ko-KR" altLang="en-US"/>
              <a:t>혼합 사용</a:t>
            </a:r>
          </a:p>
          <a:p>
            <a:pPr lvl="1"/>
            <a:r>
              <a:rPr lang="en-US" altLang="ko-KR" dirty="0"/>
              <a:t>select + poll + </a:t>
            </a:r>
            <a:r>
              <a:rPr lang="ko-KR" altLang="en-US"/>
              <a:t>스레드 조합으로 </a:t>
            </a:r>
            <a:r>
              <a:rPr lang="ko-KR" altLang="en-US"/>
              <a:t>리소스 </a:t>
            </a:r>
            <a:r>
              <a:rPr lang="ko-KR" altLang="en-US" smtClean="0"/>
              <a:t>효율화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 smtClean="0"/>
          </a:p>
          <a:p>
            <a:r>
              <a:rPr lang="ko-KR" altLang="en-US" dirty="0"/>
              <a:t>동기화 기법</a:t>
            </a:r>
          </a:p>
          <a:p>
            <a:pPr lvl="1"/>
            <a:r>
              <a:rPr lang="en-US" altLang="ko-KR" dirty="0" err="1"/>
              <a:t>std</a:t>
            </a:r>
            <a:r>
              <a:rPr lang="en-US" altLang="ko-KR" dirty="0"/>
              <a:t>::atomic</a:t>
            </a:r>
            <a:r>
              <a:rPr lang="ko-KR" altLang="en-US"/>
              <a:t>으로 경량 상태 공유</a:t>
            </a:r>
          </a:p>
          <a:p>
            <a:pPr lvl="1"/>
            <a:r>
              <a:rPr lang="ko-KR" altLang="en-US" dirty="0" err="1"/>
              <a:t>뮤텍스</a:t>
            </a:r>
            <a:r>
              <a:rPr lang="ko-KR" altLang="en-US" dirty="0"/>
              <a:t> 최소화</a:t>
            </a:r>
            <a:r>
              <a:rPr lang="en-US" altLang="ko-KR" dirty="0"/>
              <a:t>, </a:t>
            </a:r>
            <a:r>
              <a:rPr lang="ko-KR" altLang="en-US"/>
              <a:t>이벤트 큐로 </a:t>
            </a:r>
            <a:r>
              <a:rPr lang="ko-KR" altLang="en-US"/>
              <a:t>데이터 </a:t>
            </a:r>
            <a:r>
              <a:rPr lang="ko-KR" altLang="en-US" smtClean="0"/>
              <a:t>전달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920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ko-KR" altLang="en-US" sz="4450" b="1" dirty="0" err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임베디드</a:t>
            </a:r>
            <a:r>
              <a:rPr lang="ko-KR" alt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 환경 최적화 설계</a:t>
            </a:r>
          </a:p>
        </p:txBody>
      </p:sp>
      <p:grpSp>
        <p:nvGrpSpPr>
          <p:cNvPr id="11" name="그룹 10"/>
          <p:cNvGrpSpPr/>
          <p:nvPr/>
        </p:nvGrpSpPr>
        <p:grpSpPr>
          <a:xfrm>
            <a:off x="1078044" y="3631941"/>
            <a:ext cx="7460314" cy="1644190"/>
            <a:chOff x="4008160" y="3964450"/>
            <a:chExt cx="8799378" cy="1644190"/>
          </a:xfrm>
        </p:grpSpPr>
        <p:sp>
          <p:nvSpPr>
            <p:cNvPr id="13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4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5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크로스 컴파일</a:t>
              </a:r>
            </a:p>
          </p:txBody>
        </p:sp>
        <p:sp>
          <p:nvSpPr>
            <p:cNvPr id="16" name="Text 6"/>
            <p:cNvSpPr/>
            <p:nvPr/>
          </p:nvSpPr>
          <p:spPr>
            <a:xfrm>
              <a:off x="4641155" y="4729907"/>
              <a:ext cx="7729566" cy="6313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aarch64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타겟으로 호스트에서 빌드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최소 런타임 의존성</a:t>
              </a:r>
            </a:p>
          </p:txBody>
        </p:sp>
      </p:grpSp>
      <p:grpSp>
        <p:nvGrpSpPr>
          <p:cNvPr id="31" name="그룹 30"/>
          <p:cNvGrpSpPr/>
          <p:nvPr/>
        </p:nvGrpSpPr>
        <p:grpSpPr>
          <a:xfrm>
            <a:off x="1078044" y="5523519"/>
            <a:ext cx="7460314" cy="1644190"/>
            <a:chOff x="4008160" y="3964450"/>
            <a:chExt cx="8799378" cy="1644190"/>
          </a:xfrm>
        </p:grpSpPr>
        <p:sp>
          <p:nvSpPr>
            <p:cNvPr id="32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33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34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시스템 콜 직접 제어</a:t>
              </a:r>
            </a:p>
          </p:txBody>
        </p:sp>
        <p:sp>
          <p:nvSpPr>
            <p:cNvPr id="35" name="Text 6"/>
            <p:cNvSpPr/>
            <p:nvPr/>
          </p:nvSpPr>
          <p:spPr>
            <a:xfrm>
              <a:off x="4641155" y="4729907"/>
              <a:ext cx="7729566" cy="6313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추상화 계층 제거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커널 인터페이스 직접 호출로 오버헤드 최소화</a:t>
              </a:r>
            </a:p>
          </p:txBody>
        </p:sp>
      </p:grpSp>
      <p:grpSp>
        <p:nvGrpSpPr>
          <p:cNvPr id="45" name="그룹 44"/>
          <p:cNvGrpSpPr/>
          <p:nvPr/>
        </p:nvGrpSpPr>
        <p:grpSpPr>
          <a:xfrm>
            <a:off x="9880599" y="1397000"/>
            <a:ext cx="7675563" cy="8478838"/>
            <a:chOff x="9143999" y="0"/>
            <a:chExt cx="7675563" cy="8478838"/>
          </a:xfrm>
        </p:grpSpPr>
        <p:sp>
          <p:nvSpPr>
            <p:cNvPr id="46" name="Shape 0"/>
            <p:cNvSpPr/>
            <p:nvPr/>
          </p:nvSpPr>
          <p:spPr>
            <a:xfrm>
              <a:off x="9143999" y="0"/>
              <a:ext cx="7675563" cy="8478838"/>
            </a:xfrm>
            <a:prstGeom prst="rect">
              <a:avLst/>
            </a:prstGeom>
            <a:solidFill>
              <a:srgbClr val="DADBF1"/>
            </a:solidFill>
            <a:ln/>
          </p:spPr>
        </p:sp>
        <p:pic>
          <p:nvPicPr>
            <p:cNvPr id="47" name="Image 0" descr="preencode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438448" y="170021"/>
              <a:ext cx="5259705" cy="78895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30928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ko-KR" alt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시스템 통합 아키텍처</a:t>
            </a:r>
          </a:p>
        </p:txBody>
      </p:sp>
      <p:sp>
        <p:nvSpPr>
          <p:cNvPr id="24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9867901" y="3467595"/>
            <a:ext cx="7086600" cy="2968832"/>
          </a:xfrm>
        </p:spPr>
        <p:txBody>
          <a:bodyPr/>
          <a:lstStyle/>
          <a:p>
            <a:r>
              <a:rPr lang="ko-KR" altLang="en-US" sz="2400" dirty="0"/>
              <a:t>설계 원칙</a:t>
            </a:r>
          </a:p>
          <a:p>
            <a:pPr lvl="1"/>
            <a:r>
              <a:rPr lang="ko-KR" altLang="en-US" sz="2000" dirty="0"/>
              <a:t>모든 계층이 외부 라이브러리 없이 직접 구현</a:t>
            </a:r>
          </a:p>
          <a:p>
            <a:pPr lvl="1"/>
            <a:r>
              <a:rPr lang="ko-KR" altLang="en-US" sz="2000" dirty="0"/>
              <a:t>각 계층이 독립 </a:t>
            </a:r>
            <a:r>
              <a:rPr lang="ko-KR" altLang="en-US" sz="2000" dirty="0" err="1"/>
              <a:t>스레드로</a:t>
            </a:r>
            <a:r>
              <a:rPr lang="ko-KR" altLang="en-US" sz="2000" dirty="0"/>
              <a:t> 동작하며 이벤트 큐로 연결</a:t>
            </a:r>
          </a:p>
          <a:p>
            <a:pPr lvl="1"/>
            <a:r>
              <a:rPr lang="ko-KR" altLang="en-US" sz="2000" dirty="0" err="1"/>
              <a:t>저사양</a:t>
            </a:r>
            <a:r>
              <a:rPr lang="ko-KR" altLang="en-US" sz="2000" dirty="0"/>
              <a:t> </a:t>
            </a:r>
            <a:r>
              <a:rPr lang="en-US" altLang="ko-KR" sz="2000" dirty="0"/>
              <a:t>SBC </a:t>
            </a:r>
            <a:r>
              <a:rPr lang="ko-KR" altLang="en-US" sz="2000"/>
              <a:t>환경에서 메모리</a:t>
            </a:r>
            <a:r>
              <a:rPr lang="en-US" altLang="ko-KR" sz="2000" dirty="0"/>
              <a:t>·CPU </a:t>
            </a:r>
            <a:r>
              <a:rPr lang="ko-KR" altLang="en-US" sz="2000"/>
              <a:t>오버헤드 </a:t>
            </a:r>
            <a:r>
              <a:rPr lang="ko-KR" altLang="en-US" sz="2000" smtClean="0"/>
              <a:t>최소화</a:t>
            </a:r>
            <a:r>
              <a:rPr lang="en-US" altLang="ko-KR" sz="2000" dirty="0" smtClean="0"/>
              <a:t/>
            </a:r>
            <a:br>
              <a:rPr lang="en-US" altLang="ko-KR" sz="2000" dirty="0" smtClean="0"/>
            </a:br>
            <a:endParaRPr lang="en-US" altLang="ko-KR" sz="2000" dirty="0" smtClean="0"/>
          </a:p>
          <a:p>
            <a:r>
              <a:rPr lang="ko-KR" altLang="en-US" sz="2400" dirty="0"/>
              <a:t>주요 기술 </a:t>
            </a:r>
            <a:r>
              <a:rPr lang="ko-KR" altLang="en-US" sz="2400" dirty="0" err="1"/>
              <a:t>스택</a:t>
            </a:r>
            <a:endParaRPr lang="ko-KR" altLang="en-US" sz="2400" dirty="0"/>
          </a:p>
          <a:p>
            <a:pPr lvl="1"/>
            <a:r>
              <a:rPr lang="en-US" altLang="ko-KR" sz="2000" dirty="0"/>
              <a:t>/dev/fb0, </a:t>
            </a:r>
            <a:r>
              <a:rPr lang="en-US" altLang="ko-KR" sz="2000" dirty="0" err="1"/>
              <a:t>mmap</a:t>
            </a:r>
            <a:r>
              <a:rPr lang="en-US" altLang="ko-KR" sz="2000" dirty="0"/>
              <a:t>, select, poll</a:t>
            </a:r>
          </a:p>
          <a:p>
            <a:pPr lvl="1"/>
            <a:r>
              <a:rPr lang="en-US" altLang="ko-KR" sz="2000" dirty="0"/>
              <a:t>/dev/input/event*, /dev/gpiochip0</a:t>
            </a:r>
          </a:p>
          <a:p>
            <a:pPr lvl="1"/>
            <a:r>
              <a:rPr lang="en-US" altLang="ko-KR" sz="2000" dirty="0" err="1"/>
              <a:t>pthread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std</a:t>
            </a:r>
            <a:r>
              <a:rPr lang="en-US" altLang="ko-KR" sz="2000" dirty="0"/>
              <a:t>::thread, </a:t>
            </a:r>
            <a:r>
              <a:rPr lang="en-US" altLang="ko-KR" sz="2000" dirty="0" err="1"/>
              <a:t>std</a:t>
            </a:r>
            <a:r>
              <a:rPr lang="en-US" altLang="ko-KR" sz="2000" dirty="0"/>
              <a:t>::atomic</a:t>
            </a:r>
          </a:p>
          <a:p>
            <a:pPr lvl="1"/>
            <a:r>
              <a:rPr lang="en-US" altLang="ko-KR" sz="2000" dirty="0"/>
              <a:t>UDP </a:t>
            </a:r>
            <a:r>
              <a:rPr lang="ko-KR" altLang="en-US" sz="2000"/>
              <a:t>브로드캐스트 </a:t>
            </a:r>
            <a:r>
              <a:rPr lang="en-US" altLang="ko-KR" sz="2000" dirty="0"/>
              <a:t>+ </a:t>
            </a:r>
            <a:r>
              <a:rPr lang="ko-KR" altLang="en-US" sz="2000"/>
              <a:t>동기화 </a:t>
            </a:r>
            <a:r>
              <a:rPr lang="ko-KR" altLang="en-US" sz="2000" smtClean="0"/>
              <a:t>배리어</a:t>
            </a:r>
            <a:endParaRPr lang="ko-KR" altLang="en-US" sz="200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18" y="2933464"/>
            <a:ext cx="9321183" cy="576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143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ko-KR" alt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핵심 정리</a:t>
            </a:r>
          </a:p>
        </p:txBody>
      </p:sp>
      <p:grpSp>
        <p:nvGrpSpPr>
          <p:cNvPr id="11" name="그룹 10"/>
          <p:cNvGrpSpPr/>
          <p:nvPr/>
        </p:nvGrpSpPr>
        <p:grpSpPr>
          <a:xfrm>
            <a:off x="876917" y="3236690"/>
            <a:ext cx="7460314" cy="1297408"/>
            <a:chOff x="4008160" y="3964450"/>
            <a:chExt cx="8799378" cy="1644190"/>
          </a:xfrm>
        </p:grpSpPr>
        <p:sp>
          <p:nvSpPr>
            <p:cNvPr id="13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4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5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라이브러리 없는 그래픽 </a:t>
              </a:r>
              <a:r>
                <a:rPr lang="ko-KR" altLang="en-US" sz="2400" b="1" dirty="0" err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스택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  <p:sp>
          <p:nvSpPr>
            <p:cNvPr id="16" name="Text 6"/>
            <p:cNvSpPr/>
            <p:nvPr/>
          </p:nvSpPr>
          <p:spPr>
            <a:xfrm>
              <a:off x="4641155" y="4947868"/>
              <a:ext cx="7729566" cy="413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Framebuffer + </a:t>
              </a:r>
              <a:r>
                <a:rPr lang="en-US" altLang="ko-KR" sz="2000" dirty="0" err="1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mmap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 +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더블버퍼링으로 완전 자체 구현</a:t>
              </a:r>
            </a:p>
          </p:txBody>
        </p:sp>
      </p:grpSp>
      <p:sp>
        <p:nvSpPr>
          <p:cNvPr id="46" name="Shape 0"/>
          <p:cNvSpPr/>
          <p:nvPr/>
        </p:nvSpPr>
        <p:spPr>
          <a:xfrm>
            <a:off x="9880599" y="1397000"/>
            <a:ext cx="7675563" cy="8478838"/>
          </a:xfrm>
          <a:prstGeom prst="rect">
            <a:avLst/>
          </a:prstGeom>
          <a:solidFill>
            <a:srgbClr val="DADBF1"/>
          </a:solidFill>
          <a:ln/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0148" y="1691640"/>
            <a:ext cx="5259705" cy="7889558"/>
          </a:xfrm>
          <a:prstGeom prst="rect">
            <a:avLst/>
          </a:prstGeom>
        </p:spPr>
      </p:pic>
      <p:grpSp>
        <p:nvGrpSpPr>
          <p:cNvPr id="19" name="그룹 18"/>
          <p:cNvGrpSpPr/>
          <p:nvPr/>
        </p:nvGrpSpPr>
        <p:grpSpPr>
          <a:xfrm>
            <a:off x="876917" y="4721518"/>
            <a:ext cx="7460314" cy="1297408"/>
            <a:chOff x="4008160" y="3964450"/>
            <a:chExt cx="8799378" cy="1644190"/>
          </a:xfrm>
        </p:grpSpPr>
        <p:sp>
          <p:nvSpPr>
            <p:cNvPr id="20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21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2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하드웨어 입력 직접 해석</a:t>
              </a:r>
            </a:p>
          </p:txBody>
        </p:sp>
        <p:sp>
          <p:nvSpPr>
            <p:cNvPr id="23" name="Text 6"/>
            <p:cNvSpPr/>
            <p:nvPr/>
          </p:nvSpPr>
          <p:spPr>
            <a:xfrm>
              <a:off x="4641155" y="4947868"/>
              <a:ext cx="7729566" cy="413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Input Subsystem + GPIO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인터럽트로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UI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와 직접 연결</a:t>
              </a:r>
            </a:p>
          </p:txBody>
        </p:sp>
      </p:grpSp>
      <p:grpSp>
        <p:nvGrpSpPr>
          <p:cNvPr id="39" name="그룹 38"/>
          <p:cNvGrpSpPr/>
          <p:nvPr/>
        </p:nvGrpSpPr>
        <p:grpSpPr>
          <a:xfrm>
            <a:off x="876917" y="6214137"/>
            <a:ext cx="7460314" cy="1297408"/>
            <a:chOff x="4008160" y="3964450"/>
            <a:chExt cx="8799378" cy="1644190"/>
          </a:xfrm>
        </p:grpSpPr>
        <p:sp>
          <p:nvSpPr>
            <p:cNvPr id="40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41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42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en-US" altLang="ko-KR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TCP </a:t>
              </a:r>
              <a:r>
                <a:rPr lang="ko-KR" altLang="en-US" sz="2400" b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없는 실시간 동기화</a:t>
              </a:r>
            </a:p>
          </p:txBody>
        </p:sp>
        <p:sp>
          <p:nvSpPr>
            <p:cNvPr id="43" name="Text 6"/>
            <p:cNvSpPr/>
            <p:nvPr/>
          </p:nvSpPr>
          <p:spPr>
            <a:xfrm>
              <a:off x="4641155" y="4947868"/>
              <a:ext cx="7729566" cy="413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UDP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브로드캐스트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+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배리어로 저지연 멀티플레이어 구현</a:t>
              </a:r>
            </a:p>
          </p:txBody>
        </p:sp>
      </p:grpSp>
      <p:grpSp>
        <p:nvGrpSpPr>
          <p:cNvPr id="44" name="그룹 43"/>
          <p:cNvGrpSpPr/>
          <p:nvPr/>
        </p:nvGrpSpPr>
        <p:grpSpPr>
          <a:xfrm>
            <a:off x="876917" y="7698965"/>
            <a:ext cx="7460314" cy="1297408"/>
            <a:chOff x="4008160" y="3964450"/>
            <a:chExt cx="8799378" cy="1644190"/>
          </a:xfrm>
        </p:grpSpPr>
        <p:sp>
          <p:nvSpPr>
            <p:cNvPr id="48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49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50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 err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저사양</a:t>
              </a:r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 최적화</a:t>
              </a:r>
            </a:p>
          </p:txBody>
        </p:sp>
        <p:sp>
          <p:nvSpPr>
            <p:cNvPr id="51" name="Text 6"/>
            <p:cNvSpPr/>
            <p:nvPr/>
          </p:nvSpPr>
          <p:spPr>
            <a:xfrm>
              <a:off x="4641155" y="4947868"/>
              <a:ext cx="7729566" cy="413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aarch64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크로스컴파일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+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정적링크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+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시스템콜 직접 제어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67887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모니터링</a:t>
            </a:r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6276" y="1778000"/>
            <a:ext cx="7154118" cy="415904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0387" y="4493103"/>
            <a:ext cx="6724813" cy="394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338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r>
              <a:rPr lang="ko-KR" altLang="en-US" dirty="0" err="1"/>
              <a:t>듀얼</a:t>
            </a:r>
            <a:r>
              <a:rPr lang="en-US" altLang="ko-KR" dirty="0"/>
              <a:t> </a:t>
            </a:r>
            <a:r>
              <a:rPr lang="ko-KR" altLang="en-US" smtClean="0"/>
              <a:t>버퍼로 부드러운 화면 전환 </a:t>
            </a:r>
            <a:r>
              <a:rPr lang="en-US" altLang="ko-KR" dirty="0" smtClean="0"/>
              <a:t>– </a:t>
            </a:r>
            <a:r>
              <a:rPr lang="en-US" altLang="ko-KR" dirty="0" err="1" smtClean="0"/>
              <a:t>qt</a:t>
            </a:r>
            <a:r>
              <a:rPr lang="ko-KR" altLang="en-US"/>
              <a:t> </a:t>
            </a:r>
            <a:r>
              <a:rPr lang="ko-KR" altLang="en-US" smtClean="0"/>
              <a:t>대비 우수함</a:t>
            </a:r>
            <a:endParaRPr lang="en-US" altLang="ko-KR" dirty="0" smtClean="0"/>
          </a:p>
          <a:p>
            <a:r>
              <a:rPr lang="ko-KR" altLang="en-US" dirty="0" smtClean="0"/>
              <a:t>최신 </a:t>
            </a:r>
            <a:r>
              <a:rPr lang="ko-KR" altLang="en-US" dirty="0" err="1" smtClean="0"/>
              <a:t>커널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포팅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리눅스</a:t>
            </a:r>
            <a:r>
              <a:rPr lang="ko-KR" altLang="en-US" dirty="0" smtClean="0"/>
              <a:t> </a:t>
            </a:r>
            <a:r>
              <a:rPr lang="en-US" altLang="ko-KR" dirty="0" smtClean="0"/>
              <a:t>6.12.81</a:t>
            </a:r>
          </a:p>
          <a:p>
            <a:r>
              <a:rPr lang="ko-KR" altLang="en-US" dirty="0" smtClean="0"/>
              <a:t>상황에 따른 캐릭터 반응</a:t>
            </a:r>
            <a:endParaRPr lang="en-US" altLang="ko-KR" dirty="0" smtClean="0"/>
          </a:p>
          <a:p>
            <a:r>
              <a:rPr lang="ko-KR" altLang="en-US" dirty="0" smtClean="0"/>
              <a:t>음향 파일 재생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737179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72721" y="-68440"/>
            <a:ext cx="8310380" cy="153753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</a:t>
            </a:r>
            <a:r>
              <a:rPr lang="en-US" altLang="ko-KR" sz="2400" b="1" dirty="0">
                <a:solidFill>
                  <a:schemeClr val="tx1"/>
                </a:solidFill>
              </a:rPr>
              <a:t>1 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기존 </a:t>
            </a:r>
            <a:r>
              <a:rPr lang="en-US" altLang="ko-KR" dirty="0" smtClean="0"/>
              <a:t>UDP</a:t>
            </a:r>
            <a:r>
              <a:rPr lang="ko-KR" altLang="en-US" smtClean="0"/>
              <a:t>에서 온라인 서비스로 확장하자</a:t>
            </a:r>
            <a:endParaRPr lang="en-US" altLang="ko-KR" dirty="0" smtClean="0"/>
          </a:p>
          <a:p>
            <a:r>
              <a:rPr lang="ko-KR" altLang="en-US" dirty="0" smtClean="0"/>
              <a:t>좋은 디스플레이로 교체해 터치가 잘되도록 개선하자</a:t>
            </a:r>
            <a:endParaRPr lang="en-US" altLang="ko-KR" dirty="0" smtClean="0"/>
          </a:p>
          <a:p>
            <a:r>
              <a:rPr lang="en-US" altLang="ko-KR" dirty="0" smtClean="0"/>
              <a:t>3</a:t>
            </a:r>
            <a:r>
              <a:rPr lang="ko-KR" altLang="en-US" smtClean="0"/>
              <a:t>인 보다 더 많은 인원이 동시에 참가할 수 있도록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340195" y="246759"/>
            <a:ext cx="8437380" cy="91523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</a:t>
            </a:r>
            <a:r>
              <a:rPr lang="en-US" altLang="ko-KR" sz="2400" b="1" dirty="0">
                <a:solidFill>
                  <a:schemeClr val="tx1"/>
                </a:solidFill>
              </a:rPr>
              <a:t>1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참가자 및 출제자가 그린 그림이 공유가 되는 규칙을 정하고 </a:t>
            </a:r>
            <a:r>
              <a:rPr lang="ko-KR" altLang="en-US" dirty="0" smtClean="0"/>
              <a:t>구현하고 테스트 하는 과정에서 시행착오가 많았음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게임을 플레이하며</a:t>
            </a:r>
            <a:r>
              <a:rPr lang="en-US" altLang="ko-KR" dirty="0"/>
              <a:t> </a:t>
            </a:r>
            <a:r>
              <a:rPr lang="ko-KR" altLang="en-US" smtClean="0"/>
              <a:t>규칙을 업데이트 해나감</a:t>
            </a:r>
            <a:endParaRPr lang="en-US" altLang="ko-KR" dirty="0" smtClean="0"/>
          </a:p>
          <a:p>
            <a:r>
              <a:rPr lang="ko-KR" altLang="en-US" dirty="0" smtClean="0"/>
              <a:t>버그를 찾기 위한 게임 플레이에 소모되는 시간이 많음</a:t>
            </a:r>
            <a:endParaRPr lang="en-US" altLang="ko-KR" dirty="0" smtClean="0"/>
          </a:p>
          <a:p>
            <a:r>
              <a:rPr lang="ko-KR" altLang="en-US" dirty="0" smtClean="0"/>
              <a:t>버그 하나를 해결하면 이전에 해결한 버그가 다시 재현됨</a:t>
            </a:r>
            <a:endParaRPr lang="en-US" altLang="ko-KR" dirty="0" smtClean="0"/>
          </a:p>
          <a:p>
            <a:r>
              <a:rPr lang="ko-KR" altLang="en-US" dirty="0" smtClean="0"/>
              <a:t>교육 기간에 배운 내용을 프로젝트에 </a:t>
            </a:r>
            <a:r>
              <a:rPr lang="ko-KR" altLang="en-US" dirty="0" err="1" smtClean="0"/>
              <a:t>적용함으로서</a:t>
            </a:r>
            <a:r>
              <a:rPr lang="ko-KR" altLang="en-US" dirty="0" smtClean="0"/>
              <a:t> 복습이 되고 피와 살이 되고 기억에 잘 남음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ko-KR" altLang="en-US" dirty="0" smtClean="0"/>
              <a:t>아쉬운 점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하드웨어의 한계로 편한 </a:t>
            </a:r>
            <a:r>
              <a:rPr lang="ko-KR" altLang="en-US" dirty="0" err="1" smtClean="0"/>
              <a:t>터치감을</a:t>
            </a:r>
            <a:r>
              <a:rPr lang="ko-KR" altLang="en-US" dirty="0"/>
              <a:t> </a:t>
            </a:r>
            <a:r>
              <a:rPr lang="ko-KR" altLang="en-US" dirty="0" smtClean="0"/>
              <a:t>게임에 구현해내지 못함</a:t>
            </a:r>
            <a:endParaRPr lang="en-US" altLang="ko-KR" dirty="0" smtClean="0"/>
          </a:p>
          <a:p>
            <a:pPr lvl="1"/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402821" y="49816"/>
            <a:ext cx="8323080" cy="130102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2400" b="1" dirty="0" err="1">
                <a:solidFill>
                  <a:schemeClr val="tx1"/>
                </a:solidFill>
              </a:rPr>
              <a:t>느낀점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24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2400" b="1" dirty="0">
                <a:solidFill>
                  <a:schemeClr val="tx1"/>
                </a:solidFill>
              </a:rPr>
              <a:t>… 1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  <a:r>
              <a:rPr lang="ko-KR" altLang="en-US" b="1" smtClean="0">
                <a:solidFill>
                  <a:schemeClr val="tx1"/>
                </a:solidFill>
              </a:rPr>
              <a:t>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출제자 화면에 제시어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제한 시간 설정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현재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분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(260420)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4/20 </a:t>
            </a:r>
            <a:r>
              <a:rPr lang="ko-KR" altLang="en-US" b="1" smtClean="0">
                <a:solidFill>
                  <a:schemeClr val="tx1"/>
                </a:solidFill>
              </a:rPr>
              <a:t>월 오후 한시반 팀별 영상 제작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 이름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팀원 소개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프로젝트 주제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목표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팀워크 모습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재밌는</a:t>
            </a:r>
            <a:r>
              <a:rPr lang="ko-KR" altLang="en-US" b="1" dirty="0" smtClean="0">
                <a:solidFill>
                  <a:schemeClr val="tx1"/>
                </a:solidFill>
              </a:rPr>
              <a:t> 요소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753764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(260421)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포스터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 영상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결과보고서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 파일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1860792" y="6381932"/>
            <a:ext cx="4686663" cy="3357592"/>
            <a:chOff x="1791517" y="3831739"/>
            <a:chExt cx="4686663" cy="3357592"/>
          </a:xfrm>
        </p:grpSpPr>
        <p:sp>
          <p:nvSpPr>
            <p:cNvPr id="7" name="TextBox 6"/>
            <p:cNvSpPr txBox="1"/>
            <p:nvPr/>
          </p:nvSpPr>
          <p:spPr>
            <a:xfrm>
              <a:off x="1932617" y="3831739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grpSp>
          <p:nvGrpSpPr>
            <p:cNvPr id="3" name="그룹 2"/>
            <p:cNvGrpSpPr/>
            <p:nvPr/>
          </p:nvGrpSpPr>
          <p:grpSpPr>
            <a:xfrm>
              <a:off x="1791517" y="4256661"/>
              <a:ext cx="4686663" cy="2932670"/>
              <a:chOff x="2701219" y="4256661"/>
              <a:chExt cx="3776960" cy="2932670"/>
            </a:xfrm>
          </p:grpSpPr>
          <p:sp>
            <p:nvSpPr>
              <p:cNvPr id="11" name="직사각형 10"/>
              <p:cNvSpPr/>
              <p:nvPr/>
            </p:nvSpPr>
            <p:spPr>
              <a:xfrm>
                <a:off x="2718566" y="4256661"/>
                <a:ext cx="3759613" cy="292608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12" name="직선 연결선 11"/>
              <p:cNvCxnSpPr/>
              <p:nvPr/>
            </p:nvCxnSpPr>
            <p:spPr>
              <a:xfrm>
                <a:off x="4432618" y="5998726"/>
                <a:ext cx="0" cy="1190605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/>
              <p:cNvCxnSpPr>
                <a:stCxn id="11" idx="3"/>
                <a:endCxn id="11" idx="1"/>
              </p:cNvCxnSpPr>
              <p:nvPr/>
            </p:nvCxnSpPr>
            <p:spPr>
              <a:xfrm flipH="1">
                <a:off x="2718566" y="5719701"/>
                <a:ext cx="3759613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588167" y="4342784"/>
                <a:ext cx="11945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출제자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smtClean="0"/>
                  <a:t>점수</a:t>
                </a:r>
                <a:r>
                  <a:rPr lang="en-US" altLang="ko-KR" sz="1400" b="1" dirty="0" smtClean="0"/>
                  <a:t>)</a:t>
                </a:r>
                <a:endParaRPr lang="ko-KR" altLang="en-US" sz="1400" b="1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2982539" y="599872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1</a:t>
                </a:r>
                <a:r>
                  <a:rPr lang="en-US" altLang="ko-KR" sz="1400" b="1" dirty="0"/>
                  <a:t> 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782725" y="598038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2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2719009" y="4256662"/>
                <a:ext cx="774889" cy="146957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2701219" y="5714460"/>
                <a:ext cx="8556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b="1" dirty="0" smtClean="0"/>
                  <a:t>남은 시간</a:t>
                </a:r>
                <a:endParaRPr lang="ko-KR" altLang="en-US" sz="1400" b="1" dirty="0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2809861" y="4430924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라운드</a:t>
                </a:r>
                <a:endParaRPr lang="ko-KR" altLang="en-US" sz="1400" b="1" dirty="0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2809861" y="5022931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캐릭터</a:t>
                </a:r>
                <a:endParaRPr lang="ko-KR" altLang="en-US" sz="1400" b="1" dirty="0"/>
              </a:p>
            </p:txBody>
          </p:sp>
        </p:grpSp>
        <p:cxnSp>
          <p:nvCxnSpPr>
            <p:cNvPr id="22" name="직선 연결선 21"/>
            <p:cNvCxnSpPr/>
            <p:nvPr/>
          </p:nvCxnSpPr>
          <p:spPr>
            <a:xfrm flipH="1">
              <a:off x="1803678" y="5980386"/>
              <a:ext cx="466513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126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크기 </a:t>
            </a:r>
            <a:r>
              <a:rPr lang="ko-KR" altLang="en-US" b="1" dirty="0" smtClean="0">
                <a:solidFill>
                  <a:schemeClr val="tx1"/>
                </a:solidFill>
              </a:rPr>
              <a:t>조정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찌그러짐 </a:t>
            </a:r>
            <a:r>
              <a:rPr lang="ko-KR" altLang="en-US" b="1" dirty="0">
                <a:solidFill>
                  <a:schemeClr val="tx1"/>
                </a:solidFill>
              </a:rPr>
              <a:t>제거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버그 </a:t>
            </a:r>
            <a:r>
              <a:rPr lang="ko-KR" altLang="en-US" b="1" dirty="0" smtClean="0">
                <a:solidFill>
                  <a:schemeClr val="tx1"/>
                </a:solidFill>
              </a:rPr>
              <a:t>발견</a:t>
            </a:r>
            <a:r>
              <a:rPr lang="en-US" altLang="ko-KR" b="1" dirty="0" smtClean="0">
                <a:solidFill>
                  <a:schemeClr val="tx1"/>
                </a:solidFill>
              </a:rPr>
              <a:t>1 (</a:t>
            </a:r>
            <a:r>
              <a:rPr lang="ko-KR" altLang="en-US" b="1" smtClean="0">
                <a:solidFill>
                  <a:schemeClr val="tx1"/>
                </a:solidFill>
              </a:rPr>
              <a:t>미해결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ko-KR" altLang="en-US" b="1" dirty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1 </a:t>
            </a:r>
            <a:r>
              <a:rPr lang="ko-KR" altLang="en-US" b="1">
                <a:solidFill>
                  <a:schemeClr val="tx1"/>
                </a:solidFill>
              </a:rPr>
              <a:t>이 정답을 제출한 상태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2 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en-US" altLang="ko-KR" b="1" dirty="0">
                <a:solidFill>
                  <a:schemeClr val="tx1"/>
                </a:solidFill>
              </a:rPr>
              <a:t>submit</a:t>
            </a:r>
            <a:r>
              <a:rPr lang="ko-KR" altLang="en-US" b="1">
                <a:solidFill>
                  <a:schemeClr val="tx1"/>
                </a:solidFill>
              </a:rPr>
              <a:t>을 난타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1 </a:t>
            </a:r>
            <a:r>
              <a:rPr lang="ko-KR" altLang="en-US" b="1">
                <a:solidFill>
                  <a:schemeClr val="tx1"/>
                </a:solidFill>
              </a:rPr>
              <a:t>은 오답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의 답이 제출될 때 초반 부분만 작성된 채로 짤린 정답이 </a:t>
            </a:r>
            <a:r>
              <a:rPr lang="ko-KR" altLang="en-US" b="1" smtClean="0">
                <a:solidFill>
                  <a:schemeClr val="tx1"/>
                </a:solidFill>
              </a:rPr>
              <a:t>전송됨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버그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발견</a:t>
            </a:r>
            <a:r>
              <a:rPr lang="en-US" altLang="ko-KR" b="1" dirty="0" smtClean="0">
                <a:solidFill>
                  <a:schemeClr val="tx1"/>
                </a:solidFill>
              </a:rPr>
              <a:t>2(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정답을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제출한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상태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출제자가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체점을</a:t>
            </a:r>
            <a:r>
              <a:rPr lang="ko-KR" altLang="en-US" b="1" dirty="0" smtClean="0">
                <a:solidFill>
                  <a:schemeClr val="tx1"/>
                </a:solidFill>
              </a:rPr>
              <a:t> 하기 전에 화면을 </a:t>
            </a: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참가자의 화면에서는 출제자의 그림이 </a:t>
            </a:r>
            <a:r>
              <a:rPr lang="en-US" altLang="ko-KR" b="1" dirty="0" smtClean="0">
                <a:solidFill>
                  <a:schemeClr val="tx1"/>
                </a:solidFill>
              </a:rPr>
              <a:t>clear </a:t>
            </a:r>
            <a:r>
              <a:rPr lang="ko-KR" altLang="en-US" b="1" smtClean="0">
                <a:solidFill>
                  <a:schemeClr val="tx1"/>
                </a:solidFill>
              </a:rPr>
              <a:t>되지 않음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다른 참가자 화면에서는 출제자의 그림이 </a:t>
            </a:r>
            <a:r>
              <a:rPr lang="en-US" altLang="ko-KR" b="1" dirty="0" smtClean="0">
                <a:solidFill>
                  <a:schemeClr val="tx1"/>
                </a:solidFill>
              </a:rPr>
              <a:t>clear </a:t>
            </a:r>
            <a:r>
              <a:rPr lang="ko-KR" altLang="en-US" b="1" smtClean="0">
                <a:solidFill>
                  <a:schemeClr val="tx1"/>
                </a:solidFill>
              </a:rPr>
              <a:t>됨</a:t>
            </a:r>
            <a:endParaRPr lang="ko-KR" altLang="en-US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배경 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영상 구성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(260422)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포스터 </a:t>
            </a: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 영상 </a:t>
            </a: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결과보고서 </a:t>
            </a:r>
            <a:r>
              <a:rPr lang="en-US" altLang="ko-KR" b="1" dirty="0">
                <a:solidFill>
                  <a:schemeClr val="tx1"/>
                </a:solidFill>
              </a:rPr>
              <a:t>4/23 </a:t>
            </a:r>
            <a:r>
              <a:rPr lang="ko-KR" altLang="en-US" b="1">
                <a:solidFill>
                  <a:schemeClr val="tx1"/>
                </a:solidFill>
              </a:rPr>
              <a:t>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 파일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1851428" y="4918834"/>
            <a:ext cx="4686663" cy="3357592"/>
            <a:chOff x="1791517" y="3831739"/>
            <a:chExt cx="4686663" cy="3357592"/>
          </a:xfrm>
        </p:grpSpPr>
        <p:sp>
          <p:nvSpPr>
            <p:cNvPr id="7" name="TextBox 6"/>
            <p:cNvSpPr txBox="1"/>
            <p:nvPr/>
          </p:nvSpPr>
          <p:spPr>
            <a:xfrm>
              <a:off x="1932617" y="3831739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grpSp>
          <p:nvGrpSpPr>
            <p:cNvPr id="3" name="그룹 2"/>
            <p:cNvGrpSpPr/>
            <p:nvPr/>
          </p:nvGrpSpPr>
          <p:grpSpPr>
            <a:xfrm>
              <a:off x="1791517" y="4256661"/>
              <a:ext cx="4686663" cy="2932670"/>
              <a:chOff x="2701219" y="4256661"/>
              <a:chExt cx="3776960" cy="2932670"/>
            </a:xfrm>
          </p:grpSpPr>
          <p:sp>
            <p:nvSpPr>
              <p:cNvPr id="11" name="직사각형 10"/>
              <p:cNvSpPr/>
              <p:nvPr/>
            </p:nvSpPr>
            <p:spPr>
              <a:xfrm>
                <a:off x="2718566" y="4256661"/>
                <a:ext cx="3759613" cy="292608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12" name="직선 연결선 11"/>
              <p:cNvCxnSpPr/>
              <p:nvPr/>
            </p:nvCxnSpPr>
            <p:spPr>
              <a:xfrm>
                <a:off x="4432618" y="5998726"/>
                <a:ext cx="0" cy="1190605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/>
              <p:cNvCxnSpPr>
                <a:stCxn id="11" idx="3"/>
                <a:endCxn id="11" idx="1"/>
              </p:cNvCxnSpPr>
              <p:nvPr/>
            </p:nvCxnSpPr>
            <p:spPr>
              <a:xfrm flipH="1">
                <a:off x="2718566" y="5719701"/>
                <a:ext cx="3759613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588167" y="4342784"/>
                <a:ext cx="11945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출제자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smtClean="0"/>
                  <a:t>점수</a:t>
                </a:r>
                <a:r>
                  <a:rPr lang="en-US" altLang="ko-KR" sz="1400" b="1" dirty="0" smtClean="0"/>
                  <a:t>)</a:t>
                </a:r>
                <a:endParaRPr lang="ko-KR" altLang="en-US" sz="1400" b="1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2982539" y="599872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1</a:t>
                </a:r>
                <a:r>
                  <a:rPr lang="en-US" altLang="ko-KR" sz="1400" b="1" dirty="0"/>
                  <a:t> 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782725" y="598038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2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2719009" y="4256662"/>
                <a:ext cx="774889" cy="146957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2701219" y="5714460"/>
                <a:ext cx="8556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b="1" dirty="0" smtClean="0"/>
                  <a:t>남은 시간</a:t>
                </a:r>
                <a:endParaRPr lang="ko-KR" altLang="en-US" sz="1400" b="1" dirty="0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2809861" y="4430924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라운드</a:t>
                </a:r>
                <a:endParaRPr lang="ko-KR" altLang="en-US" sz="1400" b="1" dirty="0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2809861" y="5022931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캐릭터</a:t>
                </a:r>
                <a:endParaRPr lang="ko-KR" altLang="en-US" sz="1400" b="1" dirty="0"/>
              </a:p>
            </p:txBody>
          </p:sp>
        </p:grpSp>
        <p:cxnSp>
          <p:nvCxnSpPr>
            <p:cNvPr id="22" name="직선 연결선 21"/>
            <p:cNvCxnSpPr/>
            <p:nvPr/>
          </p:nvCxnSpPr>
          <p:spPr>
            <a:xfrm flipH="1">
              <a:off x="1803678" y="5980386"/>
              <a:ext cx="466513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21986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2840</TotalTime>
  <Words>1976</Words>
  <Application>Microsoft Office PowerPoint</Application>
  <PresentationFormat>사용자 지정</PresentationFormat>
  <Paragraphs>421</Paragraphs>
  <Slides>29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41" baseType="lpstr">
      <vt:lpstr>Inter</vt:lpstr>
      <vt:lpstr>Inter Bold</vt:lpstr>
      <vt:lpstr>LG스마트체 Bold</vt:lpstr>
      <vt:lpstr>LG스마트체 SemiBold</vt:lpstr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192</cp:revision>
  <dcterms:created xsi:type="dcterms:W3CDTF">2022-12-09T16:47:26Z</dcterms:created>
  <dcterms:modified xsi:type="dcterms:W3CDTF">2026-04-22T08:21:28Z</dcterms:modified>
</cp:coreProperties>
</file>