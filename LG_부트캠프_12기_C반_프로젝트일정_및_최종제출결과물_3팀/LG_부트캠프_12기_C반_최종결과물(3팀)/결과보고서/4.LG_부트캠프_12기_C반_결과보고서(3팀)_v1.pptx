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7" r:id="rId2"/>
    <p:sldId id="258" r:id="rId3"/>
    <p:sldId id="269" r:id="rId4"/>
    <p:sldId id="271" r:id="rId5"/>
    <p:sldId id="280" r:id="rId6"/>
    <p:sldId id="293" r:id="rId7"/>
    <p:sldId id="272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4" r:id="rId16"/>
    <p:sldId id="285" r:id="rId17"/>
    <p:sldId id="274" r:id="rId18"/>
    <p:sldId id="275" r:id="rId19"/>
    <p:sldId id="276" r:id="rId20"/>
    <p:sldId id="270" r:id="rId21"/>
    <p:sldId id="273" r:id="rId22"/>
    <p:sldId id="259" r:id="rId23"/>
    <p:sldId id="266" r:id="rId24"/>
    <p:sldId id="267" r:id="rId25"/>
    <p:sldId id="277" r:id="rId26"/>
    <p:sldId id="278" r:id="rId27"/>
    <p:sldId id="279" r:id="rId28"/>
    <p:sldId id="284" r:id="rId29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204566" y="138195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733" y="5966265"/>
            <a:ext cx="5613433" cy="3228535"/>
          </a:xfrm>
          <a:prstGeom prst="rect">
            <a:avLst/>
          </a:prstGeom>
        </p:spPr>
      </p:pic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4" y="1828800"/>
            <a:ext cx="5637012" cy="3758008"/>
          </a:xfrm>
          <a:prstGeom prst="rect">
            <a:avLst/>
          </a:prstGeom>
        </p:spPr>
      </p:pic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rcRect t="16712" b="16036"/>
          <a:stretch/>
        </p:blipFill>
        <p:spPr>
          <a:xfrm>
            <a:off x="1045077" y="1863047"/>
            <a:ext cx="6066923" cy="6125029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20" y="2013581"/>
            <a:ext cx="6713042" cy="6713042"/>
          </a:xfrm>
          <a:prstGeom prst="rect">
            <a:avLst/>
          </a:prstGeom>
        </p:spPr>
      </p:pic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시연 영상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9965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246421" y="3467595"/>
            <a:ext cx="10708079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 smtClean="0"/>
              <a:t>기술 구현 방식</a:t>
            </a:r>
            <a:endParaRPr lang="en-US" altLang="ko-KR" dirty="0" smtClean="0"/>
          </a:p>
          <a:p>
            <a:pPr lvl="1">
              <a:lnSpc>
                <a:spcPct val="150000"/>
              </a:lnSpc>
            </a:pPr>
            <a:r>
              <a:rPr lang="en-US" altLang="ko-KR" dirty="0" smtClean="0"/>
              <a:t>/</a:t>
            </a:r>
            <a:r>
              <a:rPr lang="en-US" altLang="ko-KR" dirty="0"/>
              <a:t>dev/fb0 </a:t>
            </a:r>
            <a:r>
              <a:rPr lang="ko-KR" altLang="en-US"/>
              <a:t>디바이스 파일을 </a:t>
            </a:r>
            <a:r>
              <a:rPr lang="en-US" altLang="ko-KR" dirty="0" err="1"/>
              <a:t>mmap</a:t>
            </a:r>
            <a:r>
              <a:rPr lang="en-US" altLang="ko-KR" dirty="0"/>
              <a:t>()</a:t>
            </a:r>
            <a:r>
              <a:rPr lang="ko-KR" altLang="en-US"/>
              <a:t>으로 메모리에 직접 매핑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GUI </a:t>
            </a:r>
            <a:r>
              <a:rPr lang="ko-KR" altLang="en-US"/>
              <a:t>라이브러리 없이 픽셀 단위로 화면 제어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소프트웨어 더블 </a:t>
            </a:r>
            <a:r>
              <a:rPr lang="ko-KR" altLang="en-US" dirty="0" err="1"/>
              <a:t>버퍼링으로</a:t>
            </a:r>
            <a:r>
              <a:rPr lang="ko-KR" altLang="en-US" dirty="0"/>
              <a:t> 깜빡임 없는 </a:t>
            </a:r>
            <a:r>
              <a:rPr lang="ko-KR" altLang="en-US" dirty="0" err="1"/>
              <a:t>렌더링</a:t>
            </a:r>
            <a:endParaRPr lang="ko-KR" altLang="en-US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외부 라이브러리 없이 폰트 </a:t>
            </a:r>
            <a:r>
              <a:rPr lang="ko-KR" altLang="en-US" dirty="0" err="1"/>
              <a:t>렌더링</a:t>
            </a:r>
            <a:r>
              <a:rPr lang="ko-KR" altLang="en-US" dirty="0"/>
              <a:t> 및 </a:t>
            </a:r>
            <a:r>
              <a:rPr lang="en-US" altLang="ko-KR" dirty="0"/>
              <a:t>PPM </a:t>
            </a:r>
            <a:r>
              <a:rPr lang="ko-KR" altLang="en-US"/>
              <a:t>이미지 파싱 </a:t>
            </a:r>
            <a:r>
              <a:rPr lang="ko-KR" altLang="en-US"/>
              <a:t>직접 </a:t>
            </a:r>
            <a:r>
              <a:rPr lang="ko-KR" altLang="en-US" smtClean="0"/>
              <a:t>구현</a:t>
            </a:r>
            <a:endParaRPr lang="en-US" altLang="ko-KR" dirty="0" smtClean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Framebuffer </a:t>
            </a:r>
            <a:r>
              <a:rPr lang="en-US" sz="4450" b="1" dirty="0" err="1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기반</a:t>
            </a:r>
            <a:r>
              <a:rPr lang="en-US" sz="4450" b="1" dirty="0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</a:t>
            </a:r>
            <a:r>
              <a:rPr 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그래픽 구현</a:t>
            </a:r>
            <a:endParaRPr lang="en-US" sz="4450" dirty="0"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063134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외부 그래픽 라이브러리 없이 임베디드 환경에서 UI를 직접 구현</a:t>
              </a:r>
              <a:endParaRPr lang="en-US" sz="175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</p:grp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534" y="3339871"/>
            <a:ext cx="4687073" cy="468707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2541321" y="4560125"/>
            <a:ext cx="1389412" cy="356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HEADER</a:t>
            </a:r>
            <a:endParaRPr lang="ko-KR" altLang="en-US" sz="1600">
              <a:solidFill>
                <a:schemeClr val="tx1"/>
              </a:solidFill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491346" y="5398846"/>
            <a:ext cx="1274618" cy="5031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FRAME</a:t>
            </a:r>
            <a:b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</a:br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BUFFER</a:t>
            </a:r>
            <a:endParaRPr lang="ko-KR" altLang="en-US" sz="1600">
              <a:solidFill>
                <a:schemeClr val="tx1"/>
              </a:solidFill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98718" y="6559945"/>
            <a:ext cx="1274618" cy="5031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DEVICE</a:t>
            </a:r>
            <a:b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</a:br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MEMORY</a:t>
            </a:r>
            <a:endParaRPr lang="ko-KR" altLang="en-US" sz="1600">
              <a:solidFill>
                <a:schemeClr val="tx1"/>
              </a:solidFill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590930" y="3747293"/>
            <a:ext cx="3910280" cy="356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LINUX</a:t>
            </a:r>
            <a:r>
              <a:rPr lang="ko-KR" altLang="en-US" sz="160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 </a:t>
            </a:r>
            <a:r>
              <a:rPr lang="en-US" altLang="ko-KR" sz="1600" dirty="0" smtClean="0">
                <a:solidFill>
                  <a:schemeClr val="tx1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</a:rPr>
              <a:t>FRAMEBUFFER MEMORY MAP</a:t>
            </a:r>
            <a:endParaRPr lang="ko-KR" altLang="en-US" sz="1600">
              <a:solidFill>
                <a:schemeClr val="tx1"/>
              </a:solidFill>
              <a:latin typeface="LG스마트체 Bold" panose="020B0600000101010101" pitchFamily="50" charset="-127"/>
              <a:ea typeface="LG스마트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246421" y="3467595"/>
            <a:ext cx="10708079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이벤트 </a:t>
            </a:r>
            <a:r>
              <a:rPr lang="ko-KR" altLang="en-US" dirty="0" err="1"/>
              <a:t>파싱</a:t>
            </a:r>
            <a:r>
              <a:rPr lang="ko-KR" altLang="en-US" dirty="0"/>
              <a:t> 흐름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/dev/input/event*</a:t>
            </a:r>
            <a:r>
              <a:rPr lang="ko-KR" altLang="en-US"/>
              <a:t>에서 멀티터치 이벤트 직접 파싱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ABS_MT_POSITION_X/Y </a:t>
            </a:r>
            <a:r>
              <a:rPr lang="ko-KR" altLang="en-US"/>
              <a:t>기반 좌표 추출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Raw </a:t>
            </a:r>
            <a:r>
              <a:rPr lang="ko-KR" altLang="en-US"/>
              <a:t>값 → 화면 좌표 변환 </a:t>
            </a:r>
            <a:r>
              <a:rPr lang="en-US" altLang="ko-KR" dirty="0"/>
              <a:t>(</a:t>
            </a:r>
            <a:r>
              <a:rPr lang="ko-KR" altLang="en-US"/>
              <a:t>보정 알고리즘 적용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UI </a:t>
            </a:r>
            <a:r>
              <a:rPr lang="ko-KR" altLang="en-US"/>
              <a:t>이벤트 큐로 전달하여 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Linux Input Subsystem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기반 터치 처리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063134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하드웨어 입력을 직접 해석하여 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UI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와 연결</a:t>
              </a:r>
            </a:p>
          </p:txBody>
        </p:sp>
      </p:grpSp>
      <p:pic>
        <p:nvPicPr>
          <p:cNvPr id="17" name="Image 1" descr="preencoded.png"/>
          <p:cNvPicPr>
            <a:picLocks noChangeAspect="1"/>
          </p:cNvPicPr>
          <p:nvPr/>
        </p:nvPicPr>
        <p:blipFill rotWithShape="1">
          <a:blip r:embed="rId3"/>
          <a:srcRect t="23441" b="27452"/>
          <a:stretch/>
        </p:blipFill>
        <p:spPr>
          <a:xfrm>
            <a:off x="775647" y="4192525"/>
            <a:ext cx="5173890" cy="2540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47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UDP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기반 실시간 통신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&amp;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동기화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1078044" y="3631941"/>
            <a:ext cx="7460314" cy="1644190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저지연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</a:t>
              </a:r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브로드캐스트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UDP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브로드캐스트로 멀티캐스트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통신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구현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en-US" altLang="ko-KR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TCP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오버헤드 없이 실시간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데이터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전송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grpSp>
        <p:nvGrpSpPr>
          <p:cNvPr id="26" name="그룹 25"/>
          <p:cNvGrpSpPr/>
          <p:nvPr/>
        </p:nvGrpSpPr>
        <p:grpSpPr>
          <a:xfrm>
            <a:off x="8710400" y="3631941"/>
            <a:ext cx="7460314" cy="1644190"/>
            <a:chOff x="4008160" y="3964450"/>
            <a:chExt cx="8799378" cy="1644190"/>
          </a:xfrm>
        </p:grpSpPr>
        <p:sp>
          <p:nvSpPr>
            <p:cNvPr id="27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8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9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논블로킹 </a:t>
              </a:r>
              <a:r>
                <a: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I/O</a:t>
              </a:r>
            </a:p>
          </p:txBody>
        </p:sp>
        <p:sp>
          <p:nvSpPr>
            <p:cNvPr id="30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select()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기반 멀티플렉싱으로 블로킹 없이 다중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소켓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처리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1078044" y="5523519"/>
            <a:ext cx="7460314" cy="1644190"/>
            <a:chOff x="4008160" y="3964450"/>
            <a:chExt cx="8799378" cy="1644190"/>
          </a:xfrm>
        </p:grpSpPr>
        <p:sp>
          <p:nvSpPr>
            <p:cNvPr id="32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3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4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패킷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유실 대응</a:t>
              </a:r>
            </a:p>
          </p:txBody>
        </p:sp>
        <p:sp>
          <p:nvSpPr>
            <p:cNvPr id="35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중요 메시지는 반복 전송으로 신뢰성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확보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순서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번호 기반 중복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제거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8710400" y="5523519"/>
            <a:ext cx="7460314" cy="1644190"/>
            <a:chOff x="4008160" y="3964450"/>
            <a:chExt cx="8799378" cy="1644190"/>
          </a:xfrm>
        </p:grpSpPr>
        <p:sp>
          <p:nvSpPr>
            <p:cNvPr id="37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8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9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동기화 배리어</a:t>
              </a:r>
            </a:p>
          </p:txBody>
        </p:sp>
        <p:sp>
          <p:nvSpPr>
            <p:cNvPr id="40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DRAWING_START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패킷으로 모든 클라이언트 렌더링 시점 동기화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1078044" y="7615876"/>
            <a:ext cx="15092670" cy="963811"/>
            <a:chOff x="6567055" y="6581229"/>
            <a:chExt cx="15092670" cy="963811"/>
          </a:xfrm>
        </p:grpSpPr>
        <p:sp>
          <p:nvSpPr>
            <p:cNvPr id="42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43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44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TCP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없이도 실시간 게임 동기화 구현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403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246421" y="3467595"/>
            <a:ext cx="10708079" cy="296883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인터럽트 처리 구조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/dev/gpiochip0 + GPIO_GET_LINEEVENT_IOCTL</a:t>
            </a:r>
            <a:r>
              <a:rPr lang="ko-KR" altLang="en-US"/>
              <a:t>로 커널 이벤트 등록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하강 에지</a:t>
            </a:r>
            <a:r>
              <a:rPr lang="en-US" altLang="ko-KR" dirty="0"/>
              <a:t>(Falling Edge) </a:t>
            </a:r>
            <a:r>
              <a:rPr lang="ko-KR" altLang="en-US"/>
              <a:t>인터럽트 기반 버튼 이벤트 감지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poll()</a:t>
            </a:r>
            <a:r>
              <a:rPr lang="ko-KR" altLang="en-US"/>
              <a:t>로 이벤트 대기</a:t>
            </a:r>
            <a:r>
              <a:rPr lang="en-US" altLang="ko-KR" dirty="0"/>
              <a:t>, </a:t>
            </a:r>
            <a:r>
              <a:rPr lang="ko-KR" altLang="en-US"/>
              <a:t>별도 스레드에서 처리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스레드 간 안전한 상태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altLang="ko-KR" sz="4450" b="1" dirty="0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GPIO </a:t>
            </a:r>
            <a:r>
              <a:rPr lang="ko-KR" altLang="en-US" sz="4450" b="1" smtClean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인터럽트 기반 물리 입력 처리</a:t>
            </a:r>
            <a:endParaRPr lang="ko-KR" altLang="en-US" sz="4450" b="1">
              <a:solidFill>
                <a:srgbClr val="000000"/>
              </a:solidFill>
              <a:latin typeface="LG스마트체 Bold" panose="020B0600000101010101" pitchFamily="50" charset="-127"/>
              <a:ea typeface="LG스마트체 Bold" panose="020B0600000101010101" pitchFamily="50" charset="-127"/>
              <a:cs typeface="Inter Bold" pitchFamily="34" charset="-120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6567055" y="7063134"/>
            <a:ext cx="8284131" cy="963811"/>
            <a:chOff x="6567055" y="6581229"/>
            <a:chExt cx="8284131" cy="963811"/>
          </a:xfrm>
        </p:grpSpPr>
        <p:sp>
          <p:nvSpPr>
            <p:cNvPr id="6" name="Shape 5"/>
            <p:cNvSpPr/>
            <p:nvPr/>
          </p:nvSpPr>
          <p:spPr>
            <a:xfrm>
              <a:off x="6567055" y="6581229"/>
              <a:ext cx="8284131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8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 err="1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커널</a:t>
              </a: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레벨 이벤트를 사용자 공간에서 안정적으로 처리</a:t>
              </a: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851" y="3820340"/>
            <a:ext cx="4206605" cy="420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964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 err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멀티스레딩</a:t>
            </a: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</a:t>
            </a:r>
            <a:r>
              <a:rPr lang="en-US" altLang="ko-KR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+ </a:t>
            </a:r>
            <a:r>
              <a:rPr lang="ko-KR" altLang="en-US" sz="4450" b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이벤트 기반 비동기 구조</a:t>
            </a:r>
          </a:p>
        </p:txBody>
      </p:sp>
      <p:grpSp>
        <p:nvGrpSpPr>
          <p:cNvPr id="25" name="그룹 24"/>
          <p:cNvGrpSpPr/>
          <p:nvPr/>
        </p:nvGrpSpPr>
        <p:grpSpPr>
          <a:xfrm>
            <a:off x="431800" y="2902931"/>
            <a:ext cx="9601200" cy="5072312"/>
            <a:chOff x="1371600" y="2902931"/>
            <a:chExt cx="9601200" cy="5072312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05420" y="2902931"/>
              <a:ext cx="4633362" cy="5072312"/>
            </a:xfrm>
            <a:prstGeom prst="rect">
              <a:avLst/>
            </a:prstGeom>
          </p:spPr>
        </p:pic>
        <p:sp>
          <p:nvSpPr>
            <p:cNvPr id="13" name="Text 5"/>
            <p:cNvSpPr/>
            <p:nvPr/>
          </p:nvSpPr>
          <p:spPr>
            <a:xfrm>
              <a:off x="1371600" y="4319022"/>
              <a:ext cx="2738103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/>
              <a:r>
                <a:rPr lang="ko-KR" altLang="en-US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입력 </a:t>
              </a:r>
              <a:r>
                <a:rPr lang="ko-KR" altLang="en-US" sz="2400" b="1" dirty="0" err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4" name="Text 5"/>
            <p:cNvSpPr/>
            <p:nvPr/>
          </p:nvSpPr>
          <p:spPr>
            <a:xfrm>
              <a:off x="1371600" y="6246784"/>
              <a:ext cx="2738103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/>
              <a:r>
                <a:rPr lang="ko-KR" altLang="en-US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네트워크 </a:t>
              </a:r>
              <a:r>
                <a:rPr lang="ko-KR" altLang="en-US" sz="2400" b="1" dirty="0" err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5" name="Text 5"/>
            <p:cNvSpPr/>
            <p:nvPr/>
          </p:nvSpPr>
          <p:spPr>
            <a:xfrm>
              <a:off x="8934499" y="4319022"/>
              <a:ext cx="2038301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동기화 계층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5"/>
            <p:cNvSpPr/>
            <p:nvPr/>
          </p:nvSpPr>
          <p:spPr>
            <a:xfrm>
              <a:off x="8934498" y="6246784"/>
              <a:ext cx="2038301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en-US" altLang="ko-KR" sz="2400" b="1" dirty="0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UI </a:t>
              </a:r>
              <a:r>
                <a:rPr lang="ko-KR" altLang="en-US" sz="2400" b="1" smtClean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스레드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</p:grpSp>
      <p:grpSp>
        <p:nvGrpSpPr>
          <p:cNvPr id="19" name="그룹 18"/>
          <p:cNvGrpSpPr/>
          <p:nvPr/>
        </p:nvGrpSpPr>
        <p:grpSpPr>
          <a:xfrm>
            <a:off x="1078044" y="8078647"/>
            <a:ext cx="15092670" cy="963811"/>
            <a:chOff x="6567055" y="6581229"/>
            <a:chExt cx="15092670" cy="963811"/>
          </a:xfrm>
        </p:grpSpPr>
        <p:sp>
          <p:nvSpPr>
            <p:cNvPr id="20" name="Shape 5"/>
            <p:cNvSpPr/>
            <p:nvPr/>
          </p:nvSpPr>
          <p:spPr>
            <a:xfrm>
              <a:off x="6567055" y="6581229"/>
              <a:ext cx="15092670" cy="963811"/>
            </a:xfrm>
            <a:prstGeom prst="roundRect">
              <a:avLst>
                <a:gd name="adj" fmla="val 9884"/>
              </a:avLst>
            </a:prstGeom>
            <a:solidFill>
              <a:srgbClr val="B6D6FC"/>
            </a:solidFill>
            <a:ln/>
          </p:spPr>
        </p:sp>
        <p:pic>
          <p:nvPicPr>
            <p:cNvPr id="21" name="Image 1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0683" y="6937194"/>
              <a:ext cx="283488" cy="226814"/>
            </a:xfrm>
            <a:prstGeom prst="rect">
              <a:avLst/>
            </a:prstGeom>
          </p:spPr>
        </p:pic>
        <p:sp>
          <p:nvSpPr>
            <p:cNvPr id="22" name="Text 6"/>
            <p:cNvSpPr/>
            <p:nvPr/>
          </p:nvSpPr>
          <p:spPr>
            <a:xfrm>
              <a:off x="7530985" y="6876591"/>
              <a:ext cx="7320201" cy="36290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>
                <a:lnSpc>
                  <a:spcPts val="2850"/>
                </a:lnSpc>
              </a:pPr>
              <a:r>
                <a:rPr lang="ko-KR" altLang="en-US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입력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네트워크</a:t>
              </a:r>
              <a:r>
                <a:rPr lang="en-US" altLang="ko-KR" sz="1750" dirty="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UI</a:t>
              </a:r>
              <a:r>
                <a:rPr lang="ko-KR" altLang="en-US" sz="1750">
                  <a:solidFill>
                    <a:srgbClr val="000000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를 각각 독립 스레드로 분리하여 블로킹 없이 병행 처리</a:t>
              </a:r>
            </a:p>
          </p:txBody>
        </p:sp>
      </p:grp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3467595"/>
            <a:ext cx="7086600" cy="2968832"/>
          </a:xfrm>
        </p:spPr>
        <p:txBody>
          <a:bodyPr/>
          <a:lstStyle/>
          <a:p>
            <a:r>
              <a:rPr lang="ko-KR" altLang="en-US" dirty="0" err="1"/>
              <a:t>스레드</a:t>
            </a:r>
            <a:r>
              <a:rPr lang="ko-KR" altLang="en-US" dirty="0"/>
              <a:t> 조합 </a:t>
            </a:r>
            <a:r>
              <a:rPr lang="ko-KR" altLang="en-US" dirty="0" smtClean="0"/>
              <a:t>전략</a:t>
            </a:r>
            <a:endParaRPr lang="en-US" altLang="ko-KR" dirty="0" smtClean="0"/>
          </a:p>
          <a:p>
            <a:pPr lvl="1"/>
            <a:r>
              <a:rPr lang="en-US" altLang="ko-KR" dirty="0" err="1"/>
              <a:t>pthread</a:t>
            </a:r>
            <a:r>
              <a:rPr lang="en-US" altLang="ko-KR" dirty="0"/>
              <a:t> + </a:t>
            </a:r>
            <a:r>
              <a:rPr lang="en-US" altLang="ko-KR" dirty="0" err="1"/>
              <a:t>std</a:t>
            </a:r>
            <a:r>
              <a:rPr lang="en-US" altLang="ko-KR" dirty="0"/>
              <a:t>::thread </a:t>
            </a:r>
            <a:r>
              <a:rPr lang="ko-KR" altLang="en-US"/>
              <a:t>혼합 사용</a:t>
            </a:r>
          </a:p>
          <a:p>
            <a:pPr lvl="1"/>
            <a:r>
              <a:rPr lang="en-US" altLang="ko-KR" dirty="0"/>
              <a:t>select + poll + </a:t>
            </a:r>
            <a:r>
              <a:rPr lang="ko-KR" altLang="en-US"/>
              <a:t>스레드 조합으로 </a:t>
            </a:r>
            <a:r>
              <a:rPr lang="ko-KR" altLang="en-US"/>
              <a:t>리소스 </a:t>
            </a:r>
            <a:r>
              <a:rPr lang="ko-KR" altLang="en-US" smtClean="0"/>
              <a:t>효율화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r>
              <a:rPr lang="ko-KR" altLang="en-US" dirty="0"/>
              <a:t>동기화 기법</a:t>
            </a:r>
          </a:p>
          <a:p>
            <a:pPr lvl="1"/>
            <a:r>
              <a:rPr lang="en-US" altLang="ko-KR" dirty="0" err="1"/>
              <a:t>std</a:t>
            </a:r>
            <a:r>
              <a:rPr lang="en-US" altLang="ko-KR" dirty="0"/>
              <a:t>::atomic</a:t>
            </a:r>
            <a:r>
              <a:rPr lang="ko-KR" altLang="en-US"/>
              <a:t>으로 경량 상태 공유</a:t>
            </a:r>
          </a:p>
          <a:p>
            <a:pPr lvl="1"/>
            <a:r>
              <a:rPr lang="ko-KR" altLang="en-US" dirty="0" err="1"/>
              <a:t>뮤텍스</a:t>
            </a:r>
            <a:r>
              <a:rPr lang="ko-KR" altLang="en-US" dirty="0"/>
              <a:t> 최소화</a:t>
            </a:r>
            <a:r>
              <a:rPr lang="en-US" altLang="ko-KR" dirty="0"/>
              <a:t>, </a:t>
            </a:r>
            <a:r>
              <a:rPr lang="ko-KR" altLang="en-US"/>
              <a:t>이벤트 큐로 </a:t>
            </a:r>
            <a:r>
              <a:rPr lang="ko-KR" altLang="en-US"/>
              <a:t>데이터 </a:t>
            </a:r>
            <a:r>
              <a:rPr lang="ko-KR" altLang="en-US" smtClean="0"/>
              <a:t>전달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920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 err="1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임베디드</a:t>
            </a: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 환경 최적화 설계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1078044" y="3631941"/>
            <a:ext cx="7460314" cy="1644190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크로스 컴파일</a:t>
              </a: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aarch64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타겟으로 호스트에서 빌드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최소 런타임 의존성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1078044" y="5523519"/>
            <a:ext cx="7460314" cy="1644190"/>
            <a:chOff x="4008160" y="3964450"/>
            <a:chExt cx="8799378" cy="1644190"/>
          </a:xfrm>
        </p:grpSpPr>
        <p:sp>
          <p:nvSpPr>
            <p:cNvPr id="32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33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34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시스템 콜 직접 제어</a:t>
              </a:r>
            </a:p>
          </p:txBody>
        </p:sp>
        <p:sp>
          <p:nvSpPr>
            <p:cNvPr id="35" name="Text 6"/>
            <p:cNvSpPr/>
            <p:nvPr/>
          </p:nvSpPr>
          <p:spPr>
            <a:xfrm>
              <a:off x="4641155" y="4729907"/>
              <a:ext cx="7729566" cy="63134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추상화 계층 제거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커널 인터페이스 직접 호출로 오버헤드 최소화</a:t>
              </a:r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9880599" y="1397000"/>
            <a:ext cx="7675563" cy="8478838"/>
            <a:chOff x="9143999" y="0"/>
            <a:chExt cx="7675563" cy="8478838"/>
          </a:xfrm>
        </p:grpSpPr>
        <p:sp>
          <p:nvSpPr>
            <p:cNvPr id="46" name="Shape 0"/>
            <p:cNvSpPr/>
            <p:nvPr/>
          </p:nvSpPr>
          <p:spPr>
            <a:xfrm>
              <a:off x="9143999" y="0"/>
              <a:ext cx="7675563" cy="8478838"/>
            </a:xfrm>
            <a:prstGeom prst="rect">
              <a:avLst/>
            </a:prstGeom>
            <a:solidFill>
              <a:srgbClr val="DADBF1"/>
            </a:solidFill>
            <a:ln/>
          </p:spPr>
        </p:sp>
        <p:pic>
          <p:nvPicPr>
            <p:cNvPr id="47" name="Image 0" descr="preencode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438448" y="170021"/>
              <a:ext cx="5259705" cy="78895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928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시스템 통합 아키텍처</a:t>
            </a:r>
          </a:p>
        </p:txBody>
      </p:sp>
      <p:sp>
        <p:nvSpPr>
          <p:cNvPr id="24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9867901" y="3467595"/>
            <a:ext cx="7086600" cy="2968832"/>
          </a:xfrm>
        </p:spPr>
        <p:txBody>
          <a:bodyPr/>
          <a:lstStyle/>
          <a:p>
            <a:r>
              <a:rPr lang="ko-KR" altLang="en-US" sz="2400" dirty="0"/>
              <a:t>설계 원칙</a:t>
            </a:r>
          </a:p>
          <a:p>
            <a:pPr lvl="1"/>
            <a:r>
              <a:rPr lang="ko-KR" altLang="en-US" sz="2000" dirty="0"/>
              <a:t>모든 계층이 외부 라이브러리 없이 직접 구현</a:t>
            </a:r>
          </a:p>
          <a:p>
            <a:pPr lvl="1"/>
            <a:r>
              <a:rPr lang="ko-KR" altLang="en-US" sz="2000" dirty="0"/>
              <a:t>각 계층이 독립 </a:t>
            </a:r>
            <a:r>
              <a:rPr lang="ko-KR" altLang="en-US" sz="2000" dirty="0" err="1"/>
              <a:t>스레드로</a:t>
            </a:r>
            <a:r>
              <a:rPr lang="ko-KR" altLang="en-US" sz="2000" dirty="0"/>
              <a:t> 동작하며 이벤트 큐로 연결</a:t>
            </a:r>
          </a:p>
          <a:p>
            <a:pPr lvl="1"/>
            <a:r>
              <a:rPr lang="ko-KR" altLang="en-US" sz="2000" dirty="0" err="1"/>
              <a:t>저사양</a:t>
            </a:r>
            <a:r>
              <a:rPr lang="ko-KR" altLang="en-US" sz="2000" dirty="0"/>
              <a:t> </a:t>
            </a:r>
            <a:r>
              <a:rPr lang="en-US" altLang="ko-KR" sz="2000" dirty="0"/>
              <a:t>SBC </a:t>
            </a:r>
            <a:r>
              <a:rPr lang="ko-KR" altLang="en-US" sz="2000"/>
              <a:t>환경에서 메모리</a:t>
            </a:r>
            <a:r>
              <a:rPr lang="en-US" altLang="ko-KR" sz="2000" dirty="0"/>
              <a:t>·CPU </a:t>
            </a:r>
            <a:r>
              <a:rPr lang="ko-KR" altLang="en-US" sz="2000"/>
              <a:t>오버헤드 </a:t>
            </a:r>
            <a:r>
              <a:rPr lang="ko-KR" altLang="en-US" sz="2000" smtClean="0"/>
              <a:t>최소화</a:t>
            </a:r>
            <a:r>
              <a:rPr lang="en-US" altLang="ko-KR" sz="2000" dirty="0" smtClean="0"/>
              <a:t/>
            </a:r>
            <a:br>
              <a:rPr lang="en-US" altLang="ko-KR" sz="2000" dirty="0" smtClean="0"/>
            </a:br>
            <a:endParaRPr lang="en-US" altLang="ko-KR" sz="2000" dirty="0" smtClean="0"/>
          </a:p>
          <a:p>
            <a:r>
              <a:rPr lang="ko-KR" altLang="en-US" sz="2400" dirty="0"/>
              <a:t>주요 기술 </a:t>
            </a:r>
            <a:r>
              <a:rPr lang="ko-KR" altLang="en-US" sz="2400" dirty="0" err="1"/>
              <a:t>스택</a:t>
            </a:r>
            <a:endParaRPr lang="ko-KR" altLang="en-US" sz="2400" dirty="0"/>
          </a:p>
          <a:p>
            <a:pPr lvl="1"/>
            <a:r>
              <a:rPr lang="en-US" altLang="ko-KR" sz="2000" dirty="0"/>
              <a:t>/dev/fb0, </a:t>
            </a:r>
            <a:r>
              <a:rPr lang="en-US" altLang="ko-KR" sz="2000" dirty="0" err="1"/>
              <a:t>mmap</a:t>
            </a:r>
            <a:r>
              <a:rPr lang="en-US" altLang="ko-KR" sz="2000" dirty="0"/>
              <a:t>, select, poll</a:t>
            </a:r>
          </a:p>
          <a:p>
            <a:pPr lvl="1"/>
            <a:r>
              <a:rPr lang="en-US" altLang="ko-KR" sz="2000" dirty="0"/>
              <a:t>/dev/input/event*, /dev/gpiochip0</a:t>
            </a:r>
          </a:p>
          <a:p>
            <a:pPr lvl="1"/>
            <a:r>
              <a:rPr lang="en-US" altLang="ko-KR" sz="2000" dirty="0" err="1"/>
              <a:t>pthread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::thread, </a:t>
            </a:r>
            <a:r>
              <a:rPr lang="en-US" altLang="ko-KR" sz="2000" dirty="0" err="1"/>
              <a:t>std</a:t>
            </a:r>
            <a:r>
              <a:rPr lang="en-US" altLang="ko-KR" sz="2000" dirty="0"/>
              <a:t>::atomic</a:t>
            </a:r>
          </a:p>
          <a:p>
            <a:pPr lvl="1"/>
            <a:r>
              <a:rPr lang="en-US" altLang="ko-KR" sz="2000" dirty="0"/>
              <a:t>UDP </a:t>
            </a:r>
            <a:r>
              <a:rPr lang="ko-KR" altLang="en-US" sz="2000"/>
              <a:t>브로드캐스트 </a:t>
            </a:r>
            <a:r>
              <a:rPr lang="en-US" altLang="ko-KR" sz="2000" dirty="0"/>
              <a:t>+ </a:t>
            </a:r>
            <a:r>
              <a:rPr lang="ko-KR" altLang="en-US" sz="2000"/>
              <a:t>동기화 </a:t>
            </a:r>
            <a:r>
              <a:rPr lang="ko-KR" altLang="en-US" sz="2000" smtClean="0"/>
              <a:t>배리어</a:t>
            </a:r>
            <a:endParaRPr lang="ko-KR" altLang="en-US" sz="200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18" y="2933464"/>
            <a:ext cx="9321183" cy="576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143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5" name="Text 2"/>
          <p:cNvSpPr/>
          <p:nvPr/>
        </p:nvSpPr>
        <p:spPr>
          <a:xfrm>
            <a:off x="876917" y="2194152"/>
            <a:ext cx="8655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ko-KR" altLang="en-US" sz="4450" b="1" dirty="0">
                <a:solidFill>
                  <a:srgbClr val="000000"/>
                </a:solidFill>
                <a:latin typeface="LG스마트체 Bold" panose="020B0600000101010101" pitchFamily="50" charset="-127"/>
                <a:ea typeface="LG스마트체 Bold" panose="020B0600000101010101" pitchFamily="50" charset="-127"/>
                <a:cs typeface="Inter Bold" pitchFamily="34" charset="-120"/>
              </a:rPr>
              <a:t>핵심 정리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876917" y="3236690"/>
            <a:ext cx="7460314" cy="1297408"/>
            <a:chOff x="4008160" y="3964450"/>
            <a:chExt cx="8799378" cy="1644190"/>
          </a:xfrm>
        </p:grpSpPr>
        <p:sp>
          <p:nvSpPr>
            <p:cNvPr id="13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4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5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라이브러리 없는 그래픽 </a:t>
              </a:r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스택</a:t>
              </a:r>
              <a:endParaRPr lang="ko-KR" altLang="en-US" sz="2400" b="1" dirty="0">
                <a:solidFill>
                  <a:srgbClr val="272525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Inter Bold" pitchFamily="34" charset="-120"/>
              </a:endParaRPr>
            </a:p>
          </p:txBody>
        </p:sp>
        <p:sp>
          <p:nvSpPr>
            <p:cNvPr id="16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Framebuffer + </a:t>
              </a:r>
              <a:r>
                <a:rPr lang="en-US" altLang="ko-KR" sz="2000" dirty="0" err="1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mmap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 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더블버퍼링으로 완전 자체 구현</a:t>
              </a:r>
            </a:p>
          </p:txBody>
        </p:sp>
      </p:grpSp>
      <p:sp>
        <p:nvSpPr>
          <p:cNvPr id="46" name="Shape 0"/>
          <p:cNvSpPr/>
          <p:nvPr/>
        </p:nvSpPr>
        <p:spPr>
          <a:xfrm>
            <a:off x="9880599" y="1397000"/>
            <a:ext cx="7675563" cy="8478838"/>
          </a:xfrm>
          <a:prstGeom prst="rect">
            <a:avLst/>
          </a:prstGeom>
          <a:solidFill>
            <a:srgbClr val="DADBF1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0148" y="1691640"/>
            <a:ext cx="5259705" cy="7889558"/>
          </a:xfrm>
          <a:prstGeom prst="rect">
            <a:avLst/>
          </a:prstGeom>
        </p:spPr>
      </p:pic>
      <p:grpSp>
        <p:nvGrpSpPr>
          <p:cNvPr id="19" name="그룹 18"/>
          <p:cNvGrpSpPr/>
          <p:nvPr/>
        </p:nvGrpSpPr>
        <p:grpSpPr>
          <a:xfrm>
            <a:off x="876917" y="4721518"/>
            <a:ext cx="7460314" cy="1297408"/>
            <a:chOff x="4008160" y="3964450"/>
            <a:chExt cx="8799378" cy="1644190"/>
          </a:xfrm>
        </p:grpSpPr>
        <p:sp>
          <p:nvSpPr>
            <p:cNvPr id="20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1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2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하드웨어 입력 직접 해석</a:t>
              </a:r>
            </a:p>
          </p:txBody>
        </p:sp>
        <p:sp>
          <p:nvSpPr>
            <p:cNvPr id="23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Input Subsystem + GPIO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인터럽트로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UI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와 직접 연결</a:t>
              </a: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876917" y="6214137"/>
            <a:ext cx="7460314" cy="1297408"/>
            <a:chOff x="4008160" y="3964450"/>
            <a:chExt cx="8799378" cy="1644190"/>
          </a:xfrm>
        </p:grpSpPr>
        <p:sp>
          <p:nvSpPr>
            <p:cNvPr id="40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41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42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en-US" altLang="ko-KR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TCP </a:t>
              </a:r>
              <a:r>
                <a:rPr lang="ko-KR" altLang="en-US" sz="2400" b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없는 실시간 동기화</a:t>
              </a:r>
            </a:p>
          </p:txBody>
        </p:sp>
        <p:sp>
          <p:nvSpPr>
            <p:cNvPr id="43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UDP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브로드캐스트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배리어로 저지연 멀티플레이어 구현</a:t>
              </a:r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876917" y="7698965"/>
            <a:ext cx="7460314" cy="1297408"/>
            <a:chOff x="4008160" y="3964450"/>
            <a:chExt cx="8799378" cy="1644190"/>
          </a:xfrm>
        </p:grpSpPr>
        <p:sp>
          <p:nvSpPr>
            <p:cNvPr id="48" name="Shape 3"/>
            <p:cNvSpPr/>
            <p:nvPr/>
          </p:nvSpPr>
          <p:spPr>
            <a:xfrm>
              <a:off x="4057206" y="3964450"/>
              <a:ext cx="8750332" cy="1644190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49" name="Shape 4"/>
            <p:cNvSpPr/>
            <p:nvPr/>
          </p:nvSpPr>
          <p:spPr>
            <a:xfrm>
              <a:off x="4008160" y="3964450"/>
              <a:ext cx="196183" cy="1644190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50" name="Text 5"/>
            <p:cNvSpPr/>
            <p:nvPr/>
          </p:nvSpPr>
          <p:spPr>
            <a:xfrm>
              <a:off x="4641155" y="4211838"/>
              <a:ext cx="4847360" cy="34316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 err="1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저사양</a:t>
              </a:r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 최적화</a:t>
              </a:r>
            </a:p>
          </p:txBody>
        </p:sp>
        <p:sp>
          <p:nvSpPr>
            <p:cNvPr id="51" name="Text 6"/>
            <p:cNvSpPr/>
            <p:nvPr/>
          </p:nvSpPr>
          <p:spPr>
            <a:xfrm>
              <a:off x="4641155" y="4947868"/>
              <a:ext cx="7729566" cy="4133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aarch64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크로스컴파일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정적링크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+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시스템콜 직접 제어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6788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모니터링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6276" y="1778000"/>
            <a:ext cx="7154118" cy="41590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387" y="4493103"/>
            <a:ext cx="6724813" cy="394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33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r>
              <a:rPr lang="ko-KR" altLang="en-US" dirty="0" err="1"/>
              <a:t>듀얼</a:t>
            </a:r>
            <a:r>
              <a:rPr lang="en-US" altLang="ko-KR" dirty="0"/>
              <a:t> </a:t>
            </a:r>
            <a:r>
              <a:rPr lang="ko-KR" altLang="en-US" smtClean="0"/>
              <a:t>버퍼로 부드러운 화면 전환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qt</a:t>
            </a:r>
            <a:r>
              <a:rPr lang="ko-KR" altLang="en-US"/>
              <a:t> </a:t>
            </a:r>
            <a:r>
              <a:rPr lang="ko-KR" altLang="en-US" smtClean="0"/>
              <a:t>대비 우수함</a:t>
            </a:r>
            <a:endParaRPr lang="en-US" altLang="ko-KR" dirty="0" smtClean="0"/>
          </a:p>
          <a:p>
            <a:r>
              <a:rPr lang="ko-KR" altLang="en-US" dirty="0" smtClean="0"/>
              <a:t>최신 </a:t>
            </a:r>
            <a:r>
              <a:rPr lang="ko-KR" altLang="en-US" dirty="0" err="1" smtClean="0"/>
              <a:t>커널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포팅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리눅스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6.12.81</a:t>
            </a:r>
          </a:p>
          <a:p>
            <a:r>
              <a:rPr lang="ko-KR" altLang="en-US" dirty="0" smtClean="0"/>
              <a:t>상황에 따른 캐릭터 반응</a:t>
            </a:r>
            <a:endParaRPr lang="en-US" altLang="ko-KR" dirty="0" smtClean="0"/>
          </a:p>
          <a:p>
            <a:r>
              <a:rPr lang="ko-KR" altLang="en-US" dirty="0" smtClean="0"/>
              <a:t>음향 파일 재생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737179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72721" y="-68440"/>
            <a:ext cx="8310380" cy="15375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 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기존 </a:t>
            </a:r>
            <a:r>
              <a:rPr lang="en-US" altLang="ko-KR" dirty="0" smtClean="0"/>
              <a:t>UDP</a:t>
            </a:r>
            <a:r>
              <a:rPr lang="ko-KR" altLang="en-US" smtClean="0"/>
              <a:t>에서 온라인 서비스로 확장하자</a:t>
            </a:r>
            <a:endParaRPr lang="en-US" altLang="ko-KR" dirty="0" smtClean="0"/>
          </a:p>
          <a:p>
            <a:r>
              <a:rPr lang="ko-KR" altLang="en-US" dirty="0" smtClean="0"/>
              <a:t>좋은 디스플레이로 교체해 터치가 잘되도록 개선하자</a:t>
            </a:r>
            <a:endParaRPr lang="en-US" altLang="ko-KR" dirty="0" smtClean="0"/>
          </a:p>
          <a:p>
            <a:r>
              <a:rPr lang="en-US" altLang="ko-KR" dirty="0" smtClean="0"/>
              <a:t>3</a:t>
            </a:r>
            <a:r>
              <a:rPr lang="ko-KR" altLang="en-US" smtClean="0"/>
              <a:t>인 보다 더 많은 인원이 동시에 참가할 수 있도록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340195" y="246759"/>
            <a:ext cx="8437380" cy="9152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참가자 및 출제자가 그린 그림이 공유가 되는 규칙을 정하고 </a:t>
            </a:r>
            <a:r>
              <a:rPr lang="ko-KR" altLang="en-US" dirty="0" smtClean="0"/>
              <a:t>구현하고 테스트 하는 과정에서 시행착오가 많았음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게임을 플레이하며</a:t>
            </a:r>
            <a:r>
              <a:rPr lang="en-US" altLang="ko-KR" dirty="0"/>
              <a:t> </a:t>
            </a:r>
            <a:r>
              <a:rPr lang="ko-KR" altLang="en-US" smtClean="0"/>
              <a:t>규칙을 업데이트 해나감</a:t>
            </a:r>
            <a:endParaRPr lang="en-US" altLang="ko-KR" dirty="0" smtClean="0"/>
          </a:p>
          <a:p>
            <a:r>
              <a:rPr lang="ko-KR" altLang="en-US" dirty="0" smtClean="0"/>
              <a:t>버그를 찾기 위한 게임 플레이에 소모되는 시간이 많음</a:t>
            </a:r>
            <a:endParaRPr lang="en-US" altLang="ko-KR" dirty="0" smtClean="0"/>
          </a:p>
          <a:p>
            <a:r>
              <a:rPr lang="ko-KR" altLang="en-US" dirty="0" smtClean="0"/>
              <a:t>버그 하나를 해결하면 이전에 해결한 버그가 다시 재현됨</a:t>
            </a:r>
            <a:endParaRPr lang="en-US" altLang="ko-KR" dirty="0" smtClean="0"/>
          </a:p>
          <a:p>
            <a:r>
              <a:rPr lang="ko-KR" altLang="en-US" dirty="0" smtClean="0"/>
              <a:t>교육 기간에 배운 내용을 프로젝트에 </a:t>
            </a:r>
            <a:r>
              <a:rPr lang="ko-KR" altLang="en-US" dirty="0" err="1" smtClean="0"/>
              <a:t>적용함으로서</a:t>
            </a:r>
            <a:r>
              <a:rPr lang="ko-KR" altLang="en-US" dirty="0" smtClean="0"/>
              <a:t> 복습이 되고 피와 살이 되고 기억에 잘 남음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아쉬운 점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하드웨어의 한계로 편한 </a:t>
            </a:r>
            <a:r>
              <a:rPr lang="ko-KR" altLang="en-US" dirty="0" err="1" smtClean="0"/>
              <a:t>터치감을</a:t>
            </a:r>
            <a:r>
              <a:rPr lang="ko-KR" altLang="en-US" dirty="0"/>
              <a:t> </a:t>
            </a:r>
            <a:r>
              <a:rPr lang="ko-KR" altLang="en-US" dirty="0" smtClean="0"/>
              <a:t>게임에 구현해내지 못함</a:t>
            </a:r>
            <a:endParaRPr lang="en-US" altLang="ko-KR" dirty="0" smtClean="0"/>
          </a:p>
          <a:p>
            <a:pPr lvl="1"/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60792" y="638193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크기 </a:t>
            </a:r>
            <a:r>
              <a:rPr lang="ko-KR" altLang="en-US" b="1" dirty="0" smtClean="0">
                <a:solidFill>
                  <a:schemeClr val="tx1"/>
                </a:solidFill>
              </a:rPr>
              <a:t>조정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찌그러짐 </a:t>
            </a:r>
            <a:r>
              <a:rPr lang="ko-KR" altLang="en-US" b="1" dirty="0">
                <a:solidFill>
                  <a:schemeClr val="tx1"/>
                </a:solidFill>
              </a:rPr>
              <a:t>제거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버그 </a:t>
            </a:r>
            <a:r>
              <a:rPr lang="ko-KR" altLang="en-US" b="1" dirty="0" smtClean="0">
                <a:solidFill>
                  <a:schemeClr val="tx1"/>
                </a:solidFill>
              </a:rPr>
              <a:t>발견</a:t>
            </a:r>
            <a:r>
              <a:rPr lang="en-US" altLang="ko-KR" b="1" dirty="0" smtClean="0">
                <a:solidFill>
                  <a:schemeClr val="tx1"/>
                </a:solidFill>
              </a:rPr>
              <a:t>1 (</a:t>
            </a:r>
            <a:r>
              <a:rPr lang="ko-KR" altLang="en-US" b="1" smtClean="0">
                <a:solidFill>
                  <a:schemeClr val="tx1"/>
                </a:solidFill>
              </a:rPr>
              <a:t>미해결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이 정답을 제출한 상태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 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en-US" altLang="ko-KR" b="1" dirty="0">
                <a:solidFill>
                  <a:schemeClr val="tx1"/>
                </a:solidFill>
              </a:rPr>
              <a:t>submit</a:t>
            </a:r>
            <a:r>
              <a:rPr lang="ko-KR" altLang="en-US" b="1">
                <a:solidFill>
                  <a:schemeClr val="tx1"/>
                </a:solidFill>
              </a:rPr>
              <a:t>을 난타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1 </a:t>
            </a:r>
            <a:r>
              <a:rPr lang="ko-KR" altLang="en-US" b="1">
                <a:solidFill>
                  <a:schemeClr val="tx1"/>
                </a:solidFill>
              </a:rPr>
              <a:t>은 오답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의 답이 제출될 때 초반 부분만 작성된 채로 짤린 정답이 </a:t>
            </a:r>
            <a:r>
              <a:rPr lang="ko-KR" altLang="en-US" b="1" smtClean="0">
                <a:solidFill>
                  <a:schemeClr val="tx1"/>
                </a:solidFill>
              </a:rPr>
              <a:t>전송됨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버그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발견</a:t>
            </a:r>
            <a:r>
              <a:rPr lang="en-US" altLang="ko-KR" b="1" dirty="0" smtClean="0">
                <a:solidFill>
                  <a:schemeClr val="tx1"/>
                </a:solidFill>
              </a:rPr>
              <a:t>2(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정답을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제출한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상태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출제자가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체점을</a:t>
            </a:r>
            <a:r>
              <a:rPr lang="ko-KR" altLang="en-US" b="1" dirty="0" smtClean="0">
                <a:solidFill>
                  <a:schemeClr val="tx1"/>
                </a:solidFill>
              </a:rPr>
              <a:t> 하기 전에 화면을 </a:t>
            </a: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참가자의 화면에서는 출제자의 그림이 </a:t>
            </a: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  <a:r>
              <a:rPr lang="ko-KR" altLang="en-US" b="1" smtClean="0">
                <a:solidFill>
                  <a:schemeClr val="tx1"/>
                </a:solidFill>
              </a:rPr>
              <a:t>되지 않음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다른 참가자 화면에서는 출제자의 그림이 </a:t>
            </a:r>
            <a:r>
              <a:rPr lang="en-US" altLang="ko-KR" b="1" dirty="0" smtClean="0">
                <a:solidFill>
                  <a:schemeClr val="tx1"/>
                </a:solidFill>
              </a:rPr>
              <a:t>clear </a:t>
            </a:r>
            <a:r>
              <a:rPr lang="ko-KR" altLang="en-US" b="1" smtClean="0">
                <a:solidFill>
                  <a:schemeClr val="tx1"/>
                </a:solidFill>
              </a:rPr>
              <a:t>됨</a:t>
            </a:r>
            <a:endParaRPr lang="ko-KR" altLang="en-US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배경 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영상 구성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(260422)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 </a:t>
            </a: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 </a:t>
            </a: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결과보고서 </a:t>
            </a:r>
            <a:r>
              <a:rPr lang="en-US" altLang="ko-KR" b="1" dirty="0">
                <a:solidFill>
                  <a:schemeClr val="tx1"/>
                </a:solidFill>
              </a:rPr>
              <a:t>4/23 </a:t>
            </a:r>
            <a:r>
              <a:rPr lang="ko-KR" altLang="en-US" b="1">
                <a:solidFill>
                  <a:schemeClr val="tx1"/>
                </a:solidFill>
              </a:rPr>
              <a:t>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51428" y="4918834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2198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2763</TotalTime>
  <Words>2000</Words>
  <Application>Microsoft Office PowerPoint</Application>
  <PresentationFormat>사용자 지정</PresentationFormat>
  <Paragraphs>430</Paragraphs>
  <Slides>28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40" baseType="lpstr">
      <vt:lpstr>Inter Bold</vt:lpstr>
      <vt:lpstr>LG스마트체 Bold</vt:lpstr>
      <vt:lpstr>LG스마트체 SemiBold</vt:lpstr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Inter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185</cp:revision>
  <dcterms:created xsi:type="dcterms:W3CDTF">2022-12-09T16:47:26Z</dcterms:created>
  <dcterms:modified xsi:type="dcterms:W3CDTF">2026-04-22T07:04:28Z</dcterms:modified>
</cp:coreProperties>
</file>