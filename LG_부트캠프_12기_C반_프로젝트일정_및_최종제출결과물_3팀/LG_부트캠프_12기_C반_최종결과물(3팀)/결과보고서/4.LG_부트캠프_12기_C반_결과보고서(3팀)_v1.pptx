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7" r:id="rId2"/>
    <p:sldId id="258" r:id="rId3"/>
    <p:sldId id="269" r:id="rId4"/>
    <p:sldId id="271" r:id="rId5"/>
    <p:sldId id="280" r:id="rId6"/>
    <p:sldId id="293" r:id="rId7"/>
    <p:sldId id="296" r:id="rId8"/>
    <p:sldId id="272" r:id="rId9"/>
    <p:sldId id="287" r:id="rId10"/>
    <p:sldId id="301" r:id="rId11"/>
    <p:sldId id="286" r:id="rId12"/>
    <p:sldId id="288" r:id="rId13"/>
    <p:sldId id="289" r:id="rId14"/>
    <p:sldId id="290" r:id="rId15"/>
    <p:sldId id="291" r:id="rId16"/>
    <p:sldId id="292" r:id="rId17"/>
    <p:sldId id="294" r:id="rId18"/>
    <p:sldId id="285" r:id="rId19"/>
    <p:sldId id="274" r:id="rId20"/>
    <p:sldId id="299" r:id="rId21"/>
    <p:sldId id="276" r:id="rId22"/>
    <p:sldId id="300" r:id="rId23"/>
    <p:sldId id="298" r:id="rId24"/>
    <p:sldId id="270" r:id="rId25"/>
    <p:sldId id="273" r:id="rId26"/>
    <p:sldId id="259" r:id="rId27"/>
    <p:sldId id="266" r:id="rId28"/>
    <p:sldId id="267" r:id="rId29"/>
    <p:sldId id="277" r:id="rId30"/>
    <p:sldId id="278" r:id="rId31"/>
    <p:sldId id="279" r:id="rId32"/>
    <p:sldId id="284" r:id="rId33"/>
    <p:sldId id="297" r:id="rId34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시연 영상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9965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mtClean="0"/>
              <a:t>Ssss</a:t>
            </a:r>
          </a:p>
          <a:p>
            <a:r>
              <a:rPr lang="en-US" altLang="ko-KR" smtClean="0"/>
              <a:t>Sss</a:t>
            </a:r>
            <a:endParaRPr lang="en-US" altLang="ko-KR" dirty="0" smtClean="0"/>
          </a:p>
          <a:p>
            <a:r>
              <a:rPr lang="en-US" altLang="ko-KR" dirty="0" err="1" smtClean="0"/>
              <a:t>sss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455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7128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Double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Frame Buffer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그래픽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구현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" t="56022" r="55695" b="21914"/>
          <a:stretch/>
        </p:blipFill>
        <p:spPr>
          <a:xfrm>
            <a:off x="1043509" y="3605030"/>
            <a:ext cx="7111383" cy="238906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91" t="11092" r="1441" b="82314"/>
          <a:stretch/>
        </p:blipFill>
        <p:spPr>
          <a:xfrm>
            <a:off x="8407708" y="2648861"/>
            <a:ext cx="8521083" cy="689537"/>
          </a:xfrm>
          <a:prstGeom prst="rect">
            <a:avLst/>
          </a:prstGeom>
        </p:spPr>
      </p:pic>
      <p:sp>
        <p:nvSpPr>
          <p:cNvPr id="21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562095" y="6540500"/>
            <a:ext cx="8074213" cy="114752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기존 화면을 지우면서 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또는 배경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이 먼저 보임 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/>
            </a:r>
            <a:b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</a:b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→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깜빡임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발생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복잡한 </a:t>
            </a: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장면이나 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CPU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사용량이 높을 때 깜빡임이 더 심해짐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" t="11334" r="54602" b="82484"/>
          <a:stretch/>
        </p:blipFill>
        <p:spPr>
          <a:xfrm>
            <a:off x="980317" y="2658928"/>
            <a:ext cx="7237766" cy="669405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4" t="55892" r="1614" b="20193"/>
          <a:stretch/>
        </p:blipFill>
        <p:spPr>
          <a:xfrm>
            <a:off x="8407708" y="3542432"/>
            <a:ext cx="8364879" cy="2514258"/>
          </a:xfrm>
          <a:prstGeom prst="rect">
            <a:avLst/>
          </a:prstGeom>
        </p:spPr>
      </p:pic>
      <p:sp>
        <p:nvSpPr>
          <p:cNvPr id="24" name="텍스트 개체 틀 1"/>
          <p:cNvSpPr txBox="1">
            <a:spLocks/>
          </p:cNvSpPr>
          <p:nvPr/>
        </p:nvSpPr>
        <p:spPr>
          <a:xfrm>
            <a:off x="8553040" y="6540500"/>
            <a:ext cx="8074213" cy="114752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버퍼에서 모든 그리기를 완료한 후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프런트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/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버퍼를 교체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스왑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하여 완성된 화면을 한 번에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출력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완성된 장면을 한 번에 출력하여 불필요한 중간 장면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그리기 과정 노출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없애 부드럽게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화면 전환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UDP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 실시간 통신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&amp;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동기화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078044" y="3631941"/>
            <a:ext cx="15092670" cy="3535768"/>
            <a:chOff x="1078044" y="3631941"/>
            <a:chExt cx="15092670" cy="3535768"/>
          </a:xfrm>
        </p:grpSpPr>
        <p:grpSp>
          <p:nvGrpSpPr>
            <p:cNvPr id="11" name="그룹 10"/>
            <p:cNvGrpSpPr/>
            <p:nvPr/>
          </p:nvGrpSpPr>
          <p:grpSpPr>
            <a:xfrm>
              <a:off x="1078044" y="3631941"/>
              <a:ext cx="7460314" cy="1644190"/>
              <a:chOff x="4008160" y="3964450"/>
              <a:chExt cx="8799378" cy="1644190"/>
            </a:xfrm>
          </p:grpSpPr>
          <p:sp>
            <p:nvSpPr>
              <p:cNvPr id="13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4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5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저지연</a:t>
                </a:r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</a:t>
                </a:r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브로드캐스트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6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UDP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브로드캐스트로 멀티캐스트 통신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구현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r>
                  <a:rPr lang="en-US" altLang="ko-KR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TCP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오버헤드 없이 실시간 데이터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전송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26" name="그룹 25"/>
            <p:cNvGrpSpPr/>
            <p:nvPr/>
          </p:nvGrpSpPr>
          <p:grpSpPr>
            <a:xfrm>
              <a:off x="8710400" y="3631941"/>
              <a:ext cx="7460314" cy="1644190"/>
              <a:chOff x="4008160" y="3964450"/>
              <a:chExt cx="8799378" cy="1644190"/>
            </a:xfrm>
          </p:grpSpPr>
          <p:sp>
            <p:nvSpPr>
              <p:cNvPr id="27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28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9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논블로킹 </a:t>
                </a:r>
                <a:r>
                  <a:rPr lang="en-US" altLang="ko-KR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I/O</a:t>
                </a:r>
              </a:p>
            </p:txBody>
          </p:sp>
          <p:sp>
            <p:nvSpPr>
              <p:cNvPr id="30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select()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기반 멀티플렉싱으로 블로킹 없이 다중 소켓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처리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31" name="그룹 30"/>
            <p:cNvGrpSpPr/>
            <p:nvPr/>
          </p:nvGrpSpPr>
          <p:grpSpPr>
            <a:xfrm>
              <a:off x="1078044" y="5523519"/>
              <a:ext cx="7460314" cy="1644190"/>
              <a:chOff x="4008160" y="3964450"/>
              <a:chExt cx="8799378" cy="1644190"/>
            </a:xfrm>
          </p:grpSpPr>
          <p:sp>
            <p:nvSpPr>
              <p:cNvPr id="32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3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4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패킷</a:t>
                </a:r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유실 대응</a:t>
                </a:r>
              </a:p>
            </p:txBody>
          </p:sp>
          <p:sp>
            <p:nvSpPr>
              <p:cNvPr id="35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중요 메시지는 반복 전송으로 신뢰성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확보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순서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번호 기반 중복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제거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36" name="그룹 35"/>
            <p:cNvGrpSpPr/>
            <p:nvPr/>
          </p:nvGrpSpPr>
          <p:grpSpPr>
            <a:xfrm>
              <a:off x="8710400" y="5523519"/>
              <a:ext cx="7460314" cy="1644190"/>
              <a:chOff x="4008160" y="3964450"/>
              <a:chExt cx="8799378" cy="1644190"/>
            </a:xfrm>
          </p:grpSpPr>
          <p:sp>
            <p:nvSpPr>
              <p:cNvPr id="37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8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9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동기화 배리어</a:t>
                </a:r>
              </a:p>
            </p:txBody>
          </p:sp>
          <p:sp>
            <p:nvSpPr>
              <p:cNvPr id="40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DRAWING_START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패킷으로 모든 클라이언트 렌더링 시점 동기화</a:t>
                </a:r>
                <a:endParaRPr lang="en-US" sz="2000" dirty="0">
                  <a:latin typeface="LG스마트체2.0 Regular" panose="020B0600000101010101" pitchFamily="50" charset="-127"/>
                  <a:ea typeface="LG스마트체2.0 Regular" panose="020B0600000101010101" pitchFamily="50" charset="-127"/>
                </a:endParaRPr>
              </a:p>
            </p:txBody>
          </p:sp>
        </p:grpSp>
      </p:grpSp>
      <p:grpSp>
        <p:nvGrpSpPr>
          <p:cNvPr id="41" name="그룹 40"/>
          <p:cNvGrpSpPr/>
          <p:nvPr/>
        </p:nvGrpSpPr>
        <p:grpSpPr>
          <a:xfrm>
            <a:off x="1078044" y="7615876"/>
            <a:ext cx="15092670" cy="963811"/>
            <a:chOff x="6567055" y="6581229"/>
            <a:chExt cx="15092670" cy="963811"/>
          </a:xfrm>
        </p:grpSpPr>
        <p:sp>
          <p:nvSpPr>
            <p:cNvPr id="42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43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44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없이도 실시간 게임 동기화 구현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403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6172200" cy="7581900"/>
          </a:xfrm>
        </p:spPr>
        <p:txBody>
          <a:bodyPr/>
          <a:lstStyle/>
          <a:p>
            <a:r>
              <a:rPr lang="ko-KR" altLang="en-US" sz="2400" dirty="0" smtClean="0"/>
              <a:t>게임 구현에 필요한 프로토콜 설계</a:t>
            </a:r>
            <a:endParaRPr lang="en-US" altLang="ko-KR" sz="2400" dirty="0" smtClean="0"/>
          </a:p>
          <a:p>
            <a:pPr lvl="1"/>
            <a:r>
              <a:rPr lang="en-US" altLang="ko-KR" sz="2000" dirty="0" smtClean="0"/>
              <a:t>3</a:t>
            </a:r>
            <a:r>
              <a:rPr lang="ko-KR" altLang="en-US" sz="2000" smtClean="0"/>
              <a:t>대의 보드가 실시간으로 상태를 공유하기 위해 </a:t>
            </a:r>
            <a:r>
              <a:rPr lang="en-US" altLang="ko-KR" sz="2000" dirty="0" smtClean="0"/>
              <a:t>UDP </a:t>
            </a:r>
            <a:r>
              <a:rPr lang="ko-KR" altLang="en-US" sz="2000" smtClean="0"/>
              <a:t>브로드캐스트 기반의 프로토콜을 직접 설계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메시지 형식은 </a:t>
            </a:r>
            <a:r>
              <a:rPr lang="en-US" altLang="ko-KR" sz="2000" dirty="0" smtClean="0"/>
              <a:t>CM|&lt;</a:t>
            </a:r>
            <a:r>
              <a:rPr lang="en-US" altLang="ko-KR" sz="2000" dirty="0" err="1" smtClean="0"/>
              <a:t>nideId</a:t>
            </a:r>
            <a:r>
              <a:rPr lang="en-US" altLang="ko-KR" sz="2000" dirty="0" smtClean="0"/>
              <a:t>&gt;|&lt;kind&gt;|&lt;value&gt; </a:t>
            </a:r>
            <a:r>
              <a:rPr lang="ko-KR" altLang="en-US" sz="2000" smtClean="0"/>
              <a:t>구조로 정의하고 이를 기반으로 </a:t>
            </a:r>
            <a:r>
              <a:rPr lang="en-US" altLang="ko-KR" sz="2000" dirty="0" smtClean="0"/>
              <a:t>30</a:t>
            </a:r>
            <a:r>
              <a:rPr lang="ko-KR" altLang="en-US" sz="2000" smtClean="0"/>
              <a:t>여 종의 메시지 타입 구현</a:t>
            </a:r>
            <a:endParaRPr lang="en-US" altLang="ko-KR" sz="2000" dirty="0" smtClean="0"/>
          </a:p>
          <a:p>
            <a:pPr lvl="1"/>
            <a:endParaRPr lang="en-US" altLang="ko-KR" sz="2000" dirty="0" smtClean="0"/>
          </a:p>
          <a:p>
            <a:r>
              <a:rPr lang="ko-KR" altLang="en-US" sz="2400" dirty="0" smtClean="0"/>
              <a:t>메시지의 중요도에 따라 별도의 </a:t>
            </a:r>
            <a:r>
              <a:rPr lang="ko-KR" altLang="en-US" sz="2400" dirty="0" err="1" smtClean="0"/>
              <a:t>설정값</a:t>
            </a:r>
            <a:r>
              <a:rPr lang="ko-KR" altLang="en-US" sz="2400" dirty="0" smtClean="0"/>
              <a:t> 적용</a:t>
            </a:r>
            <a:endParaRPr lang="en-US" altLang="ko-KR" sz="2400" dirty="0"/>
          </a:p>
          <a:p>
            <a:pPr lvl="1"/>
            <a:r>
              <a:rPr lang="ko-KR" altLang="en-US" sz="2000" dirty="0" smtClean="0"/>
              <a:t>메시지 타입에 따라 재전송 횟수와 간격을 차등 적용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드로잉 좌표처럼 실시간성이 중요한 메시지는 누락을 허용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판정</a:t>
            </a:r>
            <a:r>
              <a:rPr lang="en-US" altLang="ko-KR" sz="2000" dirty="0" smtClean="0"/>
              <a:t>/</a:t>
            </a:r>
            <a:r>
              <a:rPr lang="ko-KR" altLang="en-US" sz="2000" smtClean="0"/>
              <a:t>역할 배정처럼 상태 전이가 걸리는 메시지는 </a:t>
            </a:r>
            <a:r>
              <a:rPr lang="en-US" altLang="ko-KR" sz="2000" dirty="0" smtClean="0"/>
              <a:t>3~5</a:t>
            </a:r>
            <a:r>
              <a:rPr lang="ko-KR" altLang="en-US" sz="2000" smtClean="0"/>
              <a:t>회 재전송</a:t>
            </a:r>
            <a:r>
              <a:rPr lang="en-US" altLang="ko-KR" dirty="0" smtClean="0"/>
              <a:t> </a:t>
            </a:r>
            <a:r>
              <a:rPr lang="ko-KR" altLang="en-US" smtClean="0"/>
              <a:t> 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355185"/>
              </p:ext>
            </p:extLst>
          </p:nvPr>
        </p:nvGraphicFramePr>
        <p:xfrm>
          <a:off x="6737350" y="1676400"/>
          <a:ext cx="10248635" cy="7741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727"/>
                <a:gridCol w="2049727"/>
                <a:gridCol w="2049727"/>
                <a:gridCol w="2049727"/>
                <a:gridCol w="2049727"/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종류</a:t>
                      </a:r>
                      <a:endParaRPr 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값</a:t>
                      </a:r>
                      <a:endParaRPr 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방향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재전송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설명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ROLE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선택 알림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CHALLENGER_JOIN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참가 및 슬롯 협상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DRAWING_START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4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/150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라운드 시작 싱크 신호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GAME_READY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라운드 화면 진입 완료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DRAWING_ACTIVE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첫 스트로크 시작 알림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nx,ny,color</a:t>
                      </a:r>
                      <a:endParaRPr lang="en-US" sz="1100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드로잉 좌표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(0~999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정규화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CLEAR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캔버스 초기화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HINT#{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카테고리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30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초 힌트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JUDGING_ACTIVE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판정 시작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submit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잠금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JUDGING_END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판정 종료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잠금 해제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A_CLEAR_P{N}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P{N}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패널 초기화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RETRY_P{N}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P{N}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재도전 요청</a:t>
                      </a:r>
                    </a:p>
                  </a:txBody>
                  <a:tcPr marL="123825" marR="123825" marT="57150" marB="57150" anchor="ctr"/>
                </a:tc>
              </a:tr>
              <a:tr h="456767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CORRECT_P{N}#BOARD{B}#EARLY/LATE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 판정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보드번호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타이밍 포함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WRONG_ALL#{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시간 초과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 공개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ROUND_END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라운드 종료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GAME_OVER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 라운드 종료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ANSWER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{pn}:DRAWN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제출</a:t>
                      </a:r>
                    </a:p>
                  </a:txBody>
                  <a:tcPr marL="123825" marR="123825" marT="57150" marB="57150" anchor="ctr"/>
                </a:tc>
              </a:tr>
              <a:tr h="456767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A_POINT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{pn},nx,ny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필기 좌표 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(submit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시 일괄 전송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A_CLEAR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자신의 답변 지우기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A_UP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필기 </a:t>
                      </a:r>
                      <a:r>
                        <a:rPr lang="ko-KR" altLang="en-US" sz="1100" dirty="0" err="1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스트로크</a:t>
                      </a:r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끝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FINAL_SCORE_SUBMIT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{nodeId}:{score}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각 보드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400ms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마다 반복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최종 점수 제출</a:t>
                      </a:r>
                    </a:p>
                  </a:txBody>
                  <a:tcPr marL="123825" marR="123825" marT="57150" marB="57150" anchor="ctr"/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FINAL_SCORE_SYNC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PLAYER1:n,PLAYER2:n,...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PLAYER1 →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5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/20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 점수 스냅샷</a:t>
                      </a:r>
                    </a:p>
                  </a:txBody>
                  <a:tcPr marL="123825" marR="123825" marT="57150" marB="57150" anchor="ctr"/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FINAL_READY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각 보드 → 전체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800ms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마다 반복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 화면 배리어</a:t>
                      </a:r>
                    </a:p>
                  </a:txBody>
                  <a:tcPr marL="123825" marR="123825" marT="57150" marB="57150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44862" y="238662"/>
            <a:ext cx="17128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UDP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어플리케이션 프로토콜 설계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6081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40798" y="2287870"/>
            <a:ext cx="7897587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이벤트 </a:t>
            </a:r>
            <a:r>
              <a:rPr lang="ko-KR" altLang="en-US" dirty="0" err="1"/>
              <a:t>파싱</a:t>
            </a:r>
            <a:r>
              <a:rPr lang="ko-KR" altLang="en-US" dirty="0"/>
              <a:t> 흐름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/dev/input/event*</a:t>
            </a:r>
            <a:r>
              <a:rPr lang="ko-KR" altLang="en-US"/>
              <a:t>에서 멀티터치 이벤트 직접 파싱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ABS_MT_POSITION_X/Y </a:t>
            </a:r>
            <a:r>
              <a:rPr lang="ko-KR" altLang="en-US"/>
              <a:t>기반 좌표 추출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Raw </a:t>
            </a:r>
            <a:r>
              <a:rPr lang="ko-KR" altLang="en-US"/>
              <a:t>값 → 화면 좌표 변환 </a:t>
            </a:r>
            <a:r>
              <a:rPr lang="en-US" altLang="ko-KR" dirty="0"/>
              <a:t>(</a:t>
            </a:r>
            <a:r>
              <a:rPr lang="ko-KR" altLang="en-US"/>
              <a:t>보정 알고리즘 적용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UI </a:t>
            </a:r>
            <a:r>
              <a:rPr lang="ko-KR" altLang="en-US"/>
              <a:t>이벤트 큐로 전달하여 </a:t>
            </a:r>
            <a:r>
              <a:rPr lang="ko-KR" altLang="en-US" smtClean="0"/>
              <a:t>처리</a:t>
            </a:r>
            <a:endParaRPr lang="en-US" altLang="ko-KR" dirty="0" smtClean="0"/>
          </a:p>
          <a:p>
            <a:pPr lvl="1">
              <a:lnSpc>
                <a:spcPct val="150000"/>
              </a:lnSpc>
            </a:pPr>
            <a:r>
              <a:rPr lang="ko-KR" altLang="en-US" dirty="0" smtClean="0"/>
              <a:t>상대</a:t>
            </a:r>
            <a:r>
              <a:rPr lang="en-US" altLang="ko-KR" dirty="0" smtClean="0"/>
              <a:t> </a:t>
            </a:r>
            <a:r>
              <a:rPr lang="ko-KR" altLang="en-US" smtClean="0"/>
              <a:t>보드에</a:t>
            </a:r>
            <a:r>
              <a:rPr lang="en-US" altLang="ko-KR" dirty="0" smtClean="0"/>
              <a:t> </a:t>
            </a:r>
            <a:r>
              <a:rPr lang="ko-KR" altLang="en-US" smtClean="0"/>
              <a:t>출력</a:t>
            </a:r>
            <a:r>
              <a:rPr lang="en-US" altLang="ko-KR" dirty="0" smtClean="0"/>
              <a:t> </a:t>
            </a: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6328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Linux Input Subsystem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터치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처리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837919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하드웨어 입력을 직접 해석하여 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연결</a:t>
              </a:r>
            </a:p>
          </p:txBody>
        </p:sp>
      </p:grpSp>
      <p:pic>
        <p:nvPicPr>
          <p:cNvPr id="17" name="Image 1" descr="preencoded.png"/>
          <p:cNvPicPr>
            <a:picLocks noChangeAspect="1"/>
          </p:cNvPicPr>
          <p:nvPr/>
        </p:nvPicPr>
        <p:blipFill rotWithShape="1">
          <a:blip r:embed="rId3"/>
          <a:srcRect t="23441" b="27452"/>
          <a:stretch/>
        </p:blipFill>
        <p:spPr>
          <a:xfrm>
            <a:off x="775646" y="2202104"/>
            <a:ext cx="8281267" cy="40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47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246421" y="346759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인터럽트 처리 구조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/dev/gpiochip0 + GPIO_GET_LINEEVENT_IOCTL</a:t>
            </a:r>
            <a:r>
              <a:rPr lang="ko-KR" altLang="en-US"/>
              <a:t>로 커널 이벤트 등록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하강 에지</a:t>
            </a:r>
            <a:r>
              <a:rPr lang="en-US" altLang="ko-KR" dirty="0"/>
              <a:t>(Falling Edge) </a:t>
            </a:r>
            <a:r>
              <a:rPr lang="ko-KR" altLang="en-US"/>
              <a:t>인터럽트 기반 버튼 이벤트 감지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poll()</a:t>
            </a:r>
            <a:r>
              <a:rPr lang="ko-KR" altLang="en-US"/>
              <a:t>로 이벤트 대기</a:t>
            </a:r>
            <a:r>
              <a:rPr lang="en-US" altLang="ko-KR" dirty="0"/>
              <a:t>, </a:t>
            </a:r>
            <a:r>
              <a:rPr lang="ko-KR" altLang="en-US"/>
              <a:t>별도 스레드에서 처리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스레드 간 안전한 상태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GPIO </a:t>
            </a:r>
            <a:r>
              <a:rPr lang="ko-KR" altLang="en-US" sz="4450" b="1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인터럽트 기반 물리 입력 처리</a:t>
            </a:r>
            <a:endParaRPr lang="ko-KR" altLang="en-US" sz="4450" b="1">
              <a:solidFill>
                <a:srgbClr val="000000"/>
              </a:solidFill>
              <a:latin typeface="LG스마트체 Bold" panose="020B0600000101010101" pitchFamily="50" charset="-127"/>
              <a:ea typeface="LG스마트체 Bold" panose="020B0600000101010101" pitchFamily="50" charset="-127"/>
              <a:cs typeface="Inter Bold" pitchFamily="34" charset="-120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063134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 err="1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</a:t>
              </a: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레벨 이벤트를 사용자 공간에서 안정적으로 처리</a:t>
              </a: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851" y="3820340"/>
            <a:ext cx="4206605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64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멀티스레딩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+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이벤트 기반 비동기 구조</a:t>
            </a:r>
          </a:p>
        </p:txBody>
      </p:sp>
      <p:grpSp>
        <p:nvGrpSpPr>
          <p:cNvPr id="25" name="그룹 24"/>
          <p:cNvGrpSpPr/>
          <p:nvPr/>
        </p:nvGrpSpPr>
        <p:grpSpPr>
          <a:xfrm>
            <a:off x="431800" y="2902931"/>
            <a:ext cx="9601200" cy="5072312"/>
            <a:chOff x="1371600" y="2902931"/>
            <a:chExt cx="9601200" cy="5072312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05420" y="2902931"/>
              <a:ext cx="4633362" cy="5072312"/>
            </a:xfrm>
            <a:prstGeom prst="rect">
              <a:avLst/>
            </a:prstGeom>
          </p:spPr>
        </p:pic>
        <p:sp>
          <p:nvSpPr>
            <p:cNvPr id="13" name="Text 5"/>
            <p:cNvSpPr/>
            <p:nvPr/>
          </p:nvSpPr>
          <p:spPr>
            <a:xfrm>
              <a:off x="1371600" y="4319022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입력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4" name="Text 5"/>
            <p:cNvSpPr/>
            <p:nvPr/>
          </p:nvSpPr>
          <p:spPr>
            <a:xfrm>
              <a:off x="1371600" y="6246784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네트워크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5" name="Text 5"/>
            <p:cNvSpPr/>
            <p:nvPr/>
          </p:nvSpPr>
          <p:spPr>
            <a:xfrm>
              <a:off x="8934499" y="4319022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동기화 계층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5"/>
            <p:cNvSpPr/>
            <p:nvPr/>
          </p:nvSpPr>
          <p:spPr>
            <a:xfrm>
              <a:off x="8934498" y="6246784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UI </a:t>
              </a:r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1078044" y="8078647"/>
            <a:ext cx="15092670" cy="963811"/>
            <a:chOff x="6567055" y="6581229"/>
            <a:chExt cx="15092670" cy="963811"/>
          </a:xfrm>
        </p:grpSpPr>
        <p:sp>
          <p:nvSpPr>
            <p:cNvPr id="20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21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22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입력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네트워크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를 각각 독립 스레드로 분리하여 블로킹 없이 병행 처리</a:t>
              </a:r>
            </a:p>
          </p:txBody>
        </p:sp>
      </p:grp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dirty="0" err="1"/>
              <a:t>스레드</a:t>
            </a:r>
            <a:r>
              <a:rPr lang="ko-KR" altLang="en-US" dirty="0"/>
              <a:t> 조합 </a:t>
            </a:r>
            <a:r>
              <a:rPr lang="ko-KR" altLang="en-US" dirty="0" smtClean="0"/>
              <a:t>전략</a:t>
            </a:r>
            <a:endParaRPr lang="en-US" altLang="ko-KR" dirty="0" smtClean="0"/>
          </a:p>
          <a:p>
            <a:pPr lvl="1"/>
            <a:r>
              <a:rPr lang="en-US" altLang="ko-KR" dirty="0" err="1"/>
              <a:t>pthread</a:t>
            </a:r>
            <a:r>
              <a:rPr lang="en-US" altLang="ko-KR" dirty="0"/>
              <a:t> + </a:t>
            </a:r>
            <a:r>
              <a:rPr lang="en-US" altLang="ko-KR" dirty="0" err="1"/>
              <a:t>std</a:t>
            </a:r>
            <a:r>
              <a:rPr lang="en-US" altLang="ko-KR" dirty="0"/>
              <a:t>::thread </a:t>
            </a:r>
            <a:r>
              <a:rPr lang="ko-KR" altLang="en-US"/>
              <a:t>혼합 사용</a:t>
            </a:r>
          </a:p>
          <a:p>
            <a:pPr lvl="1"/>
            <a:r>
              <a:rPr lang="en-US" altLang="ko-KR" dirty="0"/>
              <a:t>select + poll + </a:t>
            </a:r>
            <a:r>
              <a:rPr lang="ko-KR" altLang="en-US"/>
              <a:t>스레드 조합으로 리소스 </a:t>
            </a:r>
            <a:r>
              <a:rPr lang="ko-KR" altLang="en-US" smtClean="0"/>
              <a:t>효율화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ko-KR" altLang="en-US" dirty="0"/>
              <a:t>동기화 기법</a:t>
            </a:r>
          </a:p>
          <a:p>
            <a:pPr lvl="1"/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경량 상태 공유</a:t>
            </a:r>
          </a:p>
          <a:p>
            <a:pPr lvl="1"/>
            <a:r>
              <a:rPr lang="ko-KR" altLang="en-US" dirty="0" err="1"/>
              <a:t>뮤텍스</a:t>
            </a:r>
            <a:r>
              <a:rPr lang="ko-KR" altLang="en-US" dirty="0"/>
              <a:t> 최소화</a:t>
            </a:r>
            <a:r>
              <a:rPr lang="en-US" altLang="ko-KR" dirty="0"/>
              <a:t>, </a:t>
            </a:r>
            <a:r>
              <a:rPr lang="ko-KR" altLang="en-US"/>
              <a:t>이벤트 큐로 데이터 </a:t>
            </a:r>
            <a:r>
              <a:rPr lang="ko-KR" altLang="en-US" smtClean="0"/>
              <a:t>전달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920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임베디드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환경 최적화 설계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1078044" y="3631941"/>
            <a:ext cx="7460314" cy="1644190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크로스 컴파일</a:t>
              </a: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타겟으로 호스트에서 빌드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최소 런타임 의존성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8044" y="5523519"/>
            <a:ext cx="7460314" cy="1644190"/>
            <a:chOff x="4008160" y="3964450"/>
            <a:chExt cx="8799378" cy="1644190"/>
          </a:xfrm>
        </p:grpSpPr>
        <p:sp>
          <p:nvSpPr>
            <p:cNvPr id="32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3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4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시스템 콜 직접 제어</a:t>
              </a:r>
            </a:p>
          </p:txBody>
        </p:sp>
        <p:sp>
          <p:nvSpPr>
            <p:cNvPr id="35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추상화 계층 제거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 인터페이스 직접 호출로 오버헤드 최소화</a:t>
              </a: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880599" y="1397000"/>
            <a:ext cx="7675563" cy="8478838"/>
            <a:chOff x="9143999" y="0"/>
            <a:chExt cx="7675563" cy="8478838"/>
          </a:xfrm>
        </p:grpSpPr>
        <p:sp>
          <p:nvSpPr>
            <p:cNvPr id="46" name="Shape 0"/>
            <p:cNvSpPr/>
            <p:nvPr/>
          </p:nvSpPr>
          <p:spPr>
            <a:xfrm>
              <a:off x="9143999" y="0"/>
              <a:ext cx="7675563" cy="8478838"/>
            </a:xfrm>
            <a:prstGeom prst="rect">
              <a:avLst/>
            </a:prstGeom>
            <a:solidFill>
              <a:srgbClr val="DADBF1"/>
            </a:solidFill>
            <a:ln/>
          </p:spPr>
        </p:sp>
        <p:pic>
          <p:nvPicPr>
            <p:cNvPr id="47" name="Image 0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438448" y="170021"/>
              <a:ext cx="5259705" cy="78895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928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시스템 통합 아키텍처</a:t>
            </a:r>
          </a:p>
        </p:txBody>
      </p: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sz="2400" dirty="0"/>
              <a:t>설계 원칙</a:t>
            </a:r>
          </a:p>
          <a:p>
            <a:pPr lvl="1"/>
            <a:r>
              <a:rPr lang="ko-KR" altLang="en-US" sz="2000" dirty="0"/>
              <a:t>모든 계층이 외부 라이브러리 없이 직접 구현</a:t>
            </a:r>
          </a:p>
          <a:p>
            <a:pPr lvl="1"/>
            <a:r>
              <a:rPr lang="ko-KR" altLang="en-US" sz="2000" dirty="0"/>
              <a:t>각 계층이 독립 </a:t>
            </a:r>
            <a:r>
              <a:rPr lang="ko-KR" altLang="en-US" sz="2000" dirty="0" err="1"/>
              <a:t>스레드로</a:t>
            </a:r>
            <a:r>
              <a:rPr lang="ko-KR" altLang="en-US" sz="2000" dirty="0"/>
              <a:t> 동작하며 이벤트 큐로 연결</a:t>
            </a:r>
          </a:p>
          <a:p>
            <a:pPr lvl="1"/>
            <a:r>
              <a:rPr lang="ko-KR" altLang="en-US" sz="2000" dirty="0" err="1"/>
              <a:t>저사양</a:t>
            </a:r>
            <a:r>
              <a:rPr lang="ko-KR" altLang="en-US" sz="2000" dirty="0"/>
              <a:t> </a:t>
            </a:r>
            <a:r>
              <a:rPr lang="en-US" altLang="ko-KR" sz="2000" dirty="0"/>
              <a:t>SBC </a:t>
            </a:r>
            <a:r>
              <a:rPr lang="ko-KR" altLang="en-US" sz="2000"/>
              <a:t>환경에서 메모리</a:t>
            </a:r>
            <a:r>
              <a:rPr lang="en-US" altLang="ko-KR" sz="2000" dirty="0"/>
              <a:t>·CPU </a:t>
            </a:r>
            <a:r>
              <a:rPr lang="ko-KR" altLang="en-US" sz="2000"/>
              <a:t>오버헤드 </a:t>
            </a:r>
            <a:r>
              <a:rPr lang="ko-KR" altLang="en-US" sz="2000" smtClean="0"/>
              <a:t>최소화</a:t>
            </a:r>
            <a:r>
              <a:rPr lang="en-US" altLang="ko-KR" sz="2000" dirty="0" smtClean="0"/>
              <a:t/>
            </a:r>
            <a:br>
              <a:rPr lang="en-US" altLang="ko-KR" sz="2000" dirty="0" smtClean="0"/>
            </a:br>
            <a:endParaRPr lang="en-US" altLang="ko-KR" sz="2000" dirty="0" smtClean="0"/>
          </a:p>
          <a:p>
            <a:r>
              <a:rPr lang="ko-KR" altLang="en-US" sz="2400" dirty="0"/>
              <a:t>주요 기술 </a:t>
            </a:r>
            <a:r>
              <a:rPr lang="ko-KR" altLang="en-US" sz="2400" dirty="0" err="1"/>
              <a:t>스택</a:t>
            </a:r>
            <a:endParaRPr lang="ko-KR" altLang="en-US" sz="2400" dirty="0"/>
          </a:p>
          <a:p>
            <a:pPr lvl="1"/>
            <a:r>
              <a:rPr lang="en-US" altLang="ko-KR" sz="2000" dirty="0"/>
              <a:t>/dev/fb0, </a:t>
            </a:r>
            <a:r>
              <a:rPr lang="en-US" altLang="ko-KR" sz="2000" dirty="0" err="1"/>
              <a:t>mmap</a:t>
            </a:r>
            <a:r>
              <a:rPr lang="en-US" altLang="ko-KR" sz="2000" dirty="0"/>
              <a:t>, select, poll</a:t>
            </a:r>
          </a:p>
          <a:p>
            <a:pPr lvl="1"/>
            <a:r>
              <a:rPr lang="en-US" altLang="ko-KR" sz="2000" dirty="0"/>
              <a:t>/dev/input/event*, /dev/gpiochip0</a:t>
            </a:r>
          </a:p>
          <a:p>
            <a:pPr lvl="1"/>
            <a:r>
              <a:rPr lang="en-US" altLang="ko-KR" sz="2000" dirty="0" err="1"/>
              <a:t>pthread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::thread,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::atomic</a:t>
            </a:r>
          </a:p>
          <a:p>
            <a:pPr lvl="1"/>
            <a:r>
              <a:rPr lang="en-US" altLang="ko-KR" sz="2000" dirty="0"/>
              <a:t>UDP </a:t>
            </a:r>
            <a:r>
              <a:rPr lang="ko-KR" altLang="en-US" sz="2000"/>
              <a:t>브로드캐스트 </a:t>
            </a:r>
            <a:r>
              <a:rPr lang="en-US" altLang="ko-KR" sz="2000" dirty="0"/>
              <a:t>+ </a:t>
            </a:r>
            <a:r>
              <a:rPr lang="ko-KR" altLang="en-US" sz="2000"/>
              <a:t>동기화 </a:t>
            </a:r>
            <a:r>
              <a:rPr lang="ko-KR" altLang="en-US" sz="2000" smtClean="0"/>
              <a:t>배리어</a:t>
            </a:r>
            <a:endParaRPr lang="ko-KR" altLang="en-US" sz="200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18" y="2933464"/>
            <a:ext cx="9321183" cy="576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핵심 정리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876917" y="3236690"/>
            <a:ext cx="7460314" cy="1297408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라이브러리 없는 그래픽 </a:t>
              </a:r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스택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Framebuffer + </a:t>
              </a:r>
              <a:r>
                <a:rPr lang="en-US" altLang="ko-KR" sz="2000" dirty="0" err="1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mmap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더블버퍼링으로 완전 자체 구현</a:t>
              </a:r>
            </a:p>
          </p:txBody>
        </p:sp>
      </p:grpSp>
      <p:sp>
        <p:nvSpPr>
          <p:cNvPr id="46" name="Shape 0"/>
          <p:cNvSpPr/>
          <p:nvPr/>
        </p:nvSpPr>
        <p:spPr>
          <a:xfrm>
            <a:off x="9880599" y="1397000"/>
            <a:ext cx="7675563" cy="8478838"/>
          </a:xfrm>
          <a:prstGeom prst="rect">
            <a:avLst/>
          </a:prstGeom>
          <a:solidFill>
            <a:srgbClr val="DADBF1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148" y="1691640"/>
            <a:ext cx="5259705" cy="7889558"/>
          </a:xfrm>
          <a:prstGeom prst="rect">
            <a:avLst/>
          </a:prstGeom>
        </p:spPr>
      </p:pic>
      <p:grpSp>
        <p:nvGrpSpPr>
          <p:cNvPr id="19" name="그룹 18"/>
          <p:cNvGrpSpPr/>
          <p:nvPr/>
        </p:nvGrpSpPr>
        <p:grpSpPr>
          <a:xfrm>
            <a:off x="876917" y="4721518"/>
            <a:ext cx="7460314" cy="1297408"/>
            <a:chOff x="4008160" y="3964450"/>
            <a:chExt cx="8799378" cy="1644190"/>
          </a:xfrm>
        </p:grpSpPr>
        <p:sp>
          <p:nvSpPr>
            <p:cNvPr id="2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하드웨어 입력 직접 해석</a:t>
              </a:r>
            </a:p>
          </p:txBody>
        </p:sp>
        <p:sp>
          <p:nvSpPr>
            <p:cNvPr id="2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Input Subsystem + GPIO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인터럽트로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직접 연결</a:t>
              </a: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876917" y="6214137"/>
            <a:ext cx="7460314" cy="1297408"/>
            <a:chOff x="4008160" y="3964450"/>
            <a:chExt cx="8799378" cy="1644190"/>
          </a:xfrm>
        </p:grpSpPr>
        <p:sp>
          <p:nvSpPr>
            <p:cNvPr id="4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4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TCP </a:t>
              </a:r>
              <a:r>
                <a:rPr lang="ko-KR" altLang="en-US" sz="2400" b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없는 실시간 동기화</a:t>
              </a:r>
            </a:p>
          </p:txBody>
        </p:sp>
        <p:sp>
          <p:nvSpPr>
            <p:cNvPr id="4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UDP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브로드캐스트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배리어로 저지연 멀티플레이어 구현</a:t>
              </a: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876917" y="7698965"/>
            <a:ext cx="7460314" cy="1297408"/>
            <a:chOff x="4008160" y="3964450"/>
            <a:chExt cx="8799378" cy="1644190"/>
          </a:xfrm>
        </p:grpSpPr>
        <p:sp>
          <p:nvSpPr>
            <p:cNvPr id="48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9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50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저사양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최적화</a:t>
              </a:r>
            </a:p>
          </p:txBody>
        </p:sp>
        <p:sp>
          <p:nvSpPr>
            <p:cNvPr id="51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크로스컴파일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정적링크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시스템콜 직접 제어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78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모니터링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6276" y="1778000"/>
            <a:ext cx="7154118" cy="41590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387" y="4493103"/>
            <a:ext cx="6724813" cy="394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38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qt</a:t>
            </a:r>
            <a:r>
              <a:rPr lang="ko-KR" altLang="en-US"/>
              <a:t> </a:t>
            </a:r>
            <a:r>
              <a:rPr lang="ko-KR" altLang="en-US" smtClean="0"/>
              <a:t>대비 우수함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r>
              <a:rPr lang="ko-KR" altLang="en-US" dirty="0" smtClean="0"/>
              <a:t>상황에 따른 캐릭터 반응</a:t>
            </a:r>
            <a:endParaRPr lang="en-US" altLang="ko-KR" dirty="0" smtClean="0"/>
          </a:p>
          <a:p>
            <a:r>
              <a:rPr lang="ko-KR" altLang="en-US" dirty="0" smtClean="0"/>
              <a:t>음향 파일 재생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737179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7353300" cy="4102100"/>
          </a:xfrm>
        </p:spPr>
        <p:txBody>
          <a:bodyPr/>
          <a:lstStyle/>
          <a:p>
            <a:r>
              <a:rPr lang="ko-KR" altLang="en-US" dirty="0" smtClean="0"/>
              <a:t>네트워크 성능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그래픽 성능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395477"/>
              </p:ext>
            </p:extLst>
          </p:nvPr>
        </p:nvGraphicFramePr>
        <p:xfrm>
          <a:off x="531169" y="2430780"/>
          <a:ext cx="9363288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22"/>
                <a:gridCol w="2340822"/>
                <a:gridCol w="2340822"/>
                <a:gridCol w="2340822"/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측정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설계 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평가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평균 지연 시간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약 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50 ~ 100</a:t>
                      </a:r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실시간 드로잉 자연스러움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실시간 게임 기준 적합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패킷 전달 신뢰성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재전송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3~5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상태 메시지 거의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100%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동기화 안정적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드로잉 </a:t>
                      </a:r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패킷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단발 전송 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손실 허용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일부 점 손실 발생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UX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영향 미미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886146"/>
              </p:ext>
            </p:extLst>
          </p:nvPr>
        </p:nvGraphicFramePr>
        <p:xfrm>
          <a:off x="10631297" y="2430780"/>
          <a:ext cx="5852055" cy="485769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50685"/>
                <a:gridCol w="1950685"/>
                <a:gridCol w="1950685"/>
              </a:tblGrid>
              <a:tr h="545556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달성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비고</a:t>
                      </a:r>
                    </a:p>
                  </a:txBody>
                  <a:tcPr anchor="ctr"/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실시간 멀티플레이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100ms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이하 지연</a:t>
                      </a:r>
                    </a:p>
                  </a:txBody>
                  <a:tcPr anchor="ctr"/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안정적 동기화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상태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점수 완전 일치</a:t>
                      </a:r>
                    </a:p>
                  </a:txBody>
                  <a:tcPr anchor="ctr"/>
                </a:tc>
              </a:tr>
              <a:tr h="545556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깜빡임 없는 </a:t>
                      </a:r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더블 버퍼링 적용</a:t>
                      </a:r>
                    </a:p>
                  </a:txBody>
                  <a:tcPr anchor="ctr"/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충돌 없는 판정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동시 입력 문제 해결</a:t>
                      </a:r>
                    </a:p>
                  </a:txBody>
                  <a:tcPr anchor="ctr"/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확장성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UDP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기반 구조 한계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텍스트 개체 틀 1"/>
          <p:cNvSpPr txBox="1">
            <a:spLocks/>
          </p:cNvSpPr>
          <p:nvPr/>
        </p:nvSpPr>
        <p:spPr>
          <a:xfrm>
            <a:off x="10821797" y="1676401"/>
            <a:ext cx="5852055" cy="75438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최종 목표 달성 평가</a:t>
            </a:r>
            <a:endParaRPr lang="en-US" altLang="ko-KR" dirty="0" smtClean="0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972914"/>
              </p:ext>
            </p:extLst>
          </p:nvPr>
        </p:nvGraphicFramePr>
        <p:xfrm>
          <a:off x="531169" y="5570220"/>
          <a:ext cx="9363288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22"/>
                <a:gridCol w="2340822"/>
                <a:gridCol w="2340822"/>
                <a:gridCol w="2340822"/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방식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평가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화면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더블 </a:t>
                      </a:r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버퍼링</a:t>
                      </a:r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HW/SW)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깜빡임 없음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완전 개선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렌더링 방식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mmap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+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직접 드로잉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중간 프레임 노출 없음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안정적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화면 전환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 smtClean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버퍼 </a:t>
                      </a:r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교체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부드러운 </a:t>
                      </a:r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UX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향상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  <p:grpSp>
        <p:nvGrpSpPr>
          <p:cNvPr id="13" name="그룹 12"/>
          <p:cNvGrpSpPr/>
          <p:nvPr/>
        </p:nvGrpSpPr>
        <p:grpSpPr>
          <a:xfrm>
            <a:off x="1604413" y="1818831"/>
            <a:ext cx="13441623" cy="5800409"/>
            <a:chOff x="1604413" y="1818831"/>
            <a:chExt cx="13441623" cy="5800409"/>
          </a:xfrm>
        </p:grpSpPr>
        <p:grpSp>
          <p:nvGrpSpPr>
            <p:cNvPr id="8" name="그룹 7"/>
            <p:cNvGrpSpPr/>
            <p:nvPr/>
          </p:nvGrpSpPr>
          <p:grpSpPr>
            <a:xfrm>
              <a:off x="1604413" y="1818831"/>
              <a:ext cx="5735782" cy="5800409"/>
              <a:chOff x="1508166" y="3895296"/>
              <a:chExt cx="4215742" cy="4263242"/>
            </a:xfrm>
          </p:grpSpPr>
          <p:pic>
            <p:nvPicPr>
              <p:cNvPr id="5" name="그림 4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18" t="22628" r="35567" b="33662"/>
              <a:stretch/>
            </p:blipFill>
            <p:spPr>
              <a:xfrm>
                <a:off x="1508166" y="3895296"/>
                <a:ext cx="4215742" cy="4263242"/>
              </a:xfrm>
              <a:prstGeom prst="rect">
                <a:avLst/>
              </a:prstGeom>
            </p:spPr>
          </p:pic>
          <p:sp>
            <p:nvSpPr>
              <p:cNvPr id="7" name="직사각형 6"/>
              <p:cNvSpPr/>
              <p:nvPr/>
            </p:nvSpPr>
            <p:spPr>
              <a:xfrm>
                <a:off x="1650670" y="3911872"/>
                <a:ext cx="546265" cy="6056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" name="그룹 9"/>
            <p:cNvGrpSpPr/>
            <p:nvPr/>
          </p:nvGrpSpPr>
          <p:grpSpPr>
            <a:xfrm>
              <a:off x="8912666" y="1818831"/>
              <a:ext cx="6133370" cy="5796963"/>
              <a:chOff x="7980218" y="3911872"/>
              <a:chExt cx="4510645" cy="4263242"/>
            </a:xfrm>
          </p:grpSpPr>
          <p:pic>
            <p:nvPicPr>
              <p:cNvPr id="6" name="그림 5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5420" t="22628" r="3749" b="33662"/>
              <a:stretch/>
            </p:blipFill>
            <p:spPr>
              <a:xfrm>
                <a:off x="7980218" y="3911872"/>
                <a:ext cx="4510645" cy="4263242"/>
              </a:xfrm>
              <a:prstGeom prst="rect">
                <a:avLst/>
              </a:prstGeom>
            </p:spPr>
          </p:pic>
          <p:sp>
            <p:nvSpPr>
              <p:cNvPr id="9" name="직사각형 8"/>
              <p:cNvSpPr/>
              <p:nvPr/>
            </p:nvSpPr>
            <p:spPr>
              <a:xfrm>
                <a:off x="7980218" y="3911872"/>
                <a:ext cx="546265" cy="6056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192" b="2494"/>
          <a:stretch/>
        </p:blipFill>
        <p:spPr>
          <a:xfrm>
            <a:off x="1047245" y="7885215"/>
            <a:ext cx="14630400" cy="159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26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992023" y="2311812"/>
            <a:ext cx="15092670" cy="5337217"/>
            <a:chOff x="1078044" y="3631941"/>
            <a:chExt cx="15092670" cy="3535768"/>
          </a:xfrm>
        </p:grpSpPr>
        <p:grpSp>
          <p:nvGrpSpPr>
            <p:cNvPr id="6" name="그룹 5"/>
            <p:cNvGrpSpPr/>
            <p:nvPr/>
          </p:nvGrpSpPr>
          <p:grpSpPr>
            <a:xfrm>
              <a:off x="1078044" y="3631941"/>
              <a:ext cx="7460314" cy="1644190"/>
              <a:chOff x="4008160" y="3964450"/>
              <a:chExt cx="8799378" cy="1644190"/>
            </a:xfrm>
          </p:grpSpPr>
          <p:sp>
            <p:nvSpPr>
              <p:cNvPr id="22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23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4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세부 규칙 확립을 위한 시행 착오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25" name="Text 6"/>
              <p:cNvSpPr/>
              <p:nvPr/>
            </p:nvSpPr>
            <p:spPr>
              <a:xfrm>
                <a:off x="4641155" y="4615334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참가자 및 출제자가 그린 그림이 공유가 되는 규칙을 정하고 구현하고 테스트 하는 과정에서 시행착오가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많았음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게임을 플레이하며 규칙을 조금씩 업데이트 해나가는 것으로 해결함</a:t>
                </a:r>
                <a:endPara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7" name="그룹 6"/>
            <p:cNvGrpSpPr/>
            <p:nvPr/>
          </p:nvGrpSpPr>
          <p:grpSpPr>
            <a:xfrm>
              <a:off x="8710400" y="3631941"/>
              <a:ext cx="7460314" cy="1644190"/>
              <a:chOff x="4008160" y="3964450"/>
              <a:chExt cx="8799378" cy="1644190"/>
            </a:xfrm>
          </p:grpSpPr>
          <p:sp>
            <p:nvSpPr>
              <p:cNvPr id="18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9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0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버그 해결</a:t>
                </a:r>
                <a:endPara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21" name="Text 6"/>
              <p:cNvSpPr/>
              <p:nvPr/>
            </p:nvSpPr>
            <p:spPr>
              <a:xfrm>
                <a:off x="4641155" y="4614241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순식간에 지나간 버그를 잡기 위해 반복 게임 플레이를 계속 진행함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반복 플레이를 통해 버그를 특정하고 해결함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8" name="그룹 7"/>
            <p:cNvGrpSpPr/>
            <p:nvPr/>
          </p:nvGrpSpPr>
          <p:grpSpPr>
            <a:xfrm>
              <a:off x="1078044" y="5523519"/>
              <a:ext cx="7460314" cy="1644190"/>
              <a:chOff x="4008160" y="3964450"/>
              <a:chExt cx="8799378" cy="1644190"/>
            </a:xfrm>
          </p:grpSpPr>
          <p:sp>
            <p:nvSpPr>
              <p:cNvPr id="14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5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6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부드러운 </a:t>
                </a:r>
                <a:r>
                  <a:rPr lang="ko-KR" altLang="en-US" sz="2400" b="1" dirty="0" err="1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터치감을</a:t>
                </a:r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위한 최적화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7" name="Text 6"/>
              <p:cNvSpPr/>
              <p:nvPr/>
            </p:nvSpPr>
            <p:spPr>
              <a:xfrm>
                <a:off x="4641155" y="4682312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8710400" y="5523519"/>
              <a:ext cx="7460314" cy="1644190"/>
              <a:chOff x="4008160" y="3964450"/>
              <a:chExt cx="8799378" cy="1644190"/>
            </a:xfrm>
          </p:grpSpPr>
          <p:sp>
            <p:nvSpPr>
              <p:cNvPr id="10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1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2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점수 </a:t>
                </a:r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불일치 오류 해결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3" name="Text 6"/>
              <p:cNvSpPr/>
              <p:nvPr/>
            </p:nvSpPr>
            <p:spPr>
              <a:xfrm>
                <a:off x="4641155" y="4603716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네트워크 지연이나 </a:t>
                </a:r>
                <a:r>
                  <a:rPr lang="ko-KR" altLang="en-US" sz="2000" dirty="0" err="1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패킷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누락으로 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라운드가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끝나는 시점에 보드 간 점수가 서로 달라지는 상황이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발생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각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보드는 자기 자신의 점수만 직접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관리하는 방식으로 해결</a:t>
                </a:r>
                <a:endPara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</p:grpSp>
      <p:grpSp>
        <p:nvGrpSpPr>
          <p:cNvPr id="26" name="그룹 25"/>
          <p:cNvGrpSpPr/>
          <p:nvPr/>
        </p:nvGrpSpPr>
        <p:grpSpPr>
          <a:xfrm>
            <a:off x="992023" y="7987914"/>
            <a:ext cx="15092670" cy="963811"/>
            <a:chOff x="6567055" y="6581229"/>
            <a:chExt cx="15092670" cy="963811"/>
          </a:xfrm>
        </p:grpSpPr>
        <p:sp>
          <p:nvSpPr>
            <p:cNvPr id="27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28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29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교육 기간에 배운 내용을 프로젝트에 </a:t>
              </a:r>
              <a:r>
                <a:rPr lang="ko-KR" altLang="en-US" sz="1750" dirty="0" err="1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적용함으로서</a:t>
              </a: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복습이 되고 피와 살이 되고 기억에 잘 남음</a:t>
              </a:r>
            </a:p>
          </p:txBody>
        </p:sp>
      </p:grpSp>
      <p:sp>
        <p:nvSpPr>
          <p:cNvPr id="31" name="Text 6"/>
          <p:cNvSpPr/>
          <p:nvPr/>
        </p:nvSpPr>
        <p:spPr>
          <a:xfrm>
            <a:off x="1528690" y="6132103"/>
            <a:ext cx="6553303" cy="953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rPr>
              <a:t>데이터 전송 주기 조절을 통해 게임 플레이에 집중 가능하도록 최적화 진행</a:t>
            </a:r>
            <a:endParaRPr lang="ko-KR" altLang="en-US" sz="2000" dirty="0">
              <a:solidFill>
                <a:srgbClr val="272525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  <a:cs typeface="Inter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참가자 및 출제자가 그린 그림이 공유가 되는 규칙을 정하고 구현하고 테스트 하는 과정에서 시행착오가 많았음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게임을 플레이하며</a:t>
            </a:r>
            <a:r>
              <a:rPr lang="en-US" altLang="ko-KR" dirty="0"/>
              <a:t> </a:t>
            </a:r>
            <a:r>
              <a:rPr lang="ko-KR" altLang="en-US" smtClean="0"/>
              <a:t>규칙을 업데이트 해나감</a:t>
            </a:r>
            <a:endParaRPr lang="en-US" altLang="ko-KR" dirty="0" smtClean="0"/>
          </a:p>
          <a:p>
            <a:r>
              <a:rPr lang="ko-KR" altLang="en-US" dirty="0" smtClean="0"/>
              <a:t>버그를 찾기 위한 게임 플레이에 소모되는 시간이 많음</a:t>
            </a:r>
            <a:endParaRPr lang="en-US" altLang="ko-KR" dirty="0" smtClean="0"/>
          </a:p>
          <a:p>
            <a:r>
              <a:rPr lang="ko-KR" altLang="en-US" dirty="0" smtClean="0"/>
              <a:t>버그 하나를 해결하면 이전에 해결한 버그가 다시 재현됨</a:t>
            </a:r>
            <a:endParaRPr lang="en-US" altLang="ko-KR" dirty="0" smtClean="0"/>
          </a:p>
          <a:p>
            <a:r>
              <a:rPr lang="ko-KR" altLang="en-US" dirty="0" smtClean="0"/>
              <a:t>교육 기간에 배운 내용을 프로젝트에 </a:t>
            </a:r>
            <a:r>
              <a:rPr lang="ko-KR" altLang="en-US" dirty="0" err="1" smtClean="0"/>
              <a:t>적용함으로서</a:t>
            </a:r>
            <a:r>
              <a:rPr lang="ko-KR" altLang="en-US" dirty="0" smtClean="0"/>
              <a:t> 복습이 되고 피와 살이 되고 기억에 잘 남음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아쉬운 점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하드웨어의 한계로 편한 </a:t>
            </a:r>
            <a:r>
              <a:rPr lang="ko-KR" altLang="en-US" dirty="0" err="1" smtClean="0"/>
              <a:t>터치감을</a:t>
            </a:r>
            <a:r>
              <a:rPr lang="ko-KR" altLang="en-US" dirty="0"/>
              <a:t> </a:t>
            </a:r>
            <a:r>
              <a:rPr lang="ko-KR" altLang="en-US" dirty="0" smtClean="0"/>
              <a:t>게임에 구현해내지 못함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3764778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0" y="1068779"/>
            <a:ext cx="17556163" cy="8807059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660111" y="3926399"/>
            <a:ext cx="22493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감사합니다</a:t>
            </a:r>
            <a:r>
              <a:rPr lang="en-US" altLang="ko-KR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!</a:t>
            </a:r>
          </a:p>
          <a:p>
            <a:pPr algn="ctr"/>
            <a:endParaRPr lang="en-US" altLang="ko-KR" sz="3200" dirty="0">
              <a:solidFill>
                <a:schemeClr val="bg1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</a:endParaRPr>
          </a:p>
          <a:p>
            <a:pPr algn="ctr"/>
            <a:r>
              <a:rPr lang="en-US" altLang="ko-KR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Q&amp;A</a:t>
            </a:r>
            <a:endParaRPr lang="ko-KR" altLang="en-US" sz="3200">
              <a:solidFill>
                <a:schemeClr val="bg1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6529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크기 </a:t>
            </a:r>
            <a:r>
              <a:rPr lang="ko-KR" altLang="en-US" b="1" dirty="0" smtClean="0">
                <a:solidFill>
                  <a:schemeClr val="tx1"/>
                </a:solidFill>
              </a:rPr>
              <a:t>조정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찌그러짐 </a:t>
            </a:r>
            <a:r>
              <a:rPr lang="ko-KR" altLang="en-US" b="1" dirty="0">
                <a:solidFill>
                  <a:schemeClr val="tx1"/>
                </a:solidFill>
              </a:rPr>
              <a:t>제거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버그 </a:t>
            </a:r>
            <a:r>
              <a:rPr lang="ko-KR" altLang="en-US" b="1" dirty="0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1 (</a:t>
            </a:r>
            <a:r>
              <a:rPr lang="ko-KR" altLang="en-US" b="1" smtClean="0">
                <a:solidFill>
                  <a:schemeClr val="tx1"/>
                </a:solidFill>
              </a:rPr>
              <a:t>미해결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이 정답을 제출한 상태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 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en-US" altLang="ko-KR" b="1" dirty="0">
                <a:solidFill>
                  <a:schemeClr val="tx1"/>
                </a:solidFill>
              </a:rPr>
              <a:t>submit</a:t>
            </a:r>
            <a:r>
              <a:rPr lang="ko-KR" altLang="en-US" b="1">
                <a:solidFill>
                  <a:schemeClr val="tx1"/>
                </a:solidFill>
              </a:rPr>
              <a:t>을 난타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은 오답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의 답이 제출될 때 초반 부분만 작성된 채로 짤린 정답이 </a:t>
            </a:r>
            <a:r>
              <a:rPr lang="ko-KR" altLang="en-US" b="1" smtClean="0">
                <a:solidFill>
                  <a:schemeClr val="tx1"/>
                </a:solidFill>
              </a:rPr>
              <a:t>전송됨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버그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2(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정답을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제출한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상태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출제자가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체점을</a:t>
            </a:r>
            <a:r>
              <a:rPr lang="ko-KR" altLang="en-US" b="1" dirty="0" smtClean="0">
                <a:solidFill>
                  <a:schemeClr val="tx1"/>
                </a:solidFill>
              </a:rPr>
              <a:t> 하기 전에 화면을 </a:t>
            </a: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참가자의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되지 않음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다른 참가자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됨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배경 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영상 구성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(260422)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 </a:t>
            </a: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 </a:t>
            </a: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결과보고서 </a:t>
            </a:r>
            <a:r>
              <a:rPr lang="en-US" altLang="ko-KR" b="1" dirty="0">
                <a:solidFill>
                  <a:schemeClr val="tx1"/>
                </a:solidFill>
              </a:rPr>
              <a:t>4/23 </a:t>
            </a:r>
            <a:r>
              <a:rPr lang="ko-KR" altLang="en-US" b="1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51428" y="4918834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2198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인 플레이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중간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 참가자 화면 설명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점수 산출 방식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랭킹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260423)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보드 세 개를 같이 동작 시키는 것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카메라로 뒤에서 보드 세 개가 나오도록 촬영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 화면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보드 하나 위에서 촬영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&gt;</a:t>
            </a:r>
            <a:r>
              <a:rPr lang="ko-KR" altLang="en-US" b="1" smtClean="0">
                <a:solidFill>
                  <a:schemeClr val="tx1"/>
                </a:solidFill>
              </a:rPr>
              <a:t>제시어 선택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그림 그리기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색 변경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지우개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정답 판단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정답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오답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 화면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정답 작성 및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정답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오답 시 결과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모니터 화면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캡처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초기 대기화면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적당히 플레이 화면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랭킹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8927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</TotalTime>
  <Words>2676</Words>
  <Application>Microsoft Office PowerPoint</Application>
  <PresentationFormat>사용자 지정</PresentationFormat>
  <Paragraphs>650</Paragraphs>
  <Slides>33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6" baseType="lpstr">
      <vt:lpstr>Inter</vt:lpstr>
      <vt:lpstr>Inter Bold</vt:lpstr>
      <vt:lpstr>LG스마트체 Bold</vt:lpstr>
      <vt:lpstr>LG스마트체 SemiBold</vt:lpstr>
      <vt:lpstr>LG스마트체2.0 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211</cp:revision>
  <dcterms:created xsi:type="dcterms:W3CDTF">2022-12-09T16:47:26Z</dcterms:created>
  <dcterms:modified xsi:type="dcterms:W3CDTF">2026-04-23T01:17:28Z</dcterms:modified>
</cp:coreProperties>
</file>