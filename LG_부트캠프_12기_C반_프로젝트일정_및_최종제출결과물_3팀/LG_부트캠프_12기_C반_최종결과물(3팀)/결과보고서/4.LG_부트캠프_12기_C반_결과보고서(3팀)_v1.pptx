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7" r:id="rId2"/>
    <p:sldId id="258" r:id="rId3"/>
    <p:sldId id="269" r:id="rId4"/>
    <p:sldId id="271" r:id="rId5"/>
    <p:sldId id="280" r:id="rId6"/>
    <p:sldId id="282" r:id="rId7"/>
    <p:sldId id="281" r:id="rId8"/>
    <p:sldId id="272" r:id="rId9"/>
    <p:sldId id="274" r:id="rId10"/>
    <p:sldId id="275" r:id="rId11"/>
    <p:sldId id="276" r:id="rId12"/>
    <p:sldId id="270" r:id="rId13"/>
    <p:sldId id="273" r:id="rId14"/>
    <p:sldId id="259" r:id="rId15"/>
    <p:sldId id="266" r:id="rId16"/>
    <p:sldId id="267" r:id="rId17"/>
    <p:sldId id="277" r:id="rId18"/>
    <p:sldId id="278" r:id="rId19"/>
    <p:sldId id="279" r:id="rId20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0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66" d="100"/>
          <a:sy n="66" d="100"/>
        </p:scale>
        <p:origin x="1266" y="540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쿵야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 err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엄제원</a:t>
            </a:r>
            <a:r>
              <a:rPr lang="ko-KR" altLang="en-US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이경환 윤지원</a:t>
            </a:r>
            <a:endParaRPr lang="ko-KR" altLang="en-US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소개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6204566" y="138195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733" y="5966265"/>
            <a:ext cx="5613433" cy="3228535"/>
          </a:xfrm>
          <a:prstGeom prst="rect">
            <a:avLst/>
          </a:prstGeom>
        </p:spPr>
      </p:pic>
      <p:sp>
        <p:nvSpPr>
          <p:cNvPr id="8" name="텍스트 개체 틀 1"/>
          <p:cNvSpPr txBox="1">
            <a:spLocks/>
          </p:cNvSpPr>
          <p:nvPr/>
        </p:nvSpPr>
        <p:spPr>
          <a:xfrm>
            <a:off x="546101" y="5280066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sp>
        <p:nvSpPr>
          <p:cNvPr id="9" name="텍스트 개체 틀 1"/>
          <p:cNvSpPr txBox="1">
            <a:spLocks/>
          </p:cNvSpPr>
          <p:nvPr/>
        </p:nvSpPr>
        <p:spPr>
          <a:xfrm>
            <a:off x="546101" y="7269183"/>
            <a:ext cx="6745348" cy="2185059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LG스마트체2.0 SemiBold" panose="020B0600000101010101" pitchFamily="50" charset="-127"/>
                <a:ea typeface="LG스마트체2.0 SemiBold" panose="020B0600000101010101" pitchFamily="50" charset="-127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600" kern="1200">
                <a:solidFill>
                  <a:schemeClr val="tx1"/>
                </a:solidFill>
                <a:latin typeface="LG스마트체2.0 Light" panose="020B0600000101010101" pitchFamily="50" charset="-127"/>
                <a:ea typeface="LG스마트체2.0 Light" panose="020B0600000101010101" pitchFamily="50" charset="-127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734" y="1828800"/>
            <a:ext cx="5637012" cy="3758008"/>
          </a:xfrm>
          <a:prstGeom prst="rect">
            <a:avLst/>
          </a:prstGeom>
        </p:spPr>
      </p:pic>
      <p:sp>
        <p:nvSpPr>
          <p:cNvPr id="15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캐치 </a:t>
            </a:r>
            <a:r>
              <a:rPr lang="ko-KR" altLang="en-US" dirty="0"/>
              <a:t>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en-US" altLang="ko-KR" dirty="0"/>
              <a:t>3</a:t>
            </a:r>
            <a:r>
              <a:rPr lang="ko-KR" altLang="en-US"/>
              <a:t>인 실시간 멀티플레이 지원</a:t>
            </a:r>
            <a:endParaRPr lang="en-US" altLang="ko-KR" dirty="0"/>
          </a:p>
          <a:p>
            <a:pPr lvl="1"/>
            <a:r>
              <a:rPr lang="ko-KR" altLang="en-US" dirty="0"/>
              <a:t>허브 기반 </a:t>
            </a:r>
            <a:r>
              <a:rPr lang="en-US" altLang="ko-KR" dirty="0"/>
              <a:t>UDP </a:t>
            </a:r>
            <a:r>
              <a:rPr lang="ko-KR" altLang="en-US"/>
              <a:t>통신을 통해 세명의 플레이어가 실시간으로 게임을 즐기도록 지원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플레이어 간 경쟁을 위한 랭킹 시스템</a:t>
            </a:r>
            <a:endParaRPr lang="en-US" altLang="ko-KR" dirty="0"/>
          </a:p>
          <a:p>
            <a:pPr lvl="1"/>
            <a:r>
              <a:rPr lang="ko-KR" altLang="en-US" dirty="0"/>
              <a:t>문제 출제와 정답을 맞추며 점수 획득이 가능하며 </a:t>
            </a:r>
            <a:r>
              <a:rPr lang="en-US" altLang="ko-KR" dirty="0"/>
              <a:t>5</a:t>
            </a:r>
            <a:r>
              <a:rPr lang="ko-KR" altLang="en-US"/>
              <a:t>라운드 합산을 통해 랭킹 출력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터치펜을</a:t>
            </a:r>
            <a:r>
              <a:rPr lang="ko-KR" altLang="en-US" dirty="0"/>
              <a:t> 활용한 정교한 그림 그리기</a:t>
            </a:r>
            <a:endParaRPr lang="en-US" altLang="ko-KR" dirty="0"/>
          </a:p>
          <a:p>
            <a:pPr lvl="1"/>
            <a:r>
              <a:rPr lang="ko-KR" altLang="en-US" dirty="0"/>
              <a:t>색상 변경</a:t>
            </a:r>
            <a:r>
              <a:rPr lang="en-US" altLang="ko-KR" dirty="0"/>
              <a:t>, </a:t>
            </a:r>
            <a:r>
              <a:rPr lang="ko-KR" altLang="en-US"/>
              <a:t>지우개</a:t>
            </a:r>
            <a:r>
              <a:rPr lang="en-US" altLang="ko-KR" dirty="0"/>
              <a:t>, </a:t>
            </a:r>
            <a:r>
              <a:rPr lang="ko-KR" altLang="en-US"/>
              <a:t>초기화 기능을 통해 출제자가 편리하게 문제를 출제하도록 지원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890814" y="8132208"/>
            <a:ext cx="12563929" cy="1524000"/>
          </a:xfrm>
        </p:spPr>
        <p:txBody>
          <a:bodyPr/>
          <a:lstStyle/>
          <a:p>
            <a:r>
              <a:rPr lang="ko-KR" altLang="en-US" sz="2400" b="1" dirty="0"/>
              <a:t>출제자 </a:t>
            </a:r>
            <a:r>
              <a:rPr lang="en-US" altLang="ko-KR" sz="2400" b="1" dirty="0"/>
              <a:t>1</a:t>
            </a:r>
            <a:r>
              <a:rPr lang="ko-KR" altLang="en-US" sz="2400" b="1"/>
              <a:t>명과 참가자 </a:t>
            </a:r>
            <a:r>
              <a:rPr lang="en-US" altLang="ko-KR" sz="2400" b="1" dirty="0"/>
              <a:t>2</a:t>
            </a:r>
            <a:r>
              <a:rPr lang="ko-KR" altLang="en-US" sz="2400" b="1"/>
              <a:t>명이 </a:t>
            </a:r>
            <a:r>
              <a:rPr lang="ko-KR" altLang="en-US" sz="2400" b="1"/>
              <a:t>겨루는 </a:t>
            </a:r>
            <a:r>
              <a:rPr lang="en-US" altLang="ko-KR" sz="2400" b="1" dirty="0" smtClean="0">
                <a:solidFill>
                  <a:srgbClr val="FF0000"/>
                </a:solidFill>
              </a:rPr>
              <a:t>5</a:t>
            </a:r>
            <a:r>
              <a:rPr lang="ko-KR" altLang="en-US" sz="2400" b="1">
                <a:solidFill>
                  <a:srgbClr val="FF0000"/>
                </a:solidFill>
              </a:rPr>
              <a:t>라운드 누적 점수제 </a:t>
            </a:r>
            <a:r>
              <a:rPr lang="ko-KR" altLang="en-US" sz="2400" b="1"/>
              <a:t>실시간 </a:t>
            </a:r>
            <a:r>
              <a:rPr lang="ko-KR" altLang="en-US" sz="2400" b="1"/>
              <a:t>추측 </a:t>
            </a:r>
            <a:r>
              <a:rPr lang="ko-KR" altLang="en-US" sz="2400" b="1" smtClean="0"/>
              <a:t>게임</a:t>
            </a:r>
            <a:endParaRPr lang="en-US" altLang="ko-KR" sz="2400" b="1" dirty="0" smtClean="0"/>
          </a:p>
          <a:p>
            <a:r>
              <a:rPr lang="ko-KR" altLang="en-US" sz="2400" b="1" dirty="0" smtClean="0"/>
              <a:t>출제자가 </a:t>
            </a:r>
            <a:r>
              <a:rPr lang="ko-KR" altLang="en-US" sz="2400" b="1" dirty="0"/>
              <a:t>그림을 그리면 참가자들은 선착순으로 정답을 </a:t>
            </a:r>
            <a:r>
              <a:rPr lang="ko-KR" altLang="en-US" sz="2400" b="1" dirty="0" smtClean="0"/>
              <a:t>제출</a:t>
            </a:r>
            <a:endParaRPr lang="en-US" altLang="ko-KR" sz="2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캐치마인드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게임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규칙</a:t>
            </a:r>
            <a:endParaRPr lang="ko-KR" altLang="en-US" sz="5400" b="1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2"/>
          <a:srcRect t="16712" b="16036"/>
          <a:stretch/>
        </p:blipFill>
        <p:spPr>
          <a:xfrm>
            <a:off x="1045077" y="1863047"/>
            <a:ext cx="6066923" cy="6125029"/>
          </a:xfrm>
          <a:prstGeom prst="rect">
            <a:avLst/>
          </a:prstGeom>
        </p:spPr>
      </p:pic>
      <p:grpSp>
        <p:nvGrpSpPr>
          <p:cNvPr id="26" name="그룹 25"/>
          <p:cNvGrpSpPr/>
          <p:nvPr/>
        </p:nvGrpSpPr>
        <p:grpSpPr>
          <a:xfrm>
            <a:off x="8117022" y="2320260"/>
            <a:ext cx="8799378" cy="5282388"/>
            <a:chOff x="8384223" y="4143852"/>
            <a:chExt cx="4101346" cy="4347329"/>
          </a:xfrm>
        </p:grpSpPr>
        <p:sp>
          <p:nvSpPr>
            <p:cNvPr id="14" name="Shape 3"/>
            <p:cNvSpPr/>
            <p:nvPr/>
          </p:nvSpPr>
          <p:spPr>
            <a:xfrm>
              <a:off x="8407083" y="4143852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5" name="Shape 4"/>
            <p:cNvSpPr/>
            <p:nvPr/>
          </p:nvSpPr>
          <p:spPr>
            <a:xfrm>
              <a:off x="8384223" y="4143852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16" name="Text 5"/>
            <p:cNvSpPr/>
            <p:nvPr/>
          </p:nvSpPr>
          <p:spPr>
            <a:xfrm>
              <a:off x="8679259" y="4347449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출제자 선정</a:t>
              </a:r>
            </a:p>
          </p:txBody>
        </p:sp>
        <p:sp>
          <p:nvSpPr>
            <p:cNvPr id="17" name="Text 6"/>
            <p:cNvSpPr/>
            <p:nvPr/>
          </p:nvSpPr>
          <p:spPr>
            <a:xfrm>
              <a:off x="8679259" y="4773812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첫 라운드는 선착순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이후는 라운드 결과에 따라 출제자가 변경</a:t>
              </a:r>
              <a:endParaRPr lang="en-US" sz="2000" dirty="0">
                <a:latin typeface="LG스마트체2.0 Regular" panose="020B0600000101010101" pitchFamily="50" charset="-127"/>
                <a:ea typeface="LG스마트체2.0 Regular" panose="020B0600000101010101" pitchFamily="50" charset="-127"/>
              </a:endParaRPr>
            </a:p>
          </p:txBody>
        </p:sp>
        <p:sp>
          <p:nvSpPr>
            <p:cNvPr id="18" name="Shape 7"/>
            <p:cNvSpPr/>
            <p:nvPr/>
          </p:nvSpPr>
          <p:spPr>
            <a:xfrm>
              <a:off x="8407083" y="5640944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19" name="Shape 8"/>
            <p:cNvSpPr/>
            <p:nvPr/>
          </p:nvSpPr>
          <p:spPr>
            <a:xfrm>
              <a:off x="8384223" y="5640944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0" name="Text 9"/>
            <p:cNvSpPr/>
            <p:nvPr/>
          </p:nvSpPr>
          <p:spPr>
            <a:xfrm>
              <a:off x="8679259" y="5844541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문제 선택</a:t>
              </a:r>
            </a:p>
          </p:txBody>
        </p:sp>
        <p:sp>
          <p:nvSpPr>
            <p:cNvPr id="21" name="Text 10"/>
            <p:cNvSpPr/>
            <p:nvPr/>
          </p:nvSpPr>
          <p:spPr>
            <a:xfrm>
              <a:off x="8679259" y="6270904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출제자가 분야 → 주제어 순서로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선택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단계마다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4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개 선택지가 랜덤 제시되며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,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주제어는 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참가자에게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비공개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  <p:sp>
          <p:nvSpPr>
            <p:cNvPr id="22" name="Shape 11"/>
            <p:cNvSpPr/>
            <p:nvPr/>
          </p:nvSpPr>
          <p:spPr>
            <a:xfrm>
              <a:off x="8407083" y="7138036"/>
              <a:ext cx="4078486" cy="1353145"/>
            </a:xfrm>
            <a:prstGeom prst="roundRect">
              <a:avLst>
                <a:gd name="adj" fmla="val 8109"/>
              </a:avLst>
            </a:prstGeom>
            <a:solidFill>
              <a:srgbClr val="FFFFFF"/>
            </a:solidFill>
            <a:ln w="22860">
              <a:solidFill>
                <a:srgbClr val="C0C1D7"/>
              </a:solidFill>
              <a:prstDash val="solid"/>
            </a:ln>
          </p:spPr>
        </p:sp>
        <p:sp>
          <p:nvSpPr>
            <p:cNvPr id="23" name="Shape 12"/>
            <p:cNvSpPr/>
            <p:nvPr/>
          </p:nvSpPr>
          <p:spPr>
            <a:xfrm>
              <a:off x="8384223" y="7138036"/>
              <a:ext cx="91440" cy="1353145"/>
            </a:xfrm>
            <a:prstGeom prst="roundRect">
              <a:avLst>
                <a:gd name="adj" fmla="val 83023"/>
              </a:avLst>
            </a:prstGeom>
            <a:solidFill>
              <a:srgbClr val="A50034"/>
            </a:solidFill>
            <a:ln/>
          </p:spPr>
        </p:sp>
        <p:sp>
          <p:nvSpPr>
            <p:cNvPr id="24" name="Text 13"/>
            <p:cNvSpPr/>
            <p:nvPr/>
          </p:nvSpPr>
          <p:spPr>
            <a:xfrm>
              <a:off x="8679259" y="7341633"/>
              <a:ext cx="2259330" cy="282416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r>
                <a:rPr lang="ko-KR" altLang="en-US" sz="2400" b="1" dirty="0">
                  <a:solidFill>
                    <a:srgbClr val="272525"/>
                  </a:solidFill>
                  <a:latin typeface="LG스마트체2.0 SemiBold" panose="020B0600000101010101" pitchFamily="50" charset="-127"/>
                  <a:ea typeface="LG스마트체2.0 SemiBold" panose="020B0600000101010101" pitchFamily="50" charset="-127"/>
                  <a:cs typeface="Inter Bold" pitchFamily="34" charset="-120"/>
                </a:rPr>
                <a:t>제한 시간</a:t>
              </a:r>
            </a:p>
          </p:txBody>
        </p:sp>
        <p:sp>
          <p:nvSpPr>
            <p:cNvPr id="25" name="Text 14"/>
            <p:cNvSpPr/>
            <p:nvPr/>
          </p:nvSpPr>
          <p:spPr>
            <a:xfrm>
              <a:off x="8679259" y="7767995"/>
              <a:ext cx="3602712" cy="51958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각 라운드는 </a:t>
              </a:r>
              <a:r>
                <a:rPr lang="en-US" altLang="ko-KR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60</a:t>
              </a:r>
              <a:r>
                <a:rPr lang="ko-KR" altLang="en-US" sz="200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초 </a:t>
              </a:r>
              <a:r>
                <a:rPr lang="ko-KR" altLang="en-US" sz="200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제한</a:t>
              </a:r>
              <a:endParaRPr lang="en-US" altLang="ko-KR" sz="2000" dirty="0" smtClean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  <a:p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한 </a:t>
              </a:r>
              <a:r>
                <a:rPr lang="ko-KR" altLang="en-US" sz="2000" dirty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명이 정답을 맞히면 즉시 </a:t>
              </a:r>
              <a:r>
                <a:rPr lang="ko-KR" altLang="en-US" sz="2000" dirty="0" smtClean="0">
                  <a:solidFill>
                    <a:srgbClr val="272525"/>
                  </a:solidFill>
                  <a:latin typeface="LG스마트체2.0 Regular" panose="020B0600000101010101" pitchFamily="50" charset="-127"/>
                  <a:ea typeface="LG스마트체2.0 Regular" panose="020B0600000101010101" pitchFamily="50" charset="-127"/>
                  <a:cs typeface="Inter" pitchFamily="34" charset="-120"/>
                </a:rPr>
                <a:t>종료</a:t>
              </a:r>
              <a:endParaRPr lang="en-US" altLang="ko-KR" sz="2000" dirty="0">
                <a:solidFill>
                  <a:srgbClr val="272525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  <a:cs typeface="Inter" pitchFamily="34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점수 </a:t>
            </a:r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&amp; </a:t>
            </a:r>
            <a:r>
              <a:rPr lang="ko-KR" altLang="en-US" sz="5400" b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규칙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4420" y="2013581"/>
            <a:ext cx="6713042" cy="6713042"/>
          </a:xfrm>
          <a:prstGeom prst="rect">
            <a:avLst/>
          </a:prstGeom>
        </p:spPr>
      </p:pic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힌트 시스템</a:t>
            </a:r>
            <a:endParaRPr lang="en-US" altLang="ko-KR" dirty="0" smtClean="0"/>
          </a:p>
          <a:p>
            <a:pPr lvl="1"/>
            <a:r>
              <a:rPr lang="en-US" altLang="ko-KR" dirty="0" smtClean="0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30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초 경과 시 참가자들에게 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카테고리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(</a:t>
            </a:r>
            <a:r>
              <a:rPr lang="ko-KR" altLang="en-US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분야</a:t>
            </a:r>
            <a:r>
              <a:rPr lang="en-US" altLang="ko-KR" dirty="0">
                <a:solidFill>
                  <a:srgbClr val="FF000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)</a:t>
            </a:r>
            <a:r>
              <a:rPr lang="ko-KR" altLang="en-US">
                <a:solidFill>
                  <a:srgbClr val="272525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Inter" pitchFamily="34" charset="-120"/>
              </a:rPr>
              <a:t>가 공개</a:t>
            </a:r>
            <a:endParaRPr lang="en-US" altLang="ko-KR" dirty="0">
              <a:latin typeface="LG스마트체 SemiBold" panose="020B0600000101010101" pitchFamily="50" charset="-127"/>
              <a:ea typeface="LG스마트체 SemiBold" panose="020B0600000101010101" pitchFamily="50" charset="-127"/>
            </a:endParaRPr>
          </a:p>
          <a:p>
            <a:endParaRPr lang="en-US" altLang="ko-KR" dirty="0"/>
          </a:p>
          <a:p>
            <a:r>
              <a:rPr lang="ko-KR" altLang="en-US" dirty="0" smtClean="0"/>
              <a:t>정답 판단</a:t>
            </a:r>
            <a:endParaRPr lang="en-US" altLang="ko-KR" dirty="0" smtClean="0"/>
          </a:p>
          <a:p>
            <a:pPr lvl="1"/>
            <a:r>
              <a:rPr lang="ko-KR" altLang="en-US" dirty="0"/>
              <a:t>출제자가 직접 각 제출의 정답 여부를 판단</a:t>
            </a:r>
          </a:p>
          <a:p>
            <a:pPr lvl="1"/>
            <a:endParaRPr lang="en-US" altLang="ko-KR" dirty="0"/>
          </a:p>
          <a:p>
            <a:r>
              <a:rPr lang="ko-KR" altLang="en-US" dirty="0" smtClean="0"/>
              <a:t>정답 시</a:t>
            </a:r>
            <a:endParaRPr lang="en-US" altLang="ko-KR" dirty="0"/>
          </a:p>
          <a:p>
            <a:pPr lvl="1"/>
            <a:r>
              <a:rPr lang="ko-KR" altLang="en-US" dirty="0" smtClean="0"/>
              <a:t>정답을 맞힌 참가자가 </a:t>
            </a:r>
            <a:r>
              <a:rPr lang="ko-KR" altLang="en-US" dirty="0" smtClean="0">
                <a:solidFill>
                  <a:srgbClr val="FF0000"/>
                </a:solidFill>
              </a:rPr>
              <a:t>다음 라운드 출제자</a:t>
            </a:r>
            <a:r>
              <a:rPr lang="ko-KR" altLang="en-US" dirty="0" smtClean="0"/>
              <a:t>가 됨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시간 초과 시</a:t>
            </a:r>
            <a:endParaRPr lang="en-US" altLang="ko-KR" dirty="0"/>
          </a:p>
          <a:p>
            <a:pPr lvl="1"/>
            <a:r>
              <a:rPr lang="ko-KR" altLang="en-US" dirty="0"/>
              <a:t>라운드가 실패로 종료되고 정답이 </a:t>
            </a:r>
            <a:r>
              <a:rPr lang="ko-KR" altLang="en-US" dirty="0" smtClean="0"/>
              <a:t>공개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출제자는 </a:t>
            </a:r>
            <a:r>
              <a:rPr lang="en-US" altLang="ko-KR" dirty="0"/>
              <a:t>1</a:t>
            </a:r>
            <a:r>
              <a:rPr lang="ko-KR" altLang="en-US"/>
              <a:t>점 감점되며 다음 라운드에서도 </a:t>
            </a:r>
            <a:r>
              <a:rPr lang="ko-KR" altLang="en-US"/>
              <a:t>출제자를 </a:t>
            </a:r>
            <a:r>
              <a:rPr lang="ko-KR" altLang="en-US" smtClean="0"/>
              <a:t>유지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en-US" altLang="ko-KR" dirty="0" smtClean="0"/>
              <a:t>5</a:t>
            </a:r>
            <a:r>
              <a:rPr lang="ko-KR" altLang="en-US" smtClean="0"/>
              <a:t>라운드 완료 시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각 플레이어의 누적 점수가 환산되어 랭킹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083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시연 영상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sp>
        <p:nvSpPr>
          <p:cNvPr id="3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8572500" cy="7581900"/>
          </a:xfrm>
        </p:spPr>
        <p:txBody>
          <a:bodyPr/>
          <a:lstStyle/>
          <a:p>
            <a:r>
              <a:rPr lang="ko-KR" altLang="en-US" dirty="0" smtClean="0"/>
              <a:t>시연 영상 첨부</a:t>
            </a:r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46488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9774420" y="-75692"/>
            <a:ext cx="7531309" cy="15520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실제 개발 결과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5" b="-1"/>
          <a:stretch/>
        </p:blipFill>
        <p:spPr>
          <a:xfrm>
            <a:off x="-416719" y="3183820"/>
            <a:ext cx="7154069" cy="5350580"/>
          </a:xfrm>
          <a:prstGeom prst="rect">
            <a:avLst/>
          </a:prstGeom>
        </p:spPr>
      </p:pic>
      <p:sp>
        <p:nvSpPr>
          <p:cNvPr id="6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</p:spPr>
        <p:txBody>
          <a:bodyPr/>
          <a:lstStyle/>
          <a:p>
            <a:r>
              <a:rPr lang="ko-KR" altLang="en-US" dirty="0"/>
              <a:t>게임 방식</a:t>
            </a:r>
          </a:p>
          <a:p>
            <a:pPr lvl="1"/>
            <a:r>
              <a:rPr lang="ko-KR" altLang="en-US" dirty="0"/>
              <a:t>출제자는 분야</a:t>
            </a:r>
            <a:r>
              <a:rPr lang="en-US" altLang="ko-KR" dirty="0"/>
              <a:t>&gt;</a:t>
            </a:r>
            <a:r>
              <a:rPr lang="ko-KR" altLang="en-US"/>
              <a:t>주제어 순서로 선택</a:t>
            </a:r>
            <a:endParaRPr lang="en-US" altLang="ko-KR" dirty="0"/>
          </a:p>
          <a:p>
            <a:pPr lvl="2"/>
            <a:r>
              <a:rPr lang="ko-KR" altLang="en-US" dirty="0"/>
              <a:t>각 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시작</a:t>
            </a:r>
            <a:endParaRPr lang="en-US" altLang="ko-KR" dirty="0"/>
          </a:p>
          <a:p>
            <a:pPr lvl="1"/>
            <a:r>
              <a:rPr lang="ko-KR" altLang="en-US" dirty="0"/>
              <a:t>참가자는 정답을 자신의 화면에 글씨로 작성하여 제출</a:t>
            </a:r>
          </a:p>
          <a:p>
            <a:pPr lvl="1"/>
            <a:r>
              <a:rPr lang="ko-KR" altLang="en-US" dirty="0"/>
              <a:t>출제자는 확인 후 정답</a:t>
            </a:r>
            <a:r>
              <a:rPr lang="en-US" altLang="ko-KR" dirty="0"/>
              <a:t>/</a:t>
            </a:r>
            <a:r>
              <a:rPr lang="ko-KR" altLang="en-US"/>
              <a:t>오답 판단</a:t>
            </a:r>
          </a:p>
          <a:p>
            <a:pPr lvl="1"/>
            <a:r>
              <a:rPr lang="ko-KR" altLang="en-US" dirty="0"/>
              <a:t>정답 시 맞춘 사람이 출제자가 되고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/>
              <a:t>다시 주제어 선택 화면으로 전환</a:t>
            </a:r>
          </a:p>
          <a:p>
            <a:pPr lvl="1"/>
            <a:r>
              <a:rPr lang="ko-KR" altLang="en-US" dirty="0"/>
              <a:t>다음 라운드 시작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점수 획득 방법</a:t>
            </a:r>
            <a:endParaRPr lang="en-US" altLang="ko-KR" dirty="0"/>
          </a:p>
          <a:p>
            <a:pPr lvl="1"/>
            <a:r>
              <a:rPr lang="ko-KR" altLang="en-US" dirty="0"/>
              <a:t>문제를 맞춘 참가자는 </a:t>
            </a:r>
            <a:r>
              <a:rPr lang="en-US" altLang="ko-KR" dirty="0"/>
              <a:t>OO</a:t>
            </a:r>
            <a:r>
              <a:rPr lang="ko-KR" altLang="en-US"/>
              <a:t>점의 점수 획득</a:t>
            </a:r>
            <a:endParaRPr lang="en-US" altLang="ko-KR" dirty="0"/>
          </a:p>
          <a:p>
            <a:pPr lvl="1"/>
            <a:r>
              <a:rPr lang="en-US" altLang="ko-KR" dirty="0"/>
              <a:t>1</a:t>
            </a:r>
            <a:r>
              <a:rPr lang="ko-KR" altLang="en-US"/>
              <a:t>분의 그림 그리기 제한 시간동안 맞춘 사람이 있는 경우에는 출제자 </a:t>
            </a:r>
            <a:r>
              <a:rPr lang="en-US" altLang="ko-KR" dirty="0"/>
              <a:t>OO</a:t>
            </a:r>
            <a:r>
              <a:rPr lang="ko-KR" altLang="en-US"/>
              <a:t>점 획득</a:t>
            </a:r>
            <a:endParaRPr lang="en-US" altLang="ko-KR" dirty="0"/>
          </a:p>
          <a:p>
            <a:pPr lvl="1"/>
            <a:r>
              <a:rPr lang="ko-KR" altLang="en-US" dirty="0"/>
              <a:t>맞춘 사람이 없는 경우에는 출제자 </a:t>
            </a:r>
            <a:r>
              <a:rPr lang="en-US" altLang="ko-KR" dirty="0"/>
              <a:t>OO</a:t>
            </a:r>
            <a:r>
              <a:rPr lang="ko-KR" altLang="en-US"/>
              <a:t>점 감점</a:t>
            </a:r>
            <a:endParaRPr lang="en-US" altLang="ko-KR" dirty="0"/>
          </a:p>
          <a:p>
            <a:pPr lvl="1"/>
            <a:r>
              <a:rPr lang="en-US" altLang="ko-KR" dirty="0"/>
              <a:t>5</a:t>
            </a:r>
            <a:r>
              <a:rPr lang="ko-KR" altLang="en-US"/>
              <a:t>라운드 이후 각 인원 점수를 합산하여 </a:t>
            </a:r>
            <a:r>
              <a:rPr lang="en-US" altLang="ko-KR" dirty="0"/>
              <a:t>1~3</a:t>
            </a:r>
            <a:r>
              <a:rPr lang="ko-KR" altLang="en-US"/>
              <a:t>등 표시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9053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</a:t>
            </a:r>
            <a:r>
              <a:rPr lang="ko-KR" altLang="en-US" dirty="0" smtClean="0"/>
              <a:t>동기화</a:t>
            </a:r>
            <a:endParaRPr lang="en-US" altLang="ko-KR" dirty="0" smtClean="0"/>
          </a:p>
          <a:p>
            <a:r>
              <a:rPr lang="ko-KR" altLang="en-US" dirty="0" err="1"/>
              <a:t>듀얼</a:t>
            </a:r>
            <a:r>
              <a:rPr lang="en-US" altLang="ko-KR" dirty="0"/>
              <a:t> </a:t>
            </a:r>
            <a:r>
              <a:rPr lang="ko-KR" altLang="en-US" smtClean="0"/>
              <a:t>버퍼로 부드러운 화면 전환 </a:t>
            </a:r>
            <a:r>
              <a:rPr lang="en-US" altLang="ko-KR" dirty="0" smtClean="0"/>
              <a:t>– </a:t>
            </a:r>
            <a:r>
              <a:rPr lang="en-US" altLang="ko-KR" dirty="0" err="1" smtClean="0"/>
              <a:t>qt</a:t>
            </a:r>
            <a:r>
              <a:rPr lang="ko-KR" altLang="en-US"/>
              <a:t> </a:t>
            </a:r>
            <a:r>
              <a:rPr lang="ko-KR" altLang="en-US" smtClean="0"/>
              <a:t>대비 우수함</a:t>
            </a:r>
            <a:endParaRPr lang="en-US" altLang="ko-KR" dirty="0" smtClean="0"/>
          </a:p>
          <a:p>
            <a:r>
              <a:rPr lang="ko-KR" altLang="en-US" dirty="0" smtClean="0"/>
              <a:t>최신 </a:t>
            </a:r>
            <a:r>
              <a:rPr lang="ko-KR" altLang="en-US" dirty="0" err="1" smtClean="0"/>
              <a:t>커널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포팅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리눅스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6.12.81</a:t>
            </a:r>
          </a:p>
          <a:p>
            <a:r>
              <a:rPr lang="ko-KR" altLang="en-US" dirty="0" smtClean="0"/>
              <a:t>상황에 따른 캐릭터 반응</a:t>
            </a:r>
            <a:endParaRPr lang="en-US" altLang="ko-KR" dirty="0" smtClean="0"/>
          </a:p>
          <a:p>
            <a:r>
              <a:rPr lang="ko-KR" altLang="en-US" dirty="0" smtClean="0"/>
              <a:t>음향 파일 재생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023101" y="108458"/>
            <a:ext cx="9398000" cy="118373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72721" y="-68440"/>
            <a:ext cx="8310380" cy="15375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 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340195" y="246759"/>
            <a:ext cx="8437380" cy="91523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가급적 </a:t>
            </a:r>
            <a:r>
              <a:rPr lang="en-US" altLang="ko-KR" sz="2400" b="1" dirty="0">
                <a:solidFill>
                  <a:schemeClr val="tx1"/>
                </a:solidFill>
              </a:rPr>
              <a:t>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402821" y="49816"/>
            <a:ext cx="8323080" cy="1301021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2400" b="1" dirty="0" err="1">
                <a:solidFill>
                  <a:schemeClr val="tx1"/>
                </a:solidFill>
              </a:rPr>
              <a:t>느낀점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24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2400" b="1" dirty="0">
                <a:solidFill>
                  <a:schemeClr val="tx1"/>
                </a:solidFill>
              </a:rPr>
              <a:t>… 1</a:t>
            </a:r>
            <a:r>
              <a:rPr lang="ko-KR" altLang="en-US" sz="24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있는지 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(260420)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4/20 </a:t>
            </a:r>
            <a:r>
              <a:rPr lang="ko-KR" altLang="en-US" b="1" smtClean="0">
                <a:solidFill>
                  <a:schemeClr val="tx1"/>
                </a:solidFill>
              </a:rPr>
              <a:t>월 오후 한시반 팀별 영상 제작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 이름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팀원 소개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프로젝트 주제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목표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팀워크 모습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재밌는</a:t>
            </a:r>
            <a:r>
              <a:rPr lang="ko-KR" altLang="en-US" b="1" dirty="0" smtClean="0">
                <a:solidFill>
                  <a:schemeClr val="tx1"/>
                </a:solidFill>
              </a:rPr>
              <a:t> 요소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753764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 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260421)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4/21 </a:t>
            </a:r>
            <a:r>
              <a:rPr lang="ko-KR" altLang="en-US" b="1" smtClean="0">
                <a:solidFill>
                  <a:schemeClr val="tx1"/>
                </a:solidFill>
              </a:rPr>
              <a:t>화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차 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4/22 </a:t>
            </a:r>
            <a:r>
              <a:rPr lang="ko-KR" altLang="en-US" b="1" smtClean="0">
                <a:solidFill>
                  <a:schemeClr val="tx1"/>
                </a:solidFill>
              </a:rPr>
              <a:t>수 오후 한시반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차 </a:t>
            </a:r>
            <a:r>
              <a:rPr lang="ko-KR" altLang="en-US" b="1" smtClean="0">
                <a:solidFill>
                  <a:schemeClr val="tx1"/>
                </a:solidFill>
              </a:rPr>
              <a:t>데모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포스터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시연 영상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결과보고서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결과 파일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4/23 </a:t>
            </a:r>
            <a:r>
              <a:rPr lang="ko-KR" altLang="en-US" b="1" smtClean="0">
                <a:solidFill>
                  <a:schemeClr val="tx1"/>
                </a:solidFill>
              </a:rPr>
              <a:t>목 오후 한시반 최종 발표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세시반 반별 전시회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1860792" y="6381932"/>
            <a:ext cx="4686663" cy="3357592"/>
            <a:chOff x="1791517" y="3831739"/>
            <a:chExt cx="4686663" cy="3357592"/>
          </a:xfrm>
        </p:grpSpPr>
        <p:sp>
          <p:nvSpPr>
            <p:cNvPr id="7" name="TextBox 6"/>
            <p:cNvSpPr txBox="1"/>
            <p:nvPr/>
          </p:nvSpPr>
          <p:spPr>
            <a:xfrm>
              <a:off x="1932617" y="3831739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791517" y="4256661"/>
              <a:ext cx="4686663" cy="2932670"/>
              <a:chOff x="2701219" y="4256661"/>
              <a:chExt cx="3776960" cy="2932670"/>
            </a:xfrm>
          </p:grpSpPr>
          <p:sp>
            <p:nvSpPr>
              <p:cNvPr id="11" name="직사각형 10"/>
              <p:cNvSpPr/>
              <p:nvPr/>
            </p:nvSpPr>
            <p:spPr>
              <a:xfrm>
                <a:off x="2718566" y="4256661"/>
                <a:ext cx="3759613" cy="292608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12" name="직선 연결선 11"/>
              <p:cNvCxnSpPr/>
              <p:nvPr/>
            </p:nvCxnSpPr>
            <p:spPr>
              <a:xfrm>
                <a:off x="4432618" y="5998726"/>
                <a:ext cx="0" cy="1190605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/>
              <p:cNvCxnSpPr>
                <a:stCxn id="11" idx="3"/>
                <a:endCxn id="11" idx="1"/>
              </p:cNvCxnSpPr>
              <p:nvPr/>
            </p:nvCxnSpPr>
            <p:spPr>
              <a:xfrm flipH="1">
                <a:off x="2718566" y="5719701"/>
                <a:ext cx="3759613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3588167" y="4342784"/>
                <a:ext cx="119455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출제자</a:t>
                </a:r>
                <a:r>
                  <a:rPr lang="en-US" altLang="ko-KR" sz="1400" b="1" dirty="0"/>
                  <a:t>(</a:t>
                </a:r>
                <a:r>
                  <a:rPr lang="ko-KR" altLang="en-US" sz="1400" b="1" smtClean="0"/>
                  <a:t>점수</a:t>
                </a:r>
                <a:r>
                  <a:rPr lang="en-US" altLang="ko-KR" sz="1400" b="1" dirty="0" smtClean="0"/>
                  <a:t>)</a:t>
                </a:r>
                <a:endParaRPr lang="ko-KR" altLang="en-US" sz="1400" b="1"/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2982539" y="599872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1</a:t>
                </a:r>
                <a:r>
                  <a:rPr lang="en-US" altLang="ko-KR" sz="1400" b="1" dirty="0"/>
                  <a:t> 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4782725" y="5980386"/>
                <a:ext cx="136608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참가자 </a:t>
                </a:r>
                <a:r>
                  <a:rPr lang="en-US" altLang="ko-KR" sz="1400" b="1" dirty="0" smtClean="0"/>
                  <a:t>2 </a:t>
                </a:r>
                <a:r>
                  <a:rPr lang="en-US" altLang="ko-KR" sz="1400" b="1" dirty="0"/>
                  <a:t>(</a:t>
                </a:r>
                <a:r>
                  <a:rPr lang="ko-KR" altLang="en-US" sz="1400" b="1"/>
                  <a:t>점수</a:t>
                </a:r>
                <a:r>
                  <a:rPr lang="en-US" altLang="ko-KR" sz="1400" b="1" dirty="0"/>
                  <a:t>)</a:t>
                </a:r>
                <a:endParaRPr lang="ko-KR" altLang="en-US" sz="14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2719009" y="4256662"/>
                <a:ext cx="774889" cy="146957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2701219" y="5714460"/>
                <a:ext cx="85568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400" b="1" dirty="0" smtClean="0"/>
                  <a:t>남은 시간</a:t>
                </a:r>
                <a:endParaRPr lang="ko-KR" altLang="en-US" sz="1400" b="1" dirty="0"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2809861" y="4430924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라운드</a:t>
                </a:r>
                <a:endParaRPr lang="ko-KR" altLang="en-US" sz="1400" b="1"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2809861" y="5022931"/>
                <a:ext cx="72327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sz="1400" b="1" dirty="0" smtClean="0"/>
                  <a:t>캐릭터</a:t>
                </a:r>
                <a:endParaRPr lang="ko-KR" altLang="en-US" sz="1400" b="1" dirty="0"/>
              </a:p>
            </p:txBody>
          </p:sp>
        </p:grpSp>
        <p:cxnSp>
          <p:nvCxnSpPr>
            <p:cNvPr id="22" name="직선 연결선 21"/>
            <p:cNvCxnSpPr/>
            <p:nvPr/>
          </p:nvCxnSpPr>
          <p:spPr>
            <a:xfrm flipH="1">
              <a:off x="1803678" y="5980386"/>
              <a:ext cx="466513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0126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2358</TotalTime>
  <Words>1318</Words>
  <Application>Microsoft Office PowerPoint</Application>
  <PresentationFormat>사용자 지정</PresentationFormat>
  <Paragraphs>310</Paragraphs>
  <Slides>19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30" baseType="lpstr">
      <vt:lpstr>Inter</vt:lpstr>
      <vt:lpstr>Inter Bold</vt:lpstr>
      <vt:lpstr>LG스마트체 SemiBold</vt:lpstr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148</cp:revision>
  <dcterms:created xsi:type="dcterms:W3CDTF">2022-12-09T16:47:26Z</dcterms:created>
  <dcterms:modified xsi:type="dcterms:W3CDTF">2026-04-21T08:20:12Z</dcterms:modified>
</cp:coreProperties>
</file>